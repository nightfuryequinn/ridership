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37"/>
  </p:notesMasterIdLst>
  <p:sldIdLst>
    <p:sldId id="256" r:id="rId2"/>
    <p:sldId id="259" r:id="rId3"/>
    <p:sldId id="258" r:id="rId4"/>
    <p:sldId id="260" r:id="rId5"/>
    <p:sldId id="300" r:id="rId6"/>
    <p:sldId id="301" r:id="rId7"/>
    <p:sldId id="302" r:id="rId8"/>
    <p:sldId id="303" r:id="rId9"/>
    <p:sldId id="304" r:id="rId10"/>
    <p:sldId id="265" r:id="rId11"/>
    <p:sldId id="266" r:id="rId12"/>
    <p:sldId id="305" r:id="rId13"/>
    <p:sldId id="306" r:id="rId14"/>
    <p:sldId id="307" r:id="rId15"/>
    <p:sldId id="263" r:id="rId16"/>
    <p:sldId id="308" r:id="rId17"/>
    <p:sldId id="264" r:id="rId18"/>
    <p:sldId id="313" r:id="rId19"/>
    <p:sldId id="323" r:id="rId20"/>
    <p:sldId id="320" r:id="rId21"/>
    <p:sldId id="314" r:id="rId22"/>
    <p:sldId id="310" r:id="rId23"/>
    <p:sldId id="316" r:id="rId24"/>
    <p:sldId id="267" r:id="rId25"/>
    <p:sldId id="312" r:id="rId26"/>
    <p:sldId id="309" r:id="rId27"/>
    <p:sldId id="315" r:id="rId28"/>
    <p:sldId id="317" r:id="rId29"/>
    <p:sldId id="318" r:id="rId30"/>
    <p:sldId id="321" r:id="rId31"/>
    <p:sldId id="270" r:id="rId32"/>
    <p:sldId id="311" r:id="rId33"/>
    <p:sldId id="269" r:id="rId34"/>
    <p:sldId id="322" r:id="rId35"/>
    <p:sldId id="275" r:id="rId36"/>
  </p:sldIdLst>
  <p:sldSz cx="9144000" cy="5143500" type="screen16x9"/>
  <p:notesSz cx="6858000" cy="9144000"/>
  <p:embeddedFontLst>
    <p:embeddedFont>
      <p:font typeface="Anaheim" panose="020B0604020202020204" charset="0"/>
      <p:regular r:id="rId38"/>
      <p:bold r:id="rId39"/>
    </p:embeddedFont>
    <p:embeddedFont>
      <p:font typeface="Bebas Neue" panose="020B0606020202050201" pitchFamily="34" charset="0"/>
      <p:regular r:id="rId40"/>
    </p:embeddedFont>
    <p:embeddedFont>
      <p:font typeface="Hanken Grotesk" panose="020B0604020202020204" charset="0"/>
      <p:regular r:id="rId41"/>
      <p:bold r:id="rId42"/>
      <p:italic r:id="rId43"/>
      <p:boldItalic r:id="rId44"/>
    </p:embeddedFont>
    <p:embeddedFont>
      <p:font typeface="Montserrat" panose="00000500000000000000" pitchFamily="2" charset="0"/>
      <p:regular r:id="rId45"/>
      <p:bold r:id="rId46"/>
      <p:italic r:id="rId47"/>
      <p:boldItalic r:id="rId48"/>
    </p:embeddedFont>
    <p:embeddedFont>
      <p:font typeface="Montserrat ExtraBold" panose="00000900000000000000" pitchFamily="2" charset="0"/>
      <p:bold r:id="rId49"/>
      <p:boldItalic r:id="rId50"/>
    </p:embeddedFont>
    <p:embeddedFont>
      <p:font typeface="Montserrat SemiBold" panose="00000700000000000000" pitchFamily="2" charset="0"/>
      <p:regular r:id="rId51"/>
      <p:bold r:id="rId52"/>
      <p:italic r:id="rId53"/>
      <p:boldItalic r:id="rId54"/>
    </p:embeddedFont>
    <p:embeddedFont>
      <p:font typeface="Nunito Light" pitchFamily="2" charset="0"/>
      <p:regular r:id="rId55"/>
      <p:italic r:id="rId56"/>
    </p:embeddedFont>
    <p:embeddedFont>
      <p:font typeface="PT Sans" panose="020B0503020203020204" pitchFamily="34" charset="0"/>
      <p:regular r:id="rId57"/>
      <p:bold r:id="rId58"/>
      <p:italic r:id="rId59"/>
      <p:boldItalic r:id="rId60"/>
    </p:embeddedFont>
    <p:embeddedFont>
      <p:font typeface="Raleway" pitchFamily="2" charset="0"/>
      <p:regular r:id="rId61"/>
      <p:bold r:id="rId62"/>
      <p:italic r:id="rId63"/>
      <p:boldItalic r:id="rId6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C63983B-D583-44DE-A7DC-098A780426C1}">
  <a:tblStyle styleId="{4C63983B-D583-44DE-A7DC-098A780426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287E7D7-C64E-4BC5-AFBE-D6E64EE60FD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11134" autoAdjust="0"/>
    <p:restoredTop sz="94660"/>
  </p:normalViewPr>
  <p:slideViewPr>
    <p:cSldViewPr snapToGrid="0">
      <p:cViewPr varScale="1">
        <p:scale>
          <a:sx n="72" d="100"/>
          <a:sy n="72" d="100"/>
        </p:scale>
        <p:origin x="58" y="57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openxmlformats.org/officeDocument/2006/relationships/font" Target="fonts/font10.fntdata"/><Relationship Id="rId50" Type="http://schemas.openxmlformats.org/officeDocument/2006/relationships/font" Target="fonts/font13.fntdata"/><Relationship Id="rId55" Type="http://schemas.openxmlformats.org/officeDocument/2006/relationships/font" Target="fonts/font18.fntdata"/><Relationship Id="rId63" Type="http://schemas.openxmlformats.org/officeDocument/2006/relationships/font" Target="fonts/font26.fntdata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3" Type="http://schemas.openxmlformats.org/officeDocument/2006/relationships/font" Target="fonts/font16.fntdata"/><Relationship Id="rId58" Type="http://schemas.openxmlformats.org/officeDocument/2006/relationships/font" Target="fonts/font21.fntdata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font" Target="fonts/font24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6.fntdata"/><Relationship Id="rId48" Type="http://schemas.openxmlformats.org/officeDocument/2006/relationships/font" Target="fonts/font11.fntdata"/><Relationship Id="rId56" Type="http://schemas.openxmlformats.org/officeDocument/2006/relationships/font" Target="fonts/font19.fntdata"/><Relationship Id="rId64" Type="http://schemas.openxmlformats.org/officeDocument/2006/relationships/font" Target="fonts/font27.fntdata"/><Relationship Id="rId8" Type="http://schemas.openxmlformats.org/officeDocument/2006/relationships/slide" Target="slides/slide7.xml"/><Relationship Id="rId51" Type="http://schemas.openxmlformats.org/officeDocument/2006/relationships/font" Target="fonts/font1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font" Target="fonts/font9.fntdata"/><Relationship Id="rId59" Type="http://schemas.openxmlformats.org/officeDocument/2006/relationships/font" Target="fonts/font22.fntdata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4.fntdata"/><Relationship Id="rId54" Type="http://schemas.openxmlformats.org/officeDocument/2006/relationships/font" Target="fonts/font17.fntdata"/><Relationship Id="rId62" Type="http://schemas.openxmlformats.org/officeDocument/2006/relationships/font" Target="fonts/font2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2.fntdata"/><Relationship Id="rId57" Type="http://schemas.openxmlformats.org/officeDocument/2006/relationships/font" Target="fonts/font20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7.fntdata"/><Relationship Id="rId52" Type="http://schemas.openxmlformats.org/officeDocument/2006/relationships/font" Target="fonts/font15.fntdata"/><Relationship Id="rId60" Type="http://schemas.openxmlformats.org/officeDocument/2006/relationships/font" Target="fonts/font23.fntdata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0f8b4c1d0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20f8b4c1d0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3BC48AEB-4772-6CAF-F2AB-16B954C2E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8A5D5659-9218-180D-739C-ACB007F481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F6E20D8-4607-CC42-494B-91FF0EB077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3677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4C8DE92F-5D8F-A696-769D-D67829D5A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3E7EB009-FEAF-6CAA-396C-9C5D52C607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E6FF78B4-62A3-6607-2AF9-9B85C812A1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52981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8214363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6D2F2C33-3EBA-31F1-C7AB-C9DA33D2F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CD4C0A2F-D854-8E7C-F70B-278314D5A4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5A4836E2-6CE8-B603-5400-C9A075DD8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36176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9771C7B-8940-58B6-7C4E-D0486E105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B0C194EF-0882-23BC-DCF5-D726BE03ED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2A5E6C68-97BB-360F-30AE-7B869B5FA2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32620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8F07093E-0090-F8EE-18FD-37EE62AE1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E302AA8C-DB9C-B630-7546-C6207E4796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48C1166-FBBF-AF8C-032F-1945D2FB9B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175344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E8F27147-C2C9-5C1B-A4A4-F75F3EF8E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640DA96-714D-ECF5-9A4C-7D69692BAD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AAE5F498-251F-B52E-B0EA-A344814A5F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579026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FB754867-1E3B-99C1-4A3C-27424526F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061EC19B-6AAB-F641-2156-5722156CAB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07A0D695-8376-4701-FDE9-2E2EA1DE0C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40417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3B0E4A0A-8661-7335-353C-737A6F9F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BECD360-12B9-7C67-A725-F4DB7A69B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86A12A9A-CB71-31BB-CFF8-D28CF314AE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79790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1662B5F-C01B-08D6-2A41-A93676E5F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F8D98537-99C5-C9C3-FD45-365A0A1D32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36625E7-77C9-8E45-BF66-73F716C2D9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528359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>
          <a:extLst>
            <a:ext uri="{FF2B5EF4-FFF2-40B4-BE49-F238E27FC236}">
              <a16:creationId xmlns:a16="http://schemas.microsoft.com/office/drawing/2014/main" id="{4569CB64-68EC-5A10-A0C9-BED2A4AEB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>
            <a:extLst>
              <a:ext uri="{FF2B5EF4-FFF2-40B4-BE49-F238E27FC236}">
                <a16:creationId xmlns:a16="http://schemas.microsoft.com/office/drawing/2014/main" id="{E0264E4A-95E4-3992-4E98-D5936838B0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>
            <a:extLst>
              <a:ext uri="{FF2B5EF4-FFF2-40B4-BE49-F238E27FC236}">
                <a16:creationId xmlns:a16="http://schemas.microsoft.com/office/drawing/2014/main" id="{115292E3-FECF-5B3F-9393-6061FAE033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03305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92B1F-D9A9-CA9A-01A1-01130ADD0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B066-EF3D-E5BF-E22B-5BB2167AC7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47A21A-C68F-E053-650E-886B9806B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1285384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58699494-A352-BCBC-6EF5-1C08817DC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23DA8322-FADA-52E5-556F-0252E6760C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1B1756F8-3AEE-5BE2-F9CF-C9D9A97294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66407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11B921A0-7C06-A93C-8D15-28FAD534C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E1A1A8D-D83A-4D8B-9F55-FA324A8A93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767AE09-445B-12BA-B589-7F357931B2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42201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598A54C8-62C1-EF6B-3A01-3AEC38200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5CBE11DF-CCB9-6C68-B301-B98B59A34A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02A18DBE-CFB9-CE9C-8729-D4AB0E4DD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104673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765161D-043F-7004-C835-21420B89B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D2BDC30-4EE6-F75D-E517-DD127F72C1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DBC4886B-8F3F-5967-E401-84832DFC3B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37370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18E2E1E1-96B5-D3DC-EA4D-60E3436BE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741D6688-E3AA-26EF-9A5B-5F15E7F839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D31FDCA7-A1A1-9FED-F61B-7C62AA0BEC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96341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4857900" y="0"/>
            <a:ext cx="4286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740300"/>
            <a:ext cx="4110900" cy="290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72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5" y="4116625"/>
            <a:ext cx="4110900" cy="4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763025" y="2438650"/>
            <a:ext cx="4514400" cy="102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>
            <a:spLocks noGrp="1"/>
          </p:cNvSpPr>
          <p:nvPr>
            <p:ph type="pic" idx="3"/>
          </p:nvPr>
        </p:nvSpPr>
        <p:spPr>
          <a:xfrm>
            <a:off x="0" y="0"/>
            <a:ext cx="3014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3763025" y="3461650"/>
            <a:ext cx="4514400" cy="49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32" name="Google Shape;32;p6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" name="Google Shape;33;p6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713225" y="475200"/>
            <a:ext cx="4903800" cy="106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ubTitle" idx="1"/>
          </p:nvPr>
        </p:nvSpPr>
        <p:spPr>
          <a:xfrm>
            <a:off x="713225" y="1878463"/>
            <a:ext cx="4903800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 sz="1400"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>
            <a:spLocks noGrp="1"/>
          </p:cNvSpPr>
          <p:nvPr>
            <p:ph type="pic" idx="2"/>
          </p:nvPr>
        </p:nvSpPr>
        <p:spPr>
          <a:xfrm>
            <a:off x="6036950" y="0"/>
            <a:ext cx="3107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38" name="Google Shape;38;p7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Google Shape;39;p7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13225" y="1307100"/>
            <a:ext cx="62142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cxnSp>
        <p:nvCxnSpPr>
          <p:cNvPr id="42" name="Google Shape;42;p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" name="Google Shape;43;p8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13225" y="1189100"/>
            <a:ext cx="62952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713250" y="3442475"/>
            <a:ext cx="62952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47" name="Google Shape;47;p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48" name="Google Shape;48;p9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>
            <a:spLocks noGrp="1"/>
          </p:cNvSpPr>
          <p:nvPr>
            <p:ph type="pic" idx="2"/>
          </p:nvPr>
        </p:nvSpPr>
        <p:spPr>
          <a:xfrm>
            <a:off x="-7700" y="-11550"/>
            <a:ext cx="91572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1" name="Google Shape;51;p10"/>
          <p:cNvSpPr txBox="1">
            <a:spLocks noGrp="1"/>
          </p:cNvSpPr>
          <p:nvPr>
            <p:ph type="title"/>
          </p:nvPr>
        </p:nvSpPr>
        <p:spPr>
          <a:xfrm>
            <a:off x="720000" y="2743200"/>
            <a:ext cx="3885900" cy="15066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52" name="Google Shape;52;p10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Google Shape;53;p10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 hasCustomPrompt="1"/>
          </p:nvPr>
        </p:nvSpPr>
        <p:spPr>
          <a:xfrm>
            <a:off x="3025075" y="1427875"/>
            <a:ext cx="5405700" cy="161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6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>
            <a:spLocks noGrp="1"/>
          </p:cNvSpPr>
          <p:nvPr>
            <p:ph type="subTitle" idx="1"/>
          </p:nvPr>
        </p:nvSpPr>
        <p:spPr>
          <a:xfrm>
            <a:off x="3025075" y="3218500"/>
            <a:ext cx="54057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7" name="Google Shape;57;p11"/>
          <p:cNvSpPr>
            <a:spLocks noGrp="1"/>
          </p:cNvSpPr>
          <p:nvPr>
            <p:ph type="pic" idx="2"/>
          </p:nvPr>
        </p:nvSpPr>
        <p:spPr>
          <a:xfrm>
            <a:off x="1825" y="0"/>
            <a:ext cx="27279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58" name="Google Shape;58;p1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5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47916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3340335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4" hasCustomPrompt="1"/>
          </p:nvPr>
        </p:nvSpPr>
        <p:spPr>
          <a:xfrm>
            <a:off x="713225" y="209955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960726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6" hasCustomPrompt="1"/>
          </p:nvPr>
        </p:nvSpPr>
        <p:spPr>
          <a:xfrm>
            <a:off x="713225" y="2719944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1"/>
          </p:nvPr>
        </p:nvSpPr>
        <p:spPr>
          <a:xfrm>
            <a:off x="2031175" y="1504513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7"/>
          </p:nvPr>
        </p:nvSpPr>
        <p:spPr>
          <a:xfrm>
            <a:off x="2031175" y="2124901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8"/>
          </p:nvPr>
        </p:nvSpPr>
        <p:spPr>
          <a:xfrm>
            <a:off x="2031175" y="2745289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subTitle" idx="9"/>
          </p:nvPr>
        </p:nvSpPr>
        <p:spPr>
          <a:xfrm>
            <a:off x="2031175" y="3365677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13"/>
          </p:nvPr>
        </p:nvSpPr>
        <p:spPr>
          <a:xfrm>
            <a:off x="2031175" y="3986065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14"/>
          </p:nvPr>
        </p:nvSpPr>
        <p:spPr>
          <a:xfrm>
            <a:off x="4317875" y="1508063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15"/>
          </p:nvPr>
        </p:nvSpPr>
        <p:spPr>
          <a:xfrm>
            <a:off x="4317875" y="2128451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subTitle" idx="16"/>
          </p:nvPr>
        </p:nvSpPr>
        <p:spPr>
          <a:xfrm>
            <a:off x="4317875" y="2748839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7"/>
          </p:nvPr>
        </p:nvSpPr>
        <p:spPr>
          <a:xfrm>
            <a:off x="4317875" y="3369227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18"/>
          </p:nvPr>
        </p:nvSpPr>
        <p:spPr>
          <a:xfrm>
            <a:off x="4317875" y="3989615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cxnSp>
        <p:nvCxnSpPr>
          <p:cNvPr id="77" name="Google Shape;77;p1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Google Shape;78;p13"/>
          <p:cNvCxnSpPr/>
          <p:nvPr/>
        </p:nvCxnSpPr>
        <p:spPr>
          <a:xfrm>
            <a:off x="1825" y="36766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 txBox="1">
            <a:spLocks noGrp="1"/>
          </p:cNvSpPr>
          <p:nvPr>
            <p:ph type="subTitle" idx="1"/>
          </p:nvPr>
        </p:nvSpPr>
        <p:spPr>
          <a:xfrm>
            <a:off x="713225" y="1904250"/>
            <a:ext cx="4412100" cy="24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AutoNum type="romanLcPeriod"/>
              <a:defRPr/>
            </a:lvl9pPr>
          </a:lstStyle>
          <a:p>
            <a:endParaRPr/>
          </a:p>
        </p:txBody>
      </p:sp>
      <p:cxnSp>
        <p:nvCxnSpPr>
          <p:cNvPr id="86" name="Google Shape;86;p15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87" name="Google Shape;87;p1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ubTitle" idx="1"/>
          </p:nvPr>
        </p:nvSpPr>
        <p:spPr>
          <a:xfrm>
            <a:off x="7200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subTitle" idx="2"/>
          </p:nvPr>
        </p:nvSpPr>
        <p:spPr>
          <a:xfrm>
            <a:off x="46691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subTitle" idx="3"/>
          </p:nvPr>
        </p:nvSpPr>
        <p:spPr>
          <a:xfrm>
            <a:off x="720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subTitle" idx="4"/>
          </p:nvPr>
        </p:nvSpPr>
        <p:spPr>
          <a:xfrm>
            <a:off x="4676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0"/>
          <p:cNvSpPr txBox="1">
            <a:spLocks noGrp="1"/>
          </p:cNvSpPr>
          <p:nvPr>
            <p:ph type="subTitle" idx="5"/>
          </p:nvPr>
        </p:nvSpPr>
        <p:spPr>
          <a:xfrm>
            <a:off x="110850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1" name="Google Shape;121;p20"/>
          <p:cNvSpPr txBox="1">
            <a:spLocks noGrp="1"/>
          </p:cNvSpPr>
          <p:nvPr>
            <p:ph type="subTitle" idx="6"/>
          </p:nvPr>
        </p:nvSpPr>
        <p:spPr>
          <a:xfrm>
            <a:off x="1108500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2" name="Google Shape;122;p20"/>
          <p:cNvSpPr txBox="1">
            <a:spLocks noGrp="1"/>
          </p:cNvSpPr>
          <p:nvPr>
            <p:ph type="subTitle" idx="7"/>
          </p:nvPr>
        </p:nvSpPr>
        <p:spPr>
          <a:xfrm>
            <a:off x="505755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3" name="Google Shape;123;p20"/>
          <p:cNvSpPr txBox="1">
            <a:spLocks noGrp="1"/>
          </p:cNvSpPr>
          <p:nvPr>
            <p:ph type="subTitle" idx="8"/>
          </p:nvPr>
        </p:nvSpPr>
        <p:spPr>
          <a:xfrm>
            <a:off x="5057525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24" name="Google Shape;124;p20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25" name="Google Shape;125;p20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1"/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1"/>
          <p:cNvSpPr txBox="1">
            <a:spLocks noGrp="1"/>
          </p:cNvSpPr>
          <p:nvPr>
            <p:ph type="subTitle" idx="2"/>
          </p:nvPr>
        </p:nvSpPr>
        <p:spPr>
          <a:xfrm>
            <a:off x="720000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1"/>
          <p:cNvSpPr txBox="1">
            <a:spLocks noGrp="1"/>
          </p:cNvSpPr>
          <p:nvPr>
            <p:ph type="subTitle" idx="3"/>
          </p:nvPr>
        </p:nvSpPr>
        <p:spPr>
          <a:xfrm>
            <a:off x="4806475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1"/>
          <p:cNvSpPr txBox="1">
            <a:spLocks noGrp="1"/>
          </p:cNvSpPr>
          <p:nvPr>
            <p:ph type="subTitle" idx="4"/>
          </p:nvPr>
        </p:nvSpPr>
        <p:spPr>
          <a:xfrm>
            <a:off x="4806475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1"/>
          <p:cNvSpPr txBox="1">
            <a:spLocks noGrp="1"/>
          </p:cNvSpPr>
          <p:nvPr>
            <p:ph type="subTitle" idx="5"/>
          </p:nvPr>
        </p:nvSpPr>
        <p:spPr>
          <a:xfrm>
            <a:off x="720000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1"/>
          <p:cNvSpPr txBox="1">
            <a:spLocks noGrp="1"/>
          </p:cNvSpPr>
          <p:nvPr>
            <p:ph type="subTitle" idx="6"/>
          </p:nvPr>
        </p:nvSpPr>
        <p:spPr>
          <a:xfrm>
            <a:off x="4806475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1"/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subTitle" idx="8"/>
          </p:nvPr>
        </p:nvSpPr>
        <p:spPr>
          <a:xfrm>
            <a:off x="1167725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6" name="Google Shape;136;p21"/>
          <p:cNvSpPr txBox="1">
            <a:spLocks noGrp="1"/>
          </p:cNvSpPr>
          <p:nvPr>
            <p:ph type="subTitle" idx="9"/>
          </p:nvPr>
        </p:nvSpPr>
        <p:spPr>
          <a:xfrm>
            <a:off x="1169450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subTitle" idx="13"/>
          </p:nvPr>
        </p:nvSpPr>
        <p:spPr>
          <a:xfrm>
            <a:off x="5251975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8" name="Google Shape;138;p21"/>
          <p:cNvSpPr txBox="1">
            <a:spLocks noGrp="1"/>
          </p:cNvSpPr>
          <p:nvPr>
            <p:ph type="subTitle" idx="14"/>
          </p:nvPr>
        </p:nvSpPr>
        <p:spPr>
          <a:xfrm>
            <a:off x="5251978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subTitle" idx="15"/>
          </p:nvPr>
        </p:nvSpPr>
        <p:spPr>
          <a:xfrm>
            <a:off x="5251975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40" name="Google Shape;140;p21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41" name="Google Shape;141;p2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>
            <a:spLocks noGrp="1"/>
          </p:cNvSpPr>
          <p:nvPr>
            <p:ph type="pic" idx="2"/>
          </p:nvPr>
        </p:nvSpPr>
        <p:spPr>
          <a:xfrm>
            <a:off x="7605374" y="-75"/>
            <a:ext cx="15387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44" name="Google Shape;144;p22"/>
          <p:cNvSpPr txBox="1">
            <a:spLocks noGrp="1"/>
          </p:cNvSpPr>
          <p:nvPr>
            <p:ph type="title" hasCustomPrompt="1"/>
          </p:nvPr>
        </p:nvSpPr>
        <p:spPr>
          <a:xfrm>
            <a:off x="713225" y="21517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2"/>
          <p:cNvSpPr txBox="1">
            <a:spLocks noGrp="1"/>
          </p:cNvSpPr>
          <p:nvPr>
            <p:ph type="subTitle" idx="1"/>
          </p:nvPr>
        </p:nvSpPr>
        <p:spPr>
          <a:xfrm>
            <a:off x="4469050" y="2352063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6" name="Google Shape;146;p22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10831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7" name="Google Shape;147;p22"/>
          <p:cNvSpPr txBox="1">
            <a:spLocks noGrp="1"/>
          </p:cNvSpPr>
          <p:nvPr>
            <p:ph type="subTitle" idx="4"/>
          </p:nvPr>
        </p:nvSpPr>
        <p:spPr>
          <a:xfrm>
            <a:off x="4469050" y="128350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2203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9" name="Google Shape;149;p22"/>
          <p:cNvSpPr txBox="1">
            <a:spLocks noGrp="1"/>
          </p:cNvSpPr>
          <p:nvPr>
            <p:ph type="subTitle" idx="6"/>
          </p:nvPr>
        </p:nvSpPr>
        <p:spPr>
          <a:xfrm>
            <a:off x="4469050" y="342065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cxnSp>
        <p:nvCxnSpPr>
          <p:cNvPr id="150" name="Google Shape;150;p2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51" name="Google Shape;151;p22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>
            <a:spLocks noGrp="1"/>
          </p:cNvSpPr>
          <p:nvPr>
            <p:ph type="title"/>
          </p:nvPr>
        </p:nvSpPr>
        <p:spPr>
          <a:xfrm>
            <a:off x="713368" y="923775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6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3"/>
          <p:cNvSpPr txBox="1">
            <a:spLocks noGrp="1"/>
          </p:cNvSpPr>
          <p:nvPr>
            <p:ph type="subTitle" idx="1"/>
          </p:nvPr>
        </p:nvSpPr>
        <p:spPr>
          <a:xfrm>
            <a:off x="713225" y="2171200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3"/>
          <p:cNvSpPr txBox="1"/>
          <p:nvPr/>
        </p:nvSpPr>
        <p:spPr>
          <a:xfrm>
            <a:off x="713375" y="3363400"/>
            <a:ext cx="45549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CREDITS: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includes icons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</a:t>
            </a:r>
            <a:endParaRPr sz="10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56" name="Google Shape;156;p2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23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158" name="Google Shape;158;p23"/>
          <p:cNvSpPr>
            <a:spLocks noGrp="1"/>
          </p:cNvSpPr>
          <p:nvPr>
            <p:ph type="pic" idx="2"/>
          </p:nvPr>
        </p:nvSpPr>
        <p:spPr>
          <a:xfrm>
            <a:off x="6798600" y="0"/>
            <a:ext cx="2345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" name="Google Shape;160;p24"/>
          <p:cNvCxnSpPr/>
          <p:nvPr/>
        </p:nvCxnSpPr>
        <p:spPr>
          <a:xfrm>
            <a:off x="-6600" y="1650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1" name="Google Shape;161;p24"/>
          <p:cNvCxnSpPr/>
          <p:nvPr/>
        </p:nvCxnSpPr>
        <p:spPr>
          <a:xfrm>
            <a:off x="-6600" y="3559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2" name="Google Shape;162;p24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4" name="Google Shape;164;p2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" name="Google Shape;165;p25"/>
          <p:cNvCxnSpPr/>
          <p:nvPr/>
        </p:nvCxnSpPr>
        <p:spPr>
          <a:xfrm>
            <a:off x="-6600" y="500198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" name="Google Shape;166;p25"/>
          <p:cNvCxnSpPr/>
          <p:nvPr/>
        </p:nvCxnSpPr>
        <p:spPr>
          <a:xfrm>
            <a:off x="-6600" y="47113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3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1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681" r="36942"/>
          <a:stretch/>
        </p:blipFill>
        <p:spPr>
          <a:xfrm>
            <a:off x="4857900" y="0"/>
            <a:ext cx="4286100" cy="5143499"/>
          </a:xfrm>
          <a:prstGeom prst="rect">
            <a:avLst/>
          </a:prstGeom>
        </p:spPr>
      </p:pic>
      <p:sp>
        <p:nvSpPr>
          <p:cNvPr id="178" name="Google Shape;178;p29"/>
          <p:cNvSpPr/>
          <p:nvPr/>
        </p:nvSpPr>
        <p:spPr>
          <a:xfrm>
            <a:off x="4620150" y="0"/>
            <a:ext cx="20586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35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29"/>
          <p:cNvSpPr txBox="1">
            <a:spLocks noGrp="1"/>
          </p:cNvSpPr>
          <p:nvPr>
            <p:ph type="ctrTitle"/>
          </p:nvPr>
        </p:nvSpPr>
        <p:spPr>
          <a:xfrm>
            <a:off x="168606" y="127591"/>
            <a:ext cx="6510144" cy="18351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2800" dirty="0"/>
              <a:t>P1 – Mitigating Public Transit Unreliability in Malaysia through Deep Learning Analytics and Ridership Forecasting</a:t>
            </a:r>
            <a:endParaRPr sz="1200" dirty="0">
              <a:solidFill>
                <a:schemeClr val="dk2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80" name="Google Shape;180;p29"/>
          <p:cNvSpPr txBox="1">
            <a:spLocks noGrp="1"/>
          </p:cNvSpPr>
          <p:nvPr>
            <p:ph type="subTitle" idx="1"/>
          </p:nvPr>
        </p:nvSpPr>
        <p:spPr>
          <a:xfrm>
            <a:off x="168606" y="3722912"/>
            <a:ext cx="5075219" cy="8884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</a:pPr>
            <a:r>
              <a:rPr lang="en-US" b="1" dirty="0"/>
              <a:t>Student:</a:t>
            </a:r>
            <a:r>
              <a:rPr lang="en-US" dirty="0"/>
              <a:t> Yip Zi Xian (24202141)</a:t>
            </a:r>
          </a:p>
          <a:p>
            <a:pPr marL="0" indent="0">
              <a:lnSpc>
                <a:spcPct val="150000"/>
              </a:lnSpc>
            </a:pPr>
            <a:r>
              <a:rPr lang="en-MY" b="1" dirty="0"/>
              <a:t>Supervisor: </a:t>
            </a:r>
            <a:r>
              <a:rPr lang="en-MY" dirty="0"/>
              <a:t>Prof. Ts. Dr. Rafidah binti Md Noor</a:t>
            </a:r>
            <a:endParaRPr lang="en-MY" b="1" dirty="0"/>
          </a:p>
        </p:txBody>
      </p:sp>
      <p:cxnSp>
        <p:nvCxnSpPr>
          <p:cNvPr id="181" name="Google Shape;181;p29"/>
          <p:cNvCxnSpPr/>
          <p:nvPr/>
        </p:nvCxnSpPr>
        <p:spPr>
          <a:xfrm>
            <a:off x="1825" y="362009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82" name="Google Shape;182;p2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5C10F56-2467-2B1E-D8A5-3CE69A4C23E9}"/>
              </a:ext>
            </a:extLst>
          </p:cNvPr>
          <p:cNvSpPr txBox="1"/>
          <p:nvPr/>
        </p:nvSpPr>
        <p:spPr>
          <a:xfrm>
            <a:off x="168606" y="1962692"/>
            <a:ext cx="45932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F0B205"/>
                </a:solidFill>
                <a:effectLst/>
                <a:uLnTx/>
                <a:uFillTx/>
                <a:latin typeface="Montserrat SemiBold"/>
                <a:ea typeface="Montserrat SemiBold"/>
                <a:cs typeface="Montserrat SemiBold"/>
                <a:sym typeface="Montserrat SemiBold"/>
              </a:rPr>
              <a:t>Master of Artificial Intelligence</a:t>
            </a:r>
            <a:endParaRPr lang="en-MY" sz="10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F84EF8-450D-8CC2-3B86-3BD9B0BA5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009" y="2427572"/>
            <a:ext cx="3140552" cy="10182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46DAA6-4F25-1816-7079-E30F9C8A07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430" y="2434836"/>
            <a:ext cx="1018238" cy="10182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3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42385" r="23636"/>
          <a:stretch/>
        </p:blipFill>
        <p:spPr>
          <a:xfrm>
            <a:off x="6036950" y="0"/>
            <a:ext cx="3107050" cy="5143500"/>
          </a:xfrm>
          <a:prstGeom prst="rect">
            <a:avLst/>
          </a:prstGeom>
        </p:spPr>
      </p:pic>
      <p:sp>
        <p:nvSpPr>
          <p:cNvPr id="220" name="Google Shape;220;p32"/>
          <p:cNvSpPr/>
          <p:nvPr/>
        </p:nvSpPr>
        <p:spPr>
          <a:xfrm>
            <a:off x="5617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1" name="Google Shape;221;p3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Google Shape;222;p32"/>
          <p:cNvSpPr txBox="1">
            <a:spLocks noGrp="1"/>
          </p:cNvSpPr>
          <p:nvPr>
            <p:ph type="title"/>
          </p:nvPr>
        </p:nvSpPr>
        <p:spPr>
          <a:xfrm>
            <a:off x="177966" y="402349"/>
            <a:ext cx="4903800" cy="64390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Research</a:t>
            </a:r>
            <a:r>
              <a:rPr lang="en" dirty="0"/>
              <a:t> Background</a:t>
            </a:r>
            <a:endParaRPr dirty="0"/>
          </a:p>
        </p:txBody>
      </p:sp>
      <p:sp>
        <p:nvSpPr>
          <p:cNvPr id="223" name="Google Shape;223;p32"/>
          <p:cNvSpPr txBox="1">
            <a:spLocks noGrp="1"/>
          </p:cNvSpPr>
          <p:nvPr>
            <p:ph type="subTitle" idx="1"/>
          </p:nvPr>
        </p:nvSpPr>
        <p:spPr>
          <a:xfrm>
            <a:off x="177965" y="1497110"/>
            <a:ext cx="5843959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sz="1800" dirty="0"/>
              <a:t>Public transportation is </a:t>
            </a:r>
            <a:r>
              <a:rPr lang="en-US" sz="1800" b="1" dirty="0"/>
              <a:t>essential</a:t>
            </a:r>
            <a:r>
              <a:rPr lang="en-US" sz="1800" dirty="0"/>
              <a:t> for </a:t>
            </a:r>
            <a:r>
              <a:rPr lang="en-US" sz="1800" b="1" dirty="0"/>
              <a:t>urban mobility</a:t>
            </a:r>
            <a:r>
              <a:rPr lang="en-US" sz="1800" dirty="0"/>
              <a:t>, </a:t>
            </a:r>
            <a:r>
              <a:rPr lang="en-US" sz="1800" b="1" dirty="0"/>
              <a:t>economic growth, </a:t>
            </a:r>
            <a:r>
              <a:rPr lang="en-US" sz="1800" dirty="0"/>
              <a:t>and</a:t>
            </a:r>
            <a:r>
              <a:rPr lang="en-US" sz="1800" b="1" dirty="0"/>
              <a:t> environmental sustainability</a:t>
            </a:r>
            <a:r>
              <a:rPr lang="en-US" sz="1800" dirty="0"/>
              <a:t>.</a:t>
            </a:r>
          </a:p>
          <a:p>
            <a:pPr marL="0" lv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Rapid urbanization </a:t>
            </a:r>
            <a:r>
              <a:rPr lang="en-US" sz="1800" dirty="0"/>
              <a:t>in Malaysia </a:t>
            </a:r>
            <a:r>
              <a:rPr lang="en-US" sz="1800" b="1" dirty="0"/>
              <a:t>increases</a:t>
            </a:r>
            <a:r>
              <a:rPr lang="en-US" sz="1800" dirty="0"/>
              <a:t> </a:t>
            </a:r>
            <a:r>
              <a:rPr lang="en-US" sz="1800" b="1" dirty="0"/>
              <a:t>demand</a:t>
            </a:r>
            <a:r>
              <a:rPr lang="en-US" sz="1800" dirty="0"/>
              <a:t> for </a:t>
            </a:r>
            <a:r>
              <a:rPr lang="en-US" sz="1800" b="1" dirty="0"/>
              <a:t>efficient</a:t>
            </a:r>
            <a:r>
              <a:rPr lang="en-US" sz="1800" dirty="0"/>
              <a:t> public transit systems.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Reliable</a:t>
            </a:r>
            <a:r>
              <a:rPr lang="en-US" sz="1800" dirty="0"/>
              <a:t> public transit, such as </a:t>
            </a:r>
            <a:r>
              <a:rPr lang="en-US" sz="1800" b="1" dirty="0"/>
              <a:t>buses</a:t>
            </a:r>
            <a:r>
              <a:rPr lang="en-US" sz="1800" dirty="0"/>
              <a:t> and </a:t>
            </a:r>
            <a:r>
              <a:rPr lang="en-US" sz="1800" b="1" dirty="0"/>
              <a:t>rails</a:t>
            </a:r>
            <a:r>
              <a:rPr lang="en-US" sz="1800" dirty="0"/>
              <a:t>, improves </a:t>
            </a:r>
            <a:r>
              <a:rPr lang="en-US" sz="1800" b="1" dirty="0"/>
              <a:t>accessibility</a:t>
            </a:r>
            <a:r>
              <a:rPr lang="en-US" sz="1800" dirty="0"/>
              <a:t> and </a:t>
            </a:r>
            <a:r>
              <a:rPr lang="en-US" sz="1800" b="1" dirty="0"/>
              <a:t>quality of life</a:t>
            </a:r>
            <a:r>
              <a:rPr lang="en-US" sz="1800" dirty="0"/>
              <a:t> by being </a:t>
            </a:r>
            <a:r>
              <a:rPr lang="en-US" sz="1800" b="1" dirty="0"/>
              <a:t>punctual</a:t>
            </a:r>
            <a:r>
              <a:rPr lang="en-US" sz="1800" dirty="0"/>
              <a:t> and </a:t>
            </a:r>
            <a:r>
              <a:rPr lang="en-US" sz="1800" b="1" dirty="0"/>
              <a:t>efficient</a:t>
            </a:r>
            <a:r>
              <a:rPr lang="en-US" sz="1800" dirty="0"/>
              <a:t>.</a:t>
            </a:r>
          </a:p>
        </p:txBody>
      </p:sp>
      <p:cxnSp>
        <p:nvCxnSpPr>
          <p:cNvPr id="224" name="Google Shape;224;p32"/>
          <p:cNvCxnSpPr/>
          <p:nvPr/>
        </p:nvCxnSpPr>
        <p:spPr>
          <a:xfrm>
            <a:off x="1825" y="117572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225" name="Google Shape;225;p3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1"/>
          <p:cNvSpPr txBox="1">
            <a:spLocks noGrp="1"/>
          </p:cNvSpPr>
          <p:nvPr>
            <p:ph type="title"/>
          </p:nvPr>
        </p:nvSpPr>
        <p:spPr>
          <a:xfrm>
            <a:off x="0" y="533419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Contents of the Session</a:t>
            </a:r>
            <a:endParaRPr dirty="0"/>
          </a:p>
        </p:txBody>
      </p:sp>
      <p:sp>
        <p:nvSpPr>
          <p:cNvPr id="198" name="Google Shape;198;p31"/>
          <p:cNvSpPr txBox="1">
            <a:spLocks noGrp="1"/>
          </p:cNvSpPr>
          <p:nvPr>
            <p:ph type="title" idx="2"/>
          </p:nvPr>
        </p:nvSpPr>
        <p:spPr>
          <a:xfrm>
            <a:off x="679772" y="1529127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00" name="Google Shape;200;p31"/>
          <p:cNvSpPr txBox="1">
            <a:spLocks noGrp="1"/>
          </p:cNvSpPr>
          <p:nvPr>
            <p:ph type="title" idx="4"/>
          </p:nvPr>
        </p:nvSpPr>
        <p:spPr>
          <a:xfrm>
            <a:off x="679772" y="2149517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02" name="Google Shape;202;p31"/>
          <p:cNvSpPr txBox="1">
            <a:spLocks noGrp="1"/>
          </p:cNvSpPr>
          <p:nvPr>
            <p:ph type="title" idx="6"/>
          </p:nvPr>
        </p:nvSpPr>
        <p:spPr>
          <a:xfrm>
            <a:off x="679772" y="2769908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03" name="Google Shape;203;p31"/>
          <p:cNvSpPr txBox="1">
            <a:spLocks noGrp="1"/>
          </p:cNvSpPr>
          <p:nvPr>
            <p:ph type="subTitle" idx="1"/>
          </p:nvPr>
        </p:nvSpPr>
        <p:spPr>
          <a:xfrm>
            <a:off x="1526372" y="1554477"/>
            <a:ext cx="2540825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04" name="Google Shape;204;p31"/>
          <p:cNvSpPr txBox="1">
            <a:spLocks noGrp="1"/>
          </p:cNvSpPr>
          <p:nvPr>
            <p:ph type="subTitle" idx="7"/>
          </p:nvPr>
        </p:nvSpPr>
        <p:spPr>
          <a:xfrm>
            <a:off x="1526373" y="2174865"/>
            <a:ext cx="3159252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05" name="Google Shape;205;p31"/>
          <p:cNvSpPr txBox="1">
            <a:spLocks noGrp="1"/>
          </p:cNvSpPr>
          <p:nvPr>
            <p:ph type="subTitle" idx="8"/>
          </p:nvPr>
        </p:nvSpPr>
        <p:spPr>
          <a:xfrm>
            <a:off x="1526372" y="2795253"/>
            <a:ext cx="3276805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Questioning Objectives</a:t>
            </a:r>
            <a:endParaRPr dirty="0"/>
          </a:p>
        </p:txBody>
      </p:sp>
      <p:sp>
        <p:nvSpPr>
          <p:cNvPr id="13" name="Google Shape;199;p31">
            <a:extLst>
              <a:ext uri="{FF2B5EF4-FFF2-40B4-BE49-F238E27FC236}">
                <a16:creationId xmlns:a16="http://schemas.microsoft.com/office/drawing/2014/main" id="{5C3B896C-0E9A-363F-D4D5-9B2A1F87BC23}"/>
              </a:ext>
            </a:extLst>
          </p:cNvPr>
          <p:cNvSpPr txBox="1">
            <a:spLocks/>
          </p:cNvSpPr>
          <p:nvPr/>
        </p:nvSpPr>
        <p:spPr>
          <a:xfrm>
            <a:off x="5089783" y="3043660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05</a:t>
            </a:r>
          </a:p>
        </p:txBody>
      </p:sp>
      <p:sp>
        <p:nvSpPr>
          <p:cNvPr id="15" name="Google Shape;201;p31">
            <a:extLst>
              <a:ext uri="{FF2B5EF4-FFF2-40B4-BE49-F238E27FC236}">
                <a16:creationId xmlns:a16="http://schemas.microsoft.com/office/drawing/2014/main" id="{C8EAD50A-A72B-B2D3-31E0-DBAAA0506561}"/>
              </a:ext>
            </a:extLst>
          </p:cNvPr>
          <p:cNvSpPr txBox="1">
            <a:spLocks/>
          </p:cNvSpPr>
          <p:nvPr/>
        </p:nvSpPr>
        <p:spPr>
          <a:xfrm>
            <a:off x="5089783" y="3664051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06</a:t>
            </a:r>
          </a:p>
        </p:txBody>
      </p:sp>
      <p:sp>
        <p:nvSpPr>
          <p:cNvPr id="16" name="Google Shape;202;p31">
            <a:extLst>
              <a:ext uri="{FF2B5EF4-FFF2-40B4-BE49-F238E27FC236}">
                <a16:creationId xmlns:a16="http://schemas.microsoft.com/office/drawing/2014/main" id="{186B70B1-BB38-DCA5-9FE6-CDF305CEAC31}"/>
              </a:ext>
            </a:extLst>
          </p:cNvPr>
          <p:cNvSpPr txBox="1">
            <a:spLocks/>
          </p:cNvSpPr>
          <p:nvPr/>
        </p:nvSpPr>
        <p:spPr>
          <a:xfrm>
            <a:off x="5089783" y="2423269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19" name="Google Shape;205;p31">
            <a:extLst>
              <a:ext uri="{FF2B5EF4-FFF2-40B4-BE49-F238E27FC236}">
                <a16:creationId xmlns:a16="http://schemas.microsoft.com/office/drawing/2014/main" id="{C6130685-1F6F-0829-036B-25763B78A0E6}"/>
              </a:ext>
            </a:extLst>
          </p:cNvPr>
          <p:cNvSpPr txBox="1">
            <a:spLocks/>
          </p:cNvSpPr>
          <p:nvPr/>
        </p:nvSpPr>
        <p:spPr>
          <a:xfrm>
            <a:off x="5936383" y="2448614"/>
            <a:ext cx="19224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Scoping Down</a:t>
            </a:r>
          </a:p>
        </p:txBody>
      </p:sp>
      <p:sp>
        <p:nvSpPr>
          <p:cNvPr id="20" name="Google Shape;206;p31">
            <a:extLst>
              <a:ext uri="{FF2B5EF4-FFF2-40B4-BE49-F238E27FC236}">
                <a16:creationId xmlns:a16="http://schemas.microsoft.com/office/drawing/2014/main" id="{28D1C059-9CF8-0CC8-8979-AADE9F492518}"/>
              </a:ext>
            </a:extLst>
          </p:cNvPr>
          <p:cNvSpPr txBox="1">
            <a:spLocks/>
          </p:cNvSpPr>
          <p:nvPr/>
        </p:nvSpPr>
        <p:spPr>
          <a:xfrm>
            <a:off x="5936383" y="3069002"/>
            <a:ext cx="19224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How I Execute</a:t>
            </a:r>
          </a:p>
        </p:txBody>
      </p:sp>
      <p:sp>
        <p:nvSpPr>
          <p:cNvPr id="21" name="Google Shape;207;p31">
            <a:extLst>
              <a:ext uri="{FF2B5EF4-FFF2-40B4-BE49-F238E27FC236}">
                <a16:creationId xmlns:a16="http://schemas.microsoft.com/office/drawing/2014/main" id="{837C0307-D699-9836-0643-FD780FC95974}"/>
              </a:ext>
            </a:extLst>
          </p:cNvPr>
          <p:cNvSpPr txBox="1">
            <a:spLocks/>
          </p:cNvSpPr>
          <p:nvPr/>
        </p:nvSpPr>
        <p:spPr>
          <a:xfrm>
            <a:off x="5936383" y="3689390"/>
            <a:ext cx="233454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What I Contribute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/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/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34" name="Google Shape;234;p33"/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237" name="Google Shape;237;p3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DDD32-AD0A-7AA3-CD17-DE7532F98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4EB6188C-09A4-1AAE-49AC-058226BCFDA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Public Transport Reliability &amp; Demand Dynamics</a:t>
            </a:r>
            <a:endParaRPr lang="en-MY" sz="2400" dirty="0">
              <a:effectLst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A4396C3-5827-87F5-BF12-9FCD3BCF13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8530212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06137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44965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393903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Ibrahim et al.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Investigate service quality factors influencing user satisfaction with LRT in Klang Valley.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Factor analysis, correlation, and Artificial Neural Network (ANN).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417 LRT riders in Klang Valley,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Uses ANN for non-linear modeling; local Malaysian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satisfaction/perceptions, not operational ridership management.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Mee &amp; Subramaniam (2022)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Examine willingness to use public transport in KL and Manila.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Purposive sampling survey; PLS-SEM analysis.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209 respondents from KL and Manila.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Comparative city analysis; identifies key behavioral drivers.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Small sample size; focus on "willingness" rather than actual ridership data.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Rezapour &amp; Ferraro (2021)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rail delays and real-time info accuracy on passenger psychology.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Factor Analysis and SEM.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396 KTM rail passengers at Serdang station,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Links psychological impact to information systems; local KTM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Subjective measures; does not propose operational management strategies.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Ubaidillah &amp; Syafiq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bus service quality on satisfaction in a developing city.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SERVQUAL model; PLS-SEM analysis.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i-FI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300 bus users in Kota Samarahan, Sarawak, Malaysia.</a:t>
                      </a:r>
                      <a:endParaRPr lang="fi-FI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a developing city context with high car ownership.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Relies on self-reported data; no integration of actual ridership metrics.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9947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7A11A-8C32-803A-3DA6-C9F7F5761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64421460-70F2-018C-D173-F46CBFE8693B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Transit Data Ecosystems &amp; Anomalies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CA9C044-BF3F-01E0-7A7B-C1E9E3937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4754447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Keller et al. (2022)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Potential of data science for sustainable public transport.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and expert interviews.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Global/Germany; Multi-source big data (AFC, APC, GPS).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of data sources and use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Generic framework; lacks specific application to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Liu et al.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of vehicle trajectory data processing and analytics.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of collection and processing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(China, US, SE Asia); Taxi, bus, and truck trajectories.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dive into trajectory collection and privacy-preserving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no direct implementation for Malaysian transit.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Lu et al. (2020)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big data applications in urban transit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 of 95 global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multi-source transit data (AFC, AVL, APC, GTFS).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Synthesizes heterogeneous data sources and their management roles.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Does not provide an empirical model or Malaysian case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Tu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transit data sources and their complementarity.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review; Information management framework.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AVL, AFC, APC, and exogenous data (weather).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Highlights the value of data fusion (e.g., weather + transit).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Conceptual; no direct implementation or Malaysian validation.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8399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E8487-F6CD-C19F-94F5-9BBDFE5EB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A5E609C6-3300-3F89-CA69-0E099E0A2947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Evolution from Traditional to DL Models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AEDF82-CEE4-DEFA-7066-5E7231F81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640189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Jiang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benchmark of deep learning for traffic prediction.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comparative experiments.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public traffic datasets (METR-LA, PEMS-BAY).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and experimental benchmarking.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direct application to public transit ridership or Malaysia.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Sangeetha &amp; Kiros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GeoTemporal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LSTM for predictive modeling of urban mobility.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GT-LSTM combining Attention and LSTM.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NYC Taxi, GTFS, and OSM data.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fusion of spatial and temporal features with attention.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 complexity; tested only on NYC data; not Malaysian-specific.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Real-time train delay prediction using deep learning.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LSTM encoder-decoder with spatiotemporal features.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Belgian railway network; 3M+ signal passings/month.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Large-scale real-world operationalization; captures network complexity.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Belgium-specific; focus on delays rather than ridership volume.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Yin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learning on traffic prediction: Methods and analysis.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taxonomy of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traffic datasets; Road network topology.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Thorough analysis of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spatio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-temporal dependency modeling.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lacks specific transit ridership management focus.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24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7B231-A43F-5667-E61C-8E767B009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74F1FE66-CAD7-332D-E8F7-08ABF3843BF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AI-Driven Operational Strategies &amp; Sustainability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AD7E1E-F6C9-44D1-268A-9CAA0388B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3181791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304693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82390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494262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Gheorghe &amp;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Șoica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AI, IoT, and predictive analytics in traffic control.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literature review (2020-2024).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Smart city traffic management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empirical validation or data from Malaysia’s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Jevinger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&amp; Persson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AI for improving public transport: A mapping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mapping study of 111 primary studies.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Bus, train, and multimodal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Lacks localized solutions or models for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Real-time train delay prediction comparing rule-based vs.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Customized LSTM encoder-decoder deep learning model.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Real-world network-wide Belgian railway data (Infrabel).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Demonstrates that DL superiority increases with system complexity; implemented as a real-world Proof of Concept.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High dependency on real-time data quality and lacks the transparency of rule-based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Son &amp; Kim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Leveraging advanced technologies for transportation planning.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using Sentence-BERT NLP.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(Urban, Rural, and Simulated contexts).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use of NLP for semantic analysis of research trends.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primary data or application to Malaysia's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3128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BF76D61-E5E8-4BB3-5B68-DD658B9C7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E7CC56C2-EAFD-FF04-4B9F-3876775CF4FF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AD2D845D-9D3B-B6FE-73C0-27EE225BD643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A33BC17-2E89-C446-52CD-934C04E1EB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E7C96BFC-AC81-7846-7523-C7C35B9E89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45093C3A-D432-BF6A-FC11-530A3F1437AF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913881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3" name="Google Shape;393;p3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5157"/>
          <a:stretch/>
        </p:blipFill>
        <p:spPr>
          <a:xfrm>
            <a:off x="7605374" y="-75"/>
            <a:ext cx="1538625" cy="5143502"/>
          </a:xfrm>
          <a:prstGeom prst="rect">
            <a:avLst/>
          </a:prstGeom>
        </p:spPr>
      </p:pic>
      <p:sp>
        <p:nvSpPr>
          <p:cNvPr id="394" name="Google Shape;394;p38"/>
          <p:cNvSpPr/>
          <p:nvPr/>
        </p:nvSpPr>
        <p:spPr>
          <a:xfrm>
            <a:off x="7153350" y="-3675"/>
            <a:ext cx="8712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38"/>
          <p:cNvSpPr txBox="1">
            <a:spLocks noGrp="1"/>
          </p:cNvSpPr>
          <p:nvPr>
            <p:ph type="title"/>
          </p:nvPr>
        </p:nvSpPr>
        <p:spPr>
          <a:xfrm>
            <a:off x="160961" y="2315768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Inadequate Quantification and Mitigation of Extreme Anomaly Bias</a:t>
            </a:r>
            <a:endParaRPr sz="2400" dirty="0"/>
          </a:p>
        </p:txBody>
      </p:sp>
      <p:sp>
        <p:nvSpPr>
          <p:cNvPr id="397" name="Google Shape;397;p38"/>
          <p:cNvSpPr txBox="1">
            <a:spLocks noGrp="1"/>
          </p:cNvSpPr>
          <p:nvPr>
            <p:ph type="title" idx="3"/>
          </p:nvPr>
        </p:nvSpPr>
        <p:spPr>
          <a:xfrm>
            <a:off x="160962" y="1109152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Limited Integration of Multi-scale Spatio-temporal Features in Malaysia</a:t>
            </a:r>
            <a:endParaRPr sz="2400" dirty="0"/>
          </a:p>
        </p:txBody>
      </p:sp>
      <p:sp>
        <p:nvSpPr>
          <p:cNvPr id="399" name="Google Shape;399;p38"/>
          <p:cNvSpPr txBox="1">
            <a:spLocks noGrp="1"/>
          </p:cNvSpPr>
          <p:nvPr>
            <p:ph type="title" idx="5"/>
          </p:nvPr>
        </p:nvSpPr>
        <p:spPr>
          <a:xfrm>
            <a:off x="160962" y="3220349"/>
            <a:ext cx="7294914" cy="146329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Lack of Comprehensive Benchmarking Across SOTA Architectures</a:t>
            </a:r>
            <a:endParaRPr sz="2400" dirty="0"/>
          </a:p>
        </p:txBody>
      </p:sp>
      <p:cxnSp>
        <p:nvCxnSpPr>
          <p:cNvPr id="402" name="Google Shape;402;p38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2" name="Google Shape;398;p38">
            <a:extLst>
              <a:ext uri="{FF2B5EF4-FFF2-40B4-BE49-F238E27FC236}">
                <a16:creationId xmlns:a16="http://schemas.microsoft.com/office/drawing/2014/main" id="{D89A12E1-A961-D9F3-A95C-9321B279F791}"/>
              </a:ext>
            </a:extLst>
          </p:cNvPr>
          <p:cNvSpPr txBox="1">
            <a:spLocks/>
          </p:cNvSpPr>
          <p:nvPr/>
        </p:nvSpPr>
        <p:spPr>
          <a:xfrm>
            <a:off x="160962" y="459855"/>
            <a:ext cx="4923994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n-US" dirty="0"/>
              <a:t>Research Gaps are identified as below: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3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8125" r="46517"/>
          <a:stretch/>
        </p:blipFill>
        <p:spPr>
          <a:xfrm>
            <a:off x="1825" y="0"/>
            <a:ext cx="2727999" cy="5143500"/>
          </a:xfrm>
          <a:prstGeom prst="rect">
            <a:avLst/>
          </a:prstGeom>
        </p:spPr>
      </p:pic>
      <p:sp>
        <p:nvSpPr>
          <p:cNvPr id="409" name="Google Shape;409;p39"/>
          <p:cNvSpPr/>
          <p:nvPr/>
        </p:nvSpPr>
        <p:spPr>
          <a:xfrm flipH="1">
            <a:off x="1891651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39"/>
          <p:cNvSpPr txBox="1">
            <a:spLocks noGrp="1"/>
          </p:cNvSpPr>
          <p:nvPr>
            <p:ph type="subTitle" idx="1"/>
          </p:nvPr>
        </p:nvSpPr>
        <p:spPr>
          <a:xfrm>
            <a:off x="2651766" y="1046249"/>
            <a:ext cx="6234325" cy="37747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bg2"/>
                </a:solidFill>
              </a:rPr>
              <a:t>Malaysia’s transit management faces a critical bottleneck in accurately forecasting daily ridership due to complex, interrelated spatial and temporal factors.</a:t>
            </a: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8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bg2"/>
                </a:solidFill>
              </a:rPr>
              <a:t>Historical transit data in Malaysia are distorted by extreme anomalies that will introduce predictive bias and masks normal urban mobility patterns.</a:t>
            </a: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8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bg2"/>
                </a:solidFill>
              </a:rPr>
              <a:t>Lack of a robust, reliable forecasting model that can absorb the noisy data and focus on normal trends.</a:t>
            </a:r>
          </a:p>
        </p:txBody>
      </p:sp>
      <p:cxnSp>
        <p:nvCxnSpPr>
          <p:cNvPr id="413" name="Google Shape;413;p39"/>
          <p:cNvCxnSpPr/>
          <p:nvPr/>
        </p:nvCxnSpPr>
        <p:spPr>
          <a:xfrm>
            <a:off x="-6600" y="4652007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p39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4" name="Google Shape;222;p32">
            <a:extLst>
              <a:ext uri="{FF2B5EF4-FFF2-40B4-BE49-F238E27FC236}">
                <a16:creationId xmlns:a16="http://schemas.microsoft.com/office/drawing/2014/main" id="{11BAEF56-80B0-FCB6-0E7E-C279E5956B07}"/>
              </a:ext>
            </a:extLst>
          </p:cNvPr>
          <p:cNvSpPr txBox="1">
            <a:spLocks/>
          </p:cNvSpPr>
          <p:nvPr/>
        </p:nvSpPr>
        <p:spPr>
          <a:xfrm>
            <a:off x="2631234" y="402349"/>
            <a:ext cx="6055566" cy="643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Montserrat ExtraBold"/>
              <a:buNone/>
              <a:defRPr sz="6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MY" sz="2800" dirty="0">
                <a:solidFill>
                  <a:schemeClr val="tx1"/>
                </a:solidFill>
              </a:rPr>
              <a:t>Research Problem Statement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EFA97DD8-7106-3F45-2761-50817E9D1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3E611C2D-7A6B-F41C-8EFC-24F87963621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57C866FB-B745-CB21-BCEC-1538E9D6C8F8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803784DA-3194-92A6-A6FF-48DF869A40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Questioning Objectives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5BD7FF6-3A96-D872-DEC1-05E7554084C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603B5CB3-7E34-F225-A35C-A7542BF58D7E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445645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427A7-68DE-E377-B333-1371EEFB3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E8DF0E67-2D4D-E3EF-2A95-942009BF8B82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Questions &amp; Objectives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7AD2893-0250-CE36-D3C9-2942FC5A5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2716856"/>
              </p:ext>
            </p:extLst>
          </p:nvPr>
        </p:nvGraphicFramePr>
        <p:xfrm>
          <a:off x="339969" y="758286"/>
          <a:ext cx="8487508" cy="425222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3446585">
                  <a:extLst>
                    <a:ext uri="{9D8B030D-6E8A-4147-A177-3AD203B41FA5}">
                      <a16:colId xmlns:a16="http://schemas.microsoft.com/office/drawing/2014/main" val="3127640260"/>
                    </a:ext>
                  </a:extLst>
                </a:gridCol>
                <a:gridCol w="5040923">
                  <a:extLst>
                    <a:ext uri="{9D8B030D-6E8A-4147-A177-3AD203B41FA5}">
                      <a16:colId xmlns:a16="http://schemas.microsoft.com/office/drawing/2014/main" val="2943163694"/>
                    </a:ext>
                  </a:extLst>
                </a:gridCol>
              </a:tblGrid>
              <a:tr h="362469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Questions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Objectives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782053"/>
                  </a:ext>
                </a:extLst>
              </a:tr>
              <a:tr h="9816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What are the primary spatial and temporal factors (e.g. weather, POIs, population density) that heavily affect public transit ridership trends in Malaysia?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identify and categorize the primary spatial and temporal factors affecting Malaysian public transit ridership through a systematic analysis of historical performance data.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806481"/>
                  </a:ext>
                </a:extLst>
              </a:tr>
              <a:tr h="12109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accurately and consistently can existing DL architectures (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-temporal, graph-based, and attention-based) compare against each other and proposed model in predicting Malaysia’s public transit ridership?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develop and propose Hybrid Multi-scale Temporal Spatio-Feature (HMT-TSF) Forecaster that integrates Malaysia’s spatial and temporal data to estimate future ridership trends with a combined accuracy of 75% with R</a:t>
                      </a:r>
                      <a:r>
                        <a:rPr lang="en-MY" sz="1200" b="0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 of 0.7.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6945317"/>
                  </a:ext>
                </a:extLst>
              </a:tr>
              <a:tr h="77587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does the inclusion of extreme data anomalies, specifically the Malaysia’s MCO period, impact the predictive accuracy and bias of existing DL models and proposed model?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benchmark the proposed model against existing baseline, 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-temporal-based, graph-based and attention-based models using combined MAE, RMSE, MAPE, and R</a:t>
                      </a:r>
                      <a:r>
                        <a:rPr lang="en-MY" sz="1200" b="0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446140"/>
                  </a:ext>
                </a:extLst>
              </a:tr>
              <a:tr h="775878">
                <a:tc vMerge="1">
                  <a:txBody>
                    <a:bodyPr/>
                    <a:lstStyle/>
                    <a:p>
                      <a:endParaRPr lang="en-MY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evaluate and compare model performance across two distinct dataset segmentations (with and without MCO period) to determine the impact of extreme outlier data on predictive bias.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437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1757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151A376-D63F-CA8D-A466-27CC6F68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C0339EB3-C292-1AE5-0FE8-4309EF177F5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C68A22D6-F86A-7B56-2F49-7452B645EB59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E793C7F4-DD87-B129-096C-8625038324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Scoping Down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338573FC-F014-AE55-E4E1-B8865D9A89E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F0FBAB7F-B8AF-F371-F278-EE7B738AAA1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78668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6"/>
          <p:cNvSpPr txBox="1">
            <a:spLocks noGrp="1"/>
          </p:cNvSpPr>
          <p:nvPr>
            <p:ph type="subTitle" idx="6"/>
          </p:nvPr>
        </p:nvSpPr>
        <p:spPr>
          <a:xfrm>
            <a:off x="773220" y="29477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Geographical Focus</a:t>
            </a:r>
            <a:endParaRPr dirty="0"/>
          </a:p>
        </p:txBody>
      </p:sp>
      <p:sp>
        <p:nvSpPr>
          <p:cNvPr id="295" name="Google Shape;295;p36"/>
          <p:cNvSpPr txBox="1">
            <a:spLocks noGrp="1"/>
          </p:cNvSpPr>
          <p:nvPr>
            <p:ph type="subTitle" idx="1"/>
          </p:nvPr>
        </p:nvSpPr>
        <p:spPr>
          <a:xfrm>
            <a:off x="3847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Baseline LSTM, 4 spatio-temporal models, 5 graph models, and 4 attention models.</a:t>
            </a:r>
            <a:endParaRPr sz="1400" dirty="0"/>
          </a:p>
        </p:txBody>
      </p:sp>
      <p:sp>
        <p:nvSpPr>
          <p:cNvPr id="296" name="Google Shape;296;p36"/>
          <p:cNvSpPr txBox="1">
            <a:spLocks noGrp="1"/>
          </p:cNvSpPr>
          <p:nvPr>
            <p:ph type="subTitle" idx="2"/>
          </p:nvPr>
        </p:nvSpPr>
        <p:spPr>
          <a:xfrm>
            <a:off x="43338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" sz="1400" dirty="0"/>
              <a:t>Combined MAE, RMSE, and MAPE as overall accuracy metrics &amp; </a:t>
            </a:r>
            <a:r>
              <a:rPr lang="en-MY" sz="1400" dirty="0"/>
              <a:t>R</a:t>
            </a:r>
            <a:r>
              <a:rPr lang="en-MY" sz="1400" baseline="30000" dirty="0"/>
              <a:t>2</a:t>
            </a:r>
            <a:endParaRPr sz="1400" dirty="0"/>
          </a:p>
        </p:txBody>
      </p:sp>
      <p:sp>
        <p:nvSpPr>
          <p:cNvPr id="297" name="Google Shape;297;p36"/>
          <p:cNvSpPr txBox="1">
            <a:spLocks noGrp="1"/>
          </p:cNvSpPr>
          <p:nvPr>
            <p:ph type="subTitle" idx="3"/>
          </p:nvPr>
        </p:nvSpPr>
        <p:spPr>
          <a:xfrm>
            <a:off x="384720" y="33187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Bus, urban rail, commuter transit networks with available data throughout whole Malaysia.</a:t>
            </a:r>
            <a:endParaRPr sz="1400" dirty="0"/>
          </a:p>
        </p:txBody>
      </p:sp>
      <p:sp>
        <p:nvSpPr>
          <p:cNvPr id="298" name="Google Shape;298;p36"/>
          <p:cNvSpPr txBox="1">
            <a:spLocks noGrp="1"/>
          </p:cNvSpPr>
          <p:nvPr>
            <p:ph type="subTitle" idx="4"/>
          </p:nvPr>
        </p:nvSpPr>
        <p:spPr>
          <a:xfrm>
            <a:off x="4340720" y="3318775"/>
            <a:ext cx="434932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Without MCO segment: </a:t>
            </a:r>
            <a:r>
              <a:rPr lang="en" sz="1400" dirty="0"/>
              <a:t>1 Jan 2022 – 31 Dec 2025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 MCO segment: </a:t>
            </a:r>
            <a:r>
              <a:rPr lang="en" sz="1400" dirty="0"/>
              <a:t>1 Jan 2019 – 31 Dec 2025</a:t>
            </a:r>
            <a:endParaRPr sz="1400" dirty="0"/>
          </a:p>
        </p:txBody>
      </p:sp>
      <p:sp>
        <p:nvSpPr>
          <p:cNvPr id="299" name="Google Shape;299;p36"/>
          <p:cNvSpPr txBox="1">
            <a:spLocks noGrp="1"/>
          </p:cNvSpPr>
          <p:nvPr>
            <p:ph type="subTitle" idx="5"/>
          </p:nvPr>
        </p:nvSpPr>
        <p:spPr>
          <a:xfrm>
            <a:off x="77322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Models Compared</a:t>
            </a:r>
            <a:endParaRPr dirty="0"/>
          </a:p>
        </p:txBody>
      </p:sp>
      <p:sp>
        <p:nvSpPr>
          <p:cNvPr id="300" name="Google Shape;300;p36"/>
          <p:cNvSpPr txBox="1">
            <a:spLocks noGrp="1"/>
          </p:cNvSpPr>
          <p:nvPr>
            <p:ph type="subTitle" idx="7"/>
          </p:nvPr>
        </p:nvSpPr>
        <p:spPr>
          <a:xfrm>
            <a:off x="472227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Evaluation Metrics</a:t>
            </a:r>
            <a:endParaRPr dirty="0"/>
          </a:p>
        </p:txBody>
      </p:sp>
      <p:sp>
        <p:nvSpPr>
          <p:cNvPr id="301" name="Google Shape;301;p36"/>
          <p:cNvSpPr txBox="1">
            <a:spLocks noGrp="1"/>
          </p:cNvSpPr>
          <p:nvPr>
            <p:ph type="subTitle" idx="8"/>
          </p:nvPr>
        </p:nvSpPr>
        <p:spPr>
          <a:xfrm>
            <a:off x="4722244" y="2947775"/>
            <a:ext cx="3574475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Period Segmentation</a:t>
            </a:r>
            <a:endParaRPr dirty="0"/>
          </a:p>
        </p:txBody>
      </p:sp>
      <p:grpSp>
        <p:nvGrpSpPr>
          <p:cNvPr id="302" name="Google Shape;302;p36"/>
          <p:cNvGrpSpPr/>
          <p:nvPr/>
        </p:nvGrpSpPr>
        <p:grpSpPr>
          <a:xfrm>
            <a:off x="4438025" y="1353835"/>
            <a:ext cx="222277" cy="222277"/>
            <a:chOff x="996025" y="1574025"/>
            <a:chExt cx="341125" cy="341125"/>
          </a:xfrm>
        </p:grpSpPr>
        <p:sp>
          <p:nvSpPr>
            <p:cNvPr id="303" name="Google Shape;303;p36"/>
            <p:cNvSpPr/>
            <p:nvPr/>
          </p:nvSpPr>
          <p:spPr>
            <a:xfrm>
              <a:off x="1117625" y="1799650"/>
              <a:ext cx="38975" cy="115500"/>
            </a:xfrm>
            <a:custGeom>
              <a:avLst/>
              <a:gdLst/>
              <a:ahLst/>
              <a:cxnLst/>
              <a:rect l="l" t="t" r="r" b="b"/>
              <a:pathLst>
                <a:path w="1559" h="4620" extrusionOk="0">
                  <a:moveTo>
                    <a:pt x="1" y="0"/>
                  </a:moveTo>
                  <a:lnTo>
                    <a:pt x="765" y="4619"/>
                  </a:lnTo>
                  <a:lnTo>
                    <a:pt x="1558" y="4619"/>
                  </a:lnTo>
                  <a:lnTo>
                    <a:pt x="1558" y="156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6"/>
            <p:cNvSpPr/>
            <p:nvPr/>
          </p:nvSpPr>
          <p:spPr>
            <a:xfrm>
              <a:off x="1216675" y="1790425"/>
              <a:ext cx="49850" cy="124725"/>
            </a:xfrm>
            <a:custGeom>
              <a:avLst/>
              <a:gdLst/>
              <a:ahLst/>
              <a:cxnLst/>
              <a:rect l="l" t="t" r="r" b="b"/>
              <a:pathLst>
                <a:path w="1994" h="4989" extrusionOk="0">
                  <a:moveTo>
                    <a:pt x="829" y="0"/>
                  </a:moveTo>
                  <a:lnTo>
                    <a:pt x="0" y="4988"/>
                  </a:lnTo>
                  <a:lnTo>
                    <a:pt x="1994" y="4988"/>
                  </a:lnTo>
                  <a:lnTo>
                    <a:pt x="1994" y="229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6"/>
            <p:cNvSpPr/>
            <p:nvPr/>
          </p:nvSpPr>
          <p:spPr>
            <a:xfrm>
              <a:off x="1066675" y="1790425"/>
              <a:ext cx="49875" cy="124725"/>
            </a:xfrm>
            <a:custGeom>
              <a:avLst/>
              <a:gdLst/>
              <a:ahLst/>
              <a:cxnLst/>
              <a:rect l="l" t="t" r="r" b="b"/>
              <a:pathLst>
                <a:path w="1995" h="4989" extrusionOk="0">
                  <a:moveTo>
                    <a:pt x="1166" y="0"/>
                  </a:moveTo>
                  <a:lnTo>
                    <a:pt x="1" y="229"/>
                  </a:lnTo>
                  <a:lnTo>
                    <a:pt x="1" y="4988"/>
                  </a:lnTo>
                  <a:lnTo>
                    <a:pt x="1994" y="4988"/>
                  </a:lnTo>
                  <a:lnTo>
                    <a:pt x="116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36"/>
            <p:cNvSpPr/>
            <p:nvPr/>
          </p:nvSpPr>
          <p:spPr>
            <a:xfrm>
              <a:off x="1176575" y="1799650"/>
              <a:ext cx="39000" cy="115500"/>
            </a:xfrm>
            <a:custGeom>
              <a:avLst/>
              <a:gdLst/>
              <a:ahLst/>
              <a:cxnLst/>
              <a:rect l="l" t="t" r="r" b="b"/>
              <a:pathLst>
                <a:path w="1560" h="4620" extrusionOk="0">
                  <a:moveTo>
                    <a:pt x="1560" y="0"/>
                  </a:moveTo>
                  <a:lnTo>
                    <a:pt x="1" y="1560"/>
                  </a:lnTo>
                  <a:lnTo>
                    <a:pt x="1" y="4619"/>
                  </a:lnTo>
                  <a:lnTo>
                    <a:pt x="794" y="4619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36"/>
            <p:cNvSpPr/>
            <p:nvPr/>
          </p:nvSpPr>
          <p:spPr>
            <a:xfrm>
              <a:off x="1286525" y="1800050"/>
              <a:ext cx="50625" cy="115100"/>
            </a:xfrm>
            <a:custGeom>
              <a:avLst/>
              <a:gdLst/>
              <a:ahLst/>
              <a:cxnLst/>
              <a:rect l="l" t="t" r="r" b="b"/>
              <a:pathLst>
                <a:path w="2025" h="4604" extrusionOk="0">
                  <a:moveTo>
                    <a:pt x="0" y="1"/>
                  </a:moveTo>
                  <a:lnTo>
                    <a:pt x="0" y="4603"/>
                  </a:lnTo>
                  <a:lnTo>
                    <a:pt x="1626" y="4603"/>
                  </a:lnTo>
                  <a:cubicBezTo>
                    <a:pt x="1846" y="4603"/>
                    <a:pt x="2025" y="4425"/>
                    <a:pt x="2025" y="4203"/>
                  </a:cubicBezTo>
                  <a:lnTo>
                    <a:pt x="2025" y="1380"/>
                  </a:lnTo>
                  <a:cubicBezTo>
                    <a:pt x="2023" y="797"/>
                    <a:pt x="1604" y="297"/>
                    <a:pt x="1029" y="19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6"/>
            <p:cNvSpPr/>
            <p:nvPr/>
          </p:nvSpPr>
          <p:spPr>
            <a:xfrm>
              <a:off x="996025" y="1800050"/>
              <a:ext cx="50675" cy="115100"/>
            </a:xfrm>
            <a:custGeom>
              <a:avLst/>
              <a:gdLst/>
              <a:ahLst/>
              <a:cxnLst/>
              <a:rect l="l" t="t" r="r" b="b"/>
              <a:pathLst>
                <a:path w="2027" h="4604" extrusionOk="0">
                  <a:moveTo>
                    <a:pt x="2026" y="1"/>
                  </a:moveTo>
                  <a:lnTo>
                    <a:pt x="990" y="199"/>
                  </a:lnTo>
                  <a:cubicBezTo>
                    <a:pt x="417" y="300"/>
                    <a:pt x="1" y="798"/>
                    <a:pt x="1" y="1380"/>
                  </a:cubicBezTo>
                  <a:lnTo>
                    <a:pt x="1" y="4203"/>
                  </a:lnTo>
                  <a:cubicBezTo>
                    <a:pt x="1" y="4425"/>
                    <a:pt x="179" y="4603"/>
                    <a:pt x="401" y="4603"/>
                  </a:cubicBezTo>
                  <a:lnTo>
                    <a:pt x="2026" y="4603"/>
                  </a:lnTo>
                  <a:lnTo>
                    <a:pt x="202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36"/>
            <p:cNvSpPr/>
            <p:nvPr/>
          </p:nvSpPr>
          <p:spPr>
            <a:xfrm>
              <a:off x="1126625" y="1773450"/>
              <a:ext cx="79950" cy="46975"/>
            </a:xfrm>
            <a:custGeom>
              <a:avLst/>
              <a:gdLst/>
              <a:ahLst/>
              <a:cxnLst/>
              <a:rect l="l" t="t" r="r" b="b"/>
              <a:pathLst>
                <a:path w="3198" h="1879" extrusionOk="0">
                  <a:moveTo>
                    <a:pt x="1" y="0"/>
                  </a:moveTo>
                  <a:lnTo>
                    <a:pt x="1" y="279"/>
                  </a:lnTo>
                  <a:lnTo>
                    <a:pt x="1599" y="1878"/>
                  </a:lnTo>
                  <a:lnTo>
                    <a:pt x="3198" y="279"/>
                  </a:lnTo>
                  <a:lnTo>
                    <a:pt x="3198" y="0"/>
                  </a:lnTo>
                  <a:cubicBezTo>
                    <a:pt x="2725" y="275"/>
                    <a:pt x="2185" y="444"/>
                    <a:pt x="1599" y="444"/>
                  </a:cubicBezTo>
                  <a:cubicBezTo>
                    <a:pt x="1014" y="444"/>
                    <a:pt x="473" y="275"/>
                    <a:pt x="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36"/>
            <p:cNvSpPr/>
            <p:nvPr/>
          </p:nvSpPr>
          <p:spPr>
            <a:xfrm>
              <a:off x="1106625" y="1658550"/>
              <a:ext cx="119975" cy="106025"/>
            </a:xfrm>
            <a:custGeom>
              <a:avLst/>
              <a:gdLst/>
              <a:ahLst/>
              <a:cxnLst/>
              <a:rect l="l" t="t" r="r" b="b"/>
              <a:pathLst>
                <a:path w="4799" h="4241" extrusionOk="0">
                  <a:moveTo>
                    <a:pt x="0" y="1"/>
                  </a:moveTo>
                  <a:lnTo>
                    <a:pt x="0" y="1842"/>
                  </a:lnTo>
                  <a:cubicBezTo>
                    <a:pt x="0" y="3167"/>
                    <a:pt x="1074" y="4240"/>
                    <a:pt x="2399" y="4240"/>
                  </a:cubicBezTo>
                  <a:cubicBezTo>
                    <a:pt x="3723" y="4240"/>
                    <a:pt x="4798" y="3167"/>
                    <a:pt x="4798" y="1842"/>
                  </a:cubicBezTo>
                  <a:lnTo>
                    <a:pt x="4798" y="1"/>
                  </a:lnTo>
                  <a:cubicBezTo>
                    <a:pt x="4359" y="397"/>
                    <a:pt x="3790" y="617"/>
                    <a:pt x="3199" y="617"/>
                  </a:cubicBezTo>
                  <a:lnTo>
                    <a:pt x="1600" y="617"/>
                  </a:lnTo>
                  <a:cubicBezTo>
                    <a:pt x="1009" y="617"/>
                    <a:pt x="439" y="397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6"/>
            <p:cNvSpPr/>
            <p:nvPr/>
          </p:nvSpPr>
          <p:spPr>
            <a:xfrm>
              <a:off x="1090525" y="1574025"/>
              <a:ext cx="152150" cy="30000"/>
            </a:xfrm>
            <a:custGeom>
              <a:avLst/>
              <a:gdLst/>
              <a:ahLst/>
              <a:cxnLst/>
              <a:rect l="l" t="t" r="r" b="b"/>
              <a:pathLst>
                <a:path w="6086" h="1200" extrusionOk="0">
                  <a:moveTo>
                    <a:pt x="491" y="0"/>
                  </a:moveTo>
                  <a:cubicBezTo>
                    <a:pt x="194" y="0"/>
                    <a:pt x="1" y="313"/>
                    <a:pt x="134" y="579"/>
                  </a:cubicBezTo>
                  <a:lnTo>
                    <a:pt x="445" y="1199"/>
                  </a:lnTo>
                  <a:lnTo>
                    <a:pt x="5641" y="1199"/>
                  </a:lnTo>
                  <a:lnTo>
                    <a:pt x="5951" y="579"/>
                  </a:lnTo>
                  <a:cubicBezTo>
                    <a:pt x="6086" y="313"/>
                    <a:pt x="5891" y="0"/>
                    <a:pt x="55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36"/>
            <p:cNvSpPr/>
            <p:nvPr/>
          </p:nvSpPr>
          <p:spPr>
            <a:xfrm>
              <a:off x="1108025" y="1623975"/>
              <a:ext cx="117125" cy="30025"/>
            </a:xfrm>
            <a:custGeom>
              <a:avLst/>
              <a:gdLst/>
              <a:ahLst/>
              <a:cxnLst/>
              <a:rect l="l" t="t" r="r" b="b"/>
              <a:pathLst>
                <a:path w="4685" h="1201" extrusionOk="0">
                  <a:moveTo>
                    <a:pt x="1" y="0"/>
                  </a:moveTo>
                  <a:cubicBezTo>
                    <a:pt x="179" y="688"/>
                    <a:pt x="801" y="1201"/>
                    <a:pt x="1544" y="1201"/>
                  </a:cubicBezTo>
                  <a:lnTo>
                    <a:pt x="3143" y="1201"/>
                  </a:lnTo>
                  <a:cubicBezTo>
                    <a:pt x="3886" y="1201"/>
                    <a:pt x="4506" y="688"/>
                    <a:pt x="46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3" name="Google Shape;313;p36"/>
          <p:cNvGrpSpPr/>
          <p:nvPr/>
        </p:nvGrpSpPr>
        <p:grpSpPr>
          <a:xfrm>
            <a:off x="4437998" y="3063293"/>
            <a:ext cx="164772" cy="252876"/>
            <a:chOff x="1062925" y="2118150"/>
            <a:chExt cx="222275" cy="341125"/>
          </a:xfrm>
        </p:grpSpPr>
        <p:sp>
          <p:nvSpPr>
            <p:cNvPr id="314" name="Google Shape;314;p36"/>
            <p:cNvSpPr/>
            <p:nvPr/>
          </p:nvSpPr>
          <p:spPr>
            <a:xfrm>
              <a:off x="1062925" y="2118150"/>
              <a:ext cx="221950" cy="104100"/>
            </a:xfrm>
            <a:custGeom>
              <a:avLst/>
              <a:gdLst/>
              <a:ahLst/>
              <a:cxnLst/>
              <a:rect l="l" t="t" r="r" b="b"/>
              <a:pathLst>
                <a:path w="8878" h="4164" extrusionOk="0">
                  <a:moveTo>
                    <a:pt x="6193" y="799"/>
                  </a:moveTo>
                  <a:lnTo>
                    <a:pt x="5793" y="1600"/>
                  </a:lnTo>
                  <a:lnTo>
                    <a:pt x="3089" y="1600"/>
                  </a:lnTo>
                  <a:lnTo>
                    <a:pt x="2689" y="799"/>
                  </a:lnTo>
                  <a:close/>
                  <a:moveTo>
                    <a:pt x="1243" y="1"/>
                  </a:moveTo>
                  <a:cubicBezTo>
                    <a:pt x="1137" y="1"/>
                    <a:pt x="1035" y="42"/>
                    <a:pt x="960" y="117"/>
                  </a:cubicBezTo>
                  <a:lnTo>
                    <a:pt x="161" y="918"/>
                  </a:lnTo>
                  <a:cubicBezTo>
                    <a:pt x="2" y="1073"/>
                    <a:pt x="0" y="1328"/>
                    <a:pt x="158" y="1486"/>
                  </a:cubicBezTo>
                  <a:cubicBezTo>
                    <a:pt x="236" y="1564"/>
                    <a:pt x="338" y="1603"/>
                    <a:pt x="440" y="1603"/>
                  </a:cubicBezTo>
                  <a:cubicBezTo>
                    <a:pt x="544" y="1603"/>
                    <a:pt x="648" y="1563"/>
                    <a:pt x="727" y="1483"/>
                  </a:cubicBezTo>
                  <a:lnTo>
                    <a:pt x="1409" y="799"/>
                  </a:lnTo>
                  <a:lnTo>
                    <a:pt x="1797" y="799"/>
                  </a:lnTo>
                  <a:lnTo>
                    <a:pt x="2233" y="1674"/>
                  </a:lnTo>
                  <a:cubicBezTo>
                    <a:pt x="1071" y="1935"/>
                    <a:pt x="186" y="2949"/>
                    <a:pt x="71" y="4163"/>
                  </a:cubicBezTo>
                  <a:lnTo>
                    <a:pt x="1865" y="3267"/>
                  </a:lnTo>
                  <a:cubicBezTo>
                    <a:pt x="1945" y="3237"/>
                    <a:pt x="1964" y="3224"/>
                    <a:pt x="2044" y="3224"/>
                  </a:cubicBezTo>
                  <a:lnTo>
                    <a:pt x="6841" y="3224"/>
                  </a:lnTo>
                  <a:cubicBezTo>
                    <a:pt x="6923" y="3224"/>
                    <a:pt x="6936" y="3237"/>
                    <a:pt x="7019" y="3267"/>
                  </a:cubicBezTo>
                  <a:lnTo>
                    <a:pt x="8813" y="4163"/>
                  </a:lnTo>
                  <a:cubicBezTo>
                    <a:pt x="8699" y="2949"/>
                    <a:pt x="7813" y="1935"/>
                    <a:pt x="6651" y="1674"/>
                  </a:cubicBezTo>
                  <a:lnTo>
                    <a:pt x="7088" y="799"/>
                  </a:lnTo>
                  <a:lnTo>
                    <a:pt x="7473" y="799"/>
                  </a:lnTo>
                  <a:lnTo>
                    <a:pt x="8157" y="1483"/>
                  </a:lnTo>
                  <a:cubicBezTo>
                    <a:pt x="8235" y="1561"/>
                    <a:pt x="8337" y="1601"/>
                    <a:pt x="8439" y="1601"/>
                  </a:cubicBezTo>
                  <a:cubicBezTo>
                    <a:pt x="8541" y="1601"/>
                    <a:pt x="8644" y="1561"/>
                    <a:pt x="8721" y="1483"/>
                  </a:cubicBezTo>
                  <a:cubicBezTo>
                    <a:pt x="8878" y="1327"/>
                    <a:pt x="8878" y="1074"/>
                    <a:pt x="8721" y="918"/>
                  </a:cubicBezTo>
                  <a:lnTo>
                    <a:pt x="7921" y="117"/>
                  </a:lnTo>
                  <a:cubicBezTo>
                    <a:pt x="7847" y="42"/>
                    <a:pt x="7745" y="1"/>
                    <a:pt x="76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6"/>
            <p:cNvSpPr/>
            <p:nvPr/>
          </p:nvSpPr>
          <p:spPr>
            <a:xfrm>
              <a:off x="1063075" y="2314875"/>
              <a:ext cx="222125" cy="144400"/>
            </a:xfrm>
            <a:custGeom>
              <a:avLst/>
              <a:gdLst/>
              <a:ahLst/>
              <a:cxnLst/>
              <a:rect l="l" t="t" r="r" b="b"/>
              <a:pathLst>
                <a:path w="8885" h="5776" extrusionOk="0">
                  <a:moveTo>
                    <a:pt x="2036" y="1752"/>
                  </a:moveTo>
                  <a:cubicBezTo>
                    <a:pt x="2394" y="1752"/>
                    <a:pt x="2571" y="2183"/>
                    <a:pt x="2320" y="2434"/>
                  </a:cubicBezTo>
                  <a:cubicBezTo>
                    <a:pt x="2238" y="2516"/>
                    <a:pt x="2138" y="2552"/>
                    <a:pt x="2040" y="2552"/>
                  </a:cubicBezTo>
                  <a:cubicBezTo>
                    <a:pt x="1834" y="2552"/>
                    <a:pt x="1638" y="2393"/>
                    <a:pt x="1638" y="2152"/>
                  </a:cubicBezTo>
                  <a:cubicBezTo>
                    <a:pt x="1638" y="1930"/>
                    <a:pt x="1816" y="1752"/>
                    <a:pt x="2036" y="1752"/>
                  </a:cubicBezTo>
                  <a:close/>
                  <a:moveTo>
                    <a:pt x="6834" y="1752"/>
                  </a:moveTo>
                  <a:cubicBezTo>
                    <a:pt x="7190" y="1752"/>
                    <a:pt x="7368" y="2181"/>
                    <a:pt x="7116" y="2434"/>
                  </a:cubicBezTo>
                  <a:cubicBezTo>
                    <a:pt x="7035" y="2516"/>
                    <a:pt x="6935" y="2552"/>
                    <a:pt x="6836" y="2552"/>
                  </a:cubicBezTo>
                  <a:cubicBezTo>
                    <a:pt x="6631" y="2552"/>
                    <a:pt x="6434" y="2393"/>
                    <a:pt x="6434" y="2152"/>
                  </a:cubicBezTo>
                  <a:cubicBezTo>
                    <a:pt x="6434" y="1930"/>
                    <a:pt x="6612" y="1752"/>
                    <a:pt x="6834" y="1752"/>
                  </a:cubicBezTo>
                  <a:close/>
                  <a:moveTo>
                    <a:pt x="40" y="1"/>
                  </a:moveTo>
                  <a:lnTo>
                    <a:pt x="40" y="2152"/>
                  </a:lnTo>
                  <a:cubicBezTo>
                    <a:pt x="40" y="2970"/>
                    <a:pt x="535" y="3699"/>
                    <a:pt x="1240" y="4008"/>
                  </a:cubicBezTo>
                  <a:lnTo>
                    <a:pt x="157" y="5093"/>
                  </a:lnTo>
                  <a:cubicBezTo>
                    <a:pt x="0" y="5250"/>
                    <a:pt x="0" y="5502"/>
                    <a:pt x="157" y="5659"/>
                  </a:cubicBezTo>
                  <a:cubicBezTo>
                    <a:pt x="235" y="5736"/>
                    <a:pt x="337" y="5775"/>
                    <a:pt x="439" y="5775"/>
                  </a:cubicBezTo>
                  <a:cubicBezTo>
                    <a:pt x="542" y="5775"/>
                    <a:pt x="644" y="5736"/>
                    <a:pt x="722" y="5659"/>
                  </a:cubicBezTo>
                  <a:lnTo>
                    <a:pt x="2203" y="4176"/>
                  </a:lnTo>
                  <a:lnTo>
                    <a:pt x="6670" y="4176"/>
                  </a:lnTo>
                  <a:lnTo>
                    <a:pt x="8144" y="5652"/>
                  </a:lnTo>
                  <a:cubicBezTo>
                    <a:pt x="8224" y="5731"/>
                    <a:pt x="8331" y="5774"/>
                    <a:pt x="8438" y="5774"/>
                  </a:cubicBezTo>
                  <a:cubicBezTo>
                    <a:pt x="8525" y="5774"/>
                    <a:pt x="8611" y="5746"/>
                    <a:pt x="8683" y="5688"/>
                  </a:cubicBezTo>
                  <a:cubicBezTo>
                    <a:pt x="8870" y="5539"/>
                    <a:pt x="8885" y="5262"/>
                    <a:pt x="8717" y="5092"/>
                  </a:cubicBezTo>
                  <a:lnTo>
                    <a:pt x="7631" y="4008"/>
                  </a:lnTo>
                  <a:cubicBezTo>
                    <a:pt x="8339" y="3699"/>
                    <a:pt x="8833" y="2968"/>
                    <a:pt x="8833" y="2150"/>
                  </a:cubicBezTo>
                  <a:lnTo>
                    <a:pt x="8833" y="1"/>
                  </a:lnTo>
                  <a:lnTo>
                    <a:pt x="7014" y="910"/>
                  </a:lnTo>
                  <a:cubicBezTo>
                    <a:pt x="6933" y="938"/>
                    <a:pt x="6915" y="953"/>
                    <a:pt x="6835" y="953"/>
                  </a:cubicBezTo>
                  <a:lnTo>
                    <a:pt x="2038" y="953"/>
                  </a:lnTo>
                  <a:cubicBezTo>
                    <a:pt x="1957" y="953"/>
                    <a:pt x="1943" y="940"/>
                    <a:pt x="1859" y="910"/>
                  </a:cubicBezTo>
                  <a:lnTo>
                    <a:pt x="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6"/>
            <p:cNvSpPr/>
            <p:nvPr/>
          </p:nvSpPr>
          <p:spPr>
            <a:xfrm>
              <a:off x="1243925" y="2224900"/>
              <a:ext cx="40000" cy="87625"/>
            </a:xfrm>
            <a:custGeom>
              <a:avLst/>
              <a:gdLst/>
              <a:ahLst/>
              <a:cxnLst/>
              <a:rect l="l" t="t" r="r" b="b"/>
              <a:pathLst>
                <a:path w="1600" h="3505" extrusionOk="0">
                  <a:moveTo>
                    <a:pt x="0" y="1"/>
                  </a:moveTo>
                  <a:lnTo>
                    <a:pt x="0" y="3505"/>
                  </a:lnTo>
                  <a:lnTo>
                    <a:pt x="1599" y="2705"/>
                  </a:lnTo>
                  <a:lnTo>
                    <a:pt x="1599" y="8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6"/>
            <p:cNvSpPr/>
            <p:nvPr/>
          </p:nvSpPr>
          <p:spPr>
            <a:xfrm>
              <a:off x="1124000" y="2218750"/>
              <a:ext cx="99975" cy="99950"/>
            </a:xfrm>
            <a:custGeom>
              <a:avLst/>
              <a:gdLst/>
              <a:ahLst/>
              <a:cxnLst/>
              <a:rect l="l" t="t" r="r" b="b"/>
              <a:pathLst>
                <a:path w="3999" h="3998" extrusionOk="0">
                  <a:moveTo>
                    <a:pt x="1" y="0"/>
                  </a:moveTo>
                  <a:lnTo>
                    <a:pt x="1" y="3998"/>
                  </a:lnTo>
                  <a:lnTo>
                    <a:pt x="3998" y="3998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6"/>
            <p:cNvSpPr/>
            <p:nvPr/>
          </p:nvSpPr>
          <p:spPr>
            <a:xfrm>
              <a:off x="1064050" y="2224900"/>
              <a:ext cx="40025" cy="87625"/>
            </a:xfrm>
            <a:custGeom>
              <a:avLst/>
              <a:gdLst/>
              <a:ahLst/>
              <a:cxnLst/>
              <a:rect l="l" t="t" r="r" b="b"/>
              <a:pathLst>
                <a:path w="1601" h="3505" extrusionOk="0">
                  <a:moveTo>
                    <a:pt x="1600" y="1"/>
                  </a:moveTo>
                  <a:lnTo>
                    <a:pt x="1" y="801"/>
                  </a:lnTo>
                  <a:lnTo>
                    <a:pt x="1" y="2705"/>
                  </a:lnTo>
                  <a:lnTo>
                    <a:pt x="1600" y="3505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9" name="Google Shape;319;p36"/>
          <p:cNvGrpSpPr/>
          <p:nvPr/>
        </p:nvGrpSpPr>
        <p:grpSpPr>
          <a:xfrm>
            <a:off x="480879" y="3063534"/>
            <a:ext cx="222284" cy="252398"/>
            <a:chOff x="257575" y="2681700"/>
            <a:chExt cx="300425" cy="341125"/>
          </a:xfrm>
        </p:grpSpPr>
        <p:sp>
          <p:nvSpPr>
            <p:cNvPr id="320" name="Google Shape;320;p36"/>
            <p:cNvSpPr/>
            <p:nvPr/>
          </p:nvSpPr>
          <p:spPr>
            <a:xfrm>
              <a:off x="257575" y="2681700"/>
              <a:ext cx="119950" cy="120625"/>
            </a:xfrm>
            <a:custGeom>
              <a:avLst/>
              <a:gdLst/>
              <a:ahLst/>
              <a:cxnLst/>
              <a:rect l="l" t="t" r="r" b="b"/>
              <a:pathLst>
                <a:path w="4798" h="4825" extrusionOk="0">
                  <a:moveTo>
                    <a:pt x="3199" y="1226"/>
                  </a:moveTo>
                  <a:cubicBezTo>
                    <a:pt x="3419" y="1226"/>
                    <a:pt x="3599" y="1405"/>
                    <a:pt x="3599" y="1626"/>
                  </a:cubicBezTo>
                  <a:lnTo>
                    <a:pt x="3599" y="3226"/>
                  </a:lnTo>
                  <a:cubicBezTo>
                    <a:pt x="3599" y="3446"/>
                    <a:pt x="3420" y="3626"/>
                    <a:pt x="3199" y="3626"/>
                  </a:cubicBezTo>
                  <a:lnTo>
                    <a:pt x="1599" y="3626"/>
                  </a:lnTo>
                  <a:cubicBezTo>
                    <a:pt x="1379" y="3626"/>
                    <a:pt x="1199" y="3446"/>
                    <a:pt x="1199" y="3226"/>
                  </a:cubicBezTo>
                  <a:lnTo>
                    <a:pt x="1199" y="1626"/>
                  </a:lnTo>
                  <a:cubicBezTo>
                    <a:pt x="1199" y="1405"/>
                    <a:pt x="1379" y="1226"/>
                    <a:pt x="1599" y="1226"/>
                  </a:cubicBezTo>
                  <a:close/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4825"/>
                  </a:lnTo>
                  <a:lnTo>
                    <a:pt x="4798" y="4825"/>
                  </a:lnTo>
                  <a:lnTo>
                    <a:pt x="4798" y="401"/>
                  </a:lnTo>
                  <a:cubicBezTo>
                    <a:pt x="4798" y="179"/>
                    <a:pt x="4619" y="1"/>
                    <a:pt x="4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6"/>
            <p:cNvSpPr/>
            <p:nvPr/>
          </p:nvSpPr>
          <p:spPr>
            <a:xfrm>
              <a:off x="307550" y="27323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799" y="7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6"/>
            <p:cNvSpPr/>
            <p:nvPr/>
          </p:nvSpPr>
          <p:spPr>
            <a:xfrm>
              <a:off x="257575" y="2822275"/>
              <a:ext cx="119950" cy="200550"/>
            </a:xfrm>
            <a:custGeom>
              <a:avLst/>
              <a:gdLst/>
              <a:ahLst/>
              <a:cxnLst/>
              <a:rect l="l" t="t" r="r" b="b"/>
              <a:pathLst>
                <a:path w="4798" h="8022" extrusionOk="0">
                  <a:moveTo>
                    <a:pt x="2398" y="2399"/>
                  </a:moveTo>
                  <a:cubicBezTo>
                    <a:pt x="2754" y="2399"/>
                    <a:pt x="2933" y="2830"/>
                    <a:pt x="2680" y="3081"/>
                  </a:cubicBezTo>
                  <a:cubicBezTo>
                    <a:pt x="2599" y="3162"/>
                    <a:pt x="2499" y="3199"/>
                    <a:pt x="2401" y="3199"/>
                  </a:cubicBezTo>
                  <a:cubicBezTo>
                    <a:pt x="2195" y="3199"/>
                    <a:pt x="1998" y="3039"/>
                    <a:pt x="1998" y="2799"/>
                  </a:cubicBezTo>
                  <a:cubicBezTo>
                    <a:pt x="1998" y="2577"/>
                    <a:pt x="2177" y="2399"/>
                    <a:pt x="2398" y="2399"/>
                  </a:cubicBezTo>
                  <a:close/>
                  <a:moveTo>
                    <a:pt x="1590" y="3998"/>
                  </a:moveTo>
                  <a:cubicBezTo>
                    <a:pt x="1592" y="3998"/>
                    <a:pt x="1595" y="3998"/>
                    <a:pt x="1598" y="3998"/>
                  </a:cubicBezTo>
                  <a:lnTo>
                    <a:pt x="3197" y="3998"/>
                  </a:lnTo>
                  <a:cubicBezTo>
                    <a:pt x="3414" y="4002"/>
                    <a:pt x="3588" y="4179"/>
                    <a:pt x="3588" y="4398"/>
                  </a:cubicBezTo>
                  <a:cubicBezTo>
                    <a:pt x="3588" y="4615"/>
                    <a:pt x="3414" y="4792"/>
                    <a:pt x="3197" y="4797"/>
                  </a:cubicBezTo>
                  <a:lnTo>
                    <a:pt x="1598" y="4797"/>
                  </a:lnTo>
                  <a:cubicBezTo>
                    <a:pt x="1594" y="4797"/>
                    <a:pt x="1591" y="4797"/>
                    <a:pt x="1587" y="4797"/>
                  </a:cubicBezTo>
                  <a:cubicBezTo>
                    <a:pt x="1368" y="4797"/>
                    <a:pt x="1190" y="4617"/>
                    <a:pt x="1190" y="4398"/>
                  </a:cubicBezTo>
                  <a:cubicBezTo>
                    <a:pt x="1190" y="4176"/>
                    <a:pt x="1369" y="3998"/>
                    <a:pt x="1590" y="3998"/>
                  </a:cubicBezTo>
                  <a:close/>
                  <a:moveTo>
                    <a:pt x="1590" y="5597"/>
                  </a:moveTo>
                  <a:cubicBezTo>
                    <a:pt x="1592" y="5597"/>
                    <a:pt x="1595" y="5597"/>
                    <a:pt x="1598" y="5597"/>
                  </a:cubicBezTo>
                  <a:lnTo>
                    <a:pt x="3197" y="5597"/>
                  </a:lnTo>
                  <a:cubicBezTo>
                    <a:pt x="3414" y="5601"/>
                    <a:pt x="3588" y="5779"/>
                    <a:pt x="3588" y="5997"/>
                  </a:cubicBezTo>
                  <a:cubicBezTo>
                    <a:pt x="3588" y="6214"/>
                    <a:pt x="3414" y="6391"/>
                    <a:pt x="3197" y="6396"/>
                  </a:cubicBezTo>
                  <a:lnTo>
                    <a:pt x="1598" y="6396"/>
                  </a:lnTo>
                  <a:cubicBezTo>
                    <a:pt x="1594" y="6396"/>
                    <a:pt x="1591" y="6396"/>
                    <a:pt x="1587" y="6396"/>
                  </a:cubicBezTo>
                  <a:cubicBezTo>
                    <a:pt x="1368" y="6396"/>
                    <a:pt x="1190" y="6217"/>
                    <a:pt x="1190" y="5997"/>
                  </a:cubicBezTo>
                  <a:cubicBezTo>
                    <a:pt x="1190" y="5775"/>
                    <a:pt x="1369" y="5597"/>
                    <a:pt x="1590" y="5597"/>
                  </a:cubicBezTo>
                  <a:close/>
                  <a:moveTo>
                    <a:pt x="0" y="1"/>
                  </a:moveTo>
                  <a:lnTo>
                    <a:pt x="0" y="7621"/>
                  </a:lnTo>
                  <a:cubicBezTo>
                    <a:pt x="0" y="7843"/>
                    <a:pt x="179" y="8022"/>
                    <a:pt x="400" y="8022"/>
                  </a:cubicBezTo>
                  <a:lnTo>
                    <a:pt x="4398" y="8022"/>
                  </a:lnTo>
                  <a:cubicBezTo>
                    <a:pt x="4619" y="8022"/>
                    <a:pt x="4798" y="7843"/>
                    <a:pt x="4798" y="7621"/>
                  </a:cubicBezTo>
                  <a:lnTo>
                    <a:pt x="47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6"/>
            <p:cNvSpPr/>
            <p:nvPr/>
          </p:nvSpPr>
          <p:spPr>
            <a:xfrm>
              <a:off x="397475" y="2743350"/>
              <a:ext cx="160525" cy="172000"/>
            </a:xfrm>
            <a:custGeom>
              <a:avLst/>
              <a:gdLst/>
              <a:ahLst/>
              <a:cxnLst/>
              <a:rect l="l" t="t" r="r" b="b"/>
              <a:pathLst>
                <a:path w="6421" h="6880" extrusionOk="0">
                  <a:moveTo>
                    <a:pt x="1" y="1"/>
                  </a:moveTo>
                  <a:lnTo>
                    <a:pt x="1" y="3917"/>
                  </a:lnTo>
                  <a:cubicBezTo>
                    <a:pt x="250" y="3863"/>
                    <a:pt x="488" y="3764"/>
                    <a:pt x="699" y="3621"/>
                  </a:cubicBezTo>
                  <a:lnTo>
                    <a:pt x="3841" y="6763"/>
                  </a:lnTo>
                  <a:cubicBezTo>
                    <a:pt x="3920" y="6841"/>
                    <a:pt x="4022" y="6880"/>
                    <a:pt x="4124" y="6880"/>
                  </a:cubicBezTo>
                  <a:cubicBezTo>
                    <a:pt x="4226" y="6880"/>
                    <a:pt x="4329" y="6841"/>
                    <a:pt x="4407" y="6763"/>
                  </a:cubicBezTo>
                  <a:cubicBezTo>
                    <a:pt x="4562" y="6607"/>
                    <a:pt x="4562" y="6354"/>
                    <a:pt x="4407" y="6198"/>
                  </a:cubicBezTo>
                  <a:lnTo>
                    <a:pt x="1263" y="3056"/>
                  </a:lnTo>
                  <a:cubicBezTo>
                    <a:pt x="1405" y="2843"/>
                    <a:pt x="1504" y="2607"/>
                    <a:pt x="1555" y="2359"/>
                  </a:cubicBezTo>
                  <a:lnTo>
                    <a:pt x="5985" y="2359"/>
                  </a:lnTo>
                  <a:cubicBezTo>
                    <a:pt x="6191" y="2359"/>
                    <a:pt x="6371" y="2208"/>
                    <a:pt x="6393" y="2003"/>
                  </a:cubicBezTo>
                  <a:cubicBezTo>
                    <a:pt x="6421" y="1767"/>
                    <a:pt x="6235" y="1558"/>
                    <a:pt x="5996" y="1558"/>
                  </a:cubicBezTo>
                  <a:lnTo>
                    <a:pt x="1555" y="1558"/>
                  </a:lnTo>
                  <a:cubicBezTo>
                    <a:pt x="1396" y="776"/>
                    <a:pt x="783" y="163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4" name="Google Shape;324;p36"/>
          <p:cNvGrpSpPr/>
          <p:nvPr/>
        </p:nvGrpSpPr>
        <p:grpSpPr>
          <a:xfrm>
            <a:off x="481116" y="1338533"/>
            <a:ext cx="222279" cy="252876"/>
            <a:chOff x="5553075" y="3245250"/>
            <a:chExt cx="299850" cy="341125"/>
          </a:xfrm>
        </p:grpSpPr>
        <p:sp>
          <p:nvSpPr>
            <p:cNvPr id="325" name="Google Shape;325;p36"/>
            <p:cNvSpPr/>
            <p:nvPr/>
          </p:nvSpPr>
          <p:spPr>
            <a:xfrm>
              <a:off x="560305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0" y="1"/>
                  </a:moveTo>
                  <a:lnTo>
                    <a:pt x="0" y="1599"/>
                  </a:lnTo>
                  <a:lnTo>
                    <a:pt x="799" y="15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36"/>
            <p:cNvSpPr/>
            <p:nvPr/>
          </p:nvSpPr>
          <p:spPr>
            <a:xfrm>
              <a:off x="560305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0" y="1"/>
                  </a:moveTo>
                  <a:lnTo>
                    <a:pt x="0" y="1600"/>
                  </a:lnTo>
                  <a:lnTo>
                    <a:pt x="799" y="1600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6"/>
            <p:cNvSpPr/>
            <p:nvPr/>
          </p:nvSpPr>
          <p:spPr>
            <a:xfrm>
              <a:off x="568300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1" y="1"/>
                  </a:moveTo>
                  <a:lnTo>
                    <a:pt x="1" y="1600"/>
                  </a:lnTo>
                  <a:lnTo>
                    <a:pt x="800" y="1600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36"/>
            <p:cNvSpPr/>
            <p:nvPr/>
          </p:nvSpPr>
          <p:spPr>
            <a:xfrm>
              <a:off x="5553075" y="3355850"/>
              <a:ext cx="199875" cy="89950"/>
            </a:xfrm>
            <a:custGeom>
              <a:avLst/>
              <a:gdLst/>
              <a:ahLst/>
              <a:cxnLst/>
              <a:rect l="l" t="t" r="r" b="b"/>
              <a:pathLst>
                <a:path w="7995" h="3598" extrusionOk="0">
                  <a:moveTo>
                    <a:pt x="0" y="1"/>
                  </a:moveTo>
                  <a:lnTo>
                    <a:pt x="0" y="3598"/>
                  </a:lnTo>
                  <a:lnTo>
                    <a:pt x="1201" y="3598"/>
                  </a:lnTo>
                  <a:lnTo>
                    <a:pt x="1201" y="1600"/>
                  </a:lnTo>
                  <a:cubicBezTo>
                    <a:pt x="1201" y="1378"/>
                    <a:pt x="1379" y="1200"/>
                    <a:pt x="1599" y="1200"/>
                  </a:cubicBezTo>
                  <a:lnTo>
                    <a:pt x="3199" y="1200"/>
                  </a:lnTo>
                  <a:cubicBezTo>
                    <a:pt x="3420" y="1200"/>
                    <a:pt x="3599" y="1378"/>
                    <a:pt x="3599" y="1600"/>
                  </a:cubicBezTo>
                  <a:lnTo>
                    <a:pt x="3599" y="3598"/>
                  </a:lnTo>
                  <a:lnTo>
                    <a:pt x="4398" y="3598"/>
                  </a:lnTo>
                  <a:lnTo>
                    <a:pt x="4398" y="1600"/>
                  </a:lnTo>
                  <a:cubicBezTo>
                    <a:pt x="4398" y="1378"/>
                    <a:pt x="4576" y="1200"/>
                    <a:pt x="4798" y="1200"/>
                  </a:cubicBezTo>
                  <a:lnTo>
                    <a:pt x="6395" y="1200"/>
                  </a:lnTo>
                  <a:cubicBezTo>
                    <a:pt x="6617" y="1200"/>
                    <a:pt x="6796" y="1378"/>
                    <a:pt x="6796" y="1600"/>
                  </a:cubicBezTo>
                  <a:lnTo>
                    <a:pt x="6796" y="3598"/>
                  </a:lnTo>
                  <a:lnTo>
                    <a:pt x="7995" y="3598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6"/>
            <p:cNvSpPr/>
            <p:nvPr/>
          </p:nvSpPr>
          <p:spPr>
            <a:xfrm>
              <a:off x="568300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1" y="1"/>
                  </a:moveTo>
                  <a:lnTo>
                    <a:pt x="1" y="1599"/>
                  </a:lnTo>
                  <a:lnTo>
                    <a:pt x="800" y="1599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36"/>
            <p:cNvSpPr/>
            <p:nvPr/>
          </p:nvSpPr>
          <p:spPr>
            <a:xfrm>
              <a:off x="5772925" y="3245250"/>
              <a:ext cx="80000" cy="70650"/>
            </a:xfrm>
            <a:custGeom>
              <a:avLst/>
              <a:gdLst/>
              <a:ahLst/>
              <a:cxnLst/>
              <a:rect l="l" t="t" r="r" b="b"/>
              <a:pathLst>
                <a:path w="3200" h="2826" extrusionOk="0">
                  <a:moveTo>
                    <a:pt x="1" y="1"/>
                  </a:moveTo>
                  <a:lnTo>
                    <a:pt x="1" y="2825"/>
                  </a:lnTo>
                  <a:lnTo>
                    <a:pt x="3199" y="2825"/>
                  </a:lnTo>
                  <a:lnTo>
                    <a:pt x="3199" y="401"/>
                  </a:lnTo>
                  <a:cubicBezTo>
                    <a:pt x="3199" y="179"/>
                    <a:pt x="3019" y="1"/>
                    <a:pt x="2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36"/>
            <p:cNvSpPr/>
            <p:nvPr/>
          </p:nvSpPr>
          <p:spPr>
            <a:xfrm>
              <a:off x="5772925" y="3335875"/>
              <a:ext cx="80000" cy="250500"/>
            </a:xfrm>
            <a:custGeom>
              <a:avLst/>
              <a:gdLst/>
              <a:ahLst/>
              <a:cxnLst/>
              <a:rect l="l" t="t" r="r" b="b"/>
              <a:pathLst>
                <a:path w="3200" h="10020" extrusionOk="0">
                  <a:moveTo>
                    <a:pt x="1598" y="1598"/>
                  </a:moveTo>
                  <a:cubicBezTo>
                    <a:pt x="1804" y="1598"/>
                    <a:pt x="2000" y="1758"/>
                    <a:pt x="2000" y="1999"/>
                  </a:cubicBezTo>
                  <a:cubicBezTo>
                    <a:pt x="2000" y="2220"/>
                    <a:pt x="1822" y="2399"/>
                    <a:pt x="1602" y="2399"/>
                  </a:cubicBezTo>
                  <a:cubicBezTo>
                    <a:pt x="1244" y="2399"/>
                    <a:pt x="1067" y="1968"/>
                    <a:pt x="1318" y="1717"/>
                  </a:cubicBezTo>
                  <a:cubicBezTo>
                    <a:pt x="1400" y="1635"/>
                    <a:pt x="1500" y="1598"/>
                    <a:pt x="1598" y="1598"/>
                  </a:cubicBezTo>
                  <a:close/>
                  <a:moveTo>
                    <a:pt x="1597" y="3197"/>
                  </a:moveTo>
                  <a:cubicBezTo>
                    <a:pt x="1803" y="3197"/>
                    <a:pt x="2000" y="3357"/>
                    <a:pt x="2000" y="3598"/>
                  </a:cubicBezTo>
                  <a:cubicBezTo>
                    <a:pt x="2000" y="3819"/>
                    <a:pt x="1822" y="3998"/>
                    <a:pt x="1602" y="3998"/>
                  </a:cubicBezTo>
                  <a:cubicBezTo>
                    <a:pt x="1244" y="3998"/>
                    <a:pt x="1066" y="3567"/>
                    <a:pt x="1318" y="3314"/>
                  </a:cubicBezTo>
                  <a:cubicBezTo>
                    <a:pt x="1400" y="3233"/>
                    <a:pt x="1499" y="3197"/>
                    <a:pt x="1597" y="3197"/>
                  </a:cubicBezTo>
                  <a:close/>
                  <a:moveTo>
                    <a:pt x="1" y="1"/>
                  </a:moveTo>
                  <a:lnTo>
                    <a:pt x="1" y="10019"/>
                  </a:lnTo>
                  <a:lnTo>
                    <a:pt x="2799" y="10019"/>
                  </a:lnTo>
                  <a:cubicBezTo>
                    <a:pt x="3021" y="10019"/>
                    <a:pt x="3199" y="9841"/>
                    <a:pt x="3199" y="9621"/>
                  </a:cubicBezTo>
                  <a:lnTo>
                    <a:pt x="31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36"/>
            <p:cNvSpPr/>
            <p:nvPr/>
          </p:nvSpPr>
          <p:spPr>
            <a:xfrm>
              <a:off x="5553075" y="3465775"/>
              <a:ext cx="199925" cy="120600"/>
            </a:xfrm>
            <a:custGeom>
              <a:avLst/>
              <a:gdLst/>
              <a:ahLst/>
              <a:cxnLst/>
              <a:rect l="l" t="t" r="r" b="b"/>
              <a:pathLst>
                <a:path w="7997" h="4824" extrusionOk="0">
                  <a:moveTo>
                    <a:pt x="6395" y="1200"/>
                  </a:moveTo>
                  <a:cubicBezTo>
                    <a:pt x="6617" y="1200"/>
                    <a:pt x="6796" y="1379"/>
                    <a:pt x="6796" y="1600"/>
                  </a:cubicBezTo>
                  <a:lnTo>
                    <a:pt x="6796" y="3198"/>
                  </a:lnTo>
                  <a:cubicBezTo>
                    <a:pt x="6796" y="3419"/>
                    <a:pt x="6617" y="3598"/>
                    <a:pt x="6395" y="3598"/>
                  </a:cubicBezTo>
                  <a:lnTo>
                    <a:pt x="1599" y="3598"/>
                  </a:lnTo>
                  <a:cubicBezTo>
                    <a:pt x="1378" y="3598"/>
                    <a:pt x="1199" y="3419"/>
                    <a:pt x="1199" y="3198"/>
                  </a:cubicBezTo>
                  <a:lnTo>
                    <a:pt x="1199" y="1600"/>
                  </a:lnTo>
                  <a:cubicBezTo>
                    <a:pt x="1199" y="1379"/>
                    <a:pt x="1379" y="1200"/>
                    <a:pt x="1599" y="1200"/>
                  </a:cubicBezTo>
                  <a:close/>
                  <a:moveTo>
                    <a:pt x="2" y="1"/>
                  </a:moveTo>
                  <a:lnTo>
                    <a:pt x="2" y="4423"/>
                  </a:lnTo>
                  <a:cubicBezTo>
                    <a:pt x="0" y="4645"/>
                    <a:pt x="180" y="4823"/>
                    <a:pt x="400" y="4823"/>
                  </a:cubicBezTo>
                  <a:lnTo>
                    <a:pt x="7996" y="4823"/>
                  </a:lnTo>
                  <a:lnTo>
                    <a:pt x="79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36"/>
            <p:cNvSpPr/>
            <p:nvPr/>
          </p:nvSpPr>
          <p:spPr>
            <a:xfrm>
              <a:off x="5553075" y="3245250"/>
              <a:ext cx="199875" cy="90650"/>
            </a:xfrm>
            <a:custGeom>
              <a:avLst/>
              <a:gdLst/>
              <a:ahLst/>
              <a:cxnLst/>
              <a:rect l="l" t="t" r="r" b="b"/>
              <a:pathLst>
                <a:path w="7995" h="3626" extrusionOk="0"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3626"/>
                  </a:lnTo>
                  <a:lnTo>
                    <a:pt x="1201" y="3626"/>
                  </a:lnTo>
                  <a:lnTo>
                    <a:pt x="1201" y="1626"/>
                  </a:lnTo>
                  <a:cubicBezTo>
                    <a:pt x="1201" y="1406"/>
                    <a:pt x="1379" y="1226"/>
                    <a:pt x="1599" y="1226"/>
                  </a:cubicBezTo>
                  <a:lnTo>
                    <a:pt x="3199" y="1226"/>
                  </a:lnTo>
                  <a:cubicBezTo>
                    <a:pt x="3420" y="1226"/>
                    <a:pt x="3599" y="1406"/>
                    <a:pt x="3599" y="1626"/>
                  </a:cubicBezTo>
                  <a:lnTo>
                    <a:pt x="3599" y="3626"/>
                  </a:lnTo>
                  <a:lnTo>
                    <a:pt x="4398" y="3626"/>
                  </a:lnTo>
                  <a:lnTo>
                    <a:pt x="4398" y="1626"/>
                  </a:lnTo>
                  <a:cubicBezTo>
                    <a:pt x="4398" y="1406"/>
                    <a:pt x="4576" y="1226"/>
                    <a:pt x="4798" y="1226"/>
                  </a:cubicBezTo>
                  <a:lnTo>
                    <a:pt x="6395" y="1226"/>
                  </a:lnTo>
                  <a:cubicBezTo>
                    <a:pt x="6617" y="1226"/>
                    <a:pt x="6796" y="1406"/>
                    <a:pt x="6796" y="1626"/>
                  </a:cubicBezTo>
                  <a:lnTo>
                    <a:pt x="6796" y="3626"/>
                  </a:lnTo>
                  <a:lnTo>
                    <a:pt x="7995" y="3626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36"/>
            <p:cNvSpPr/>
            <p:nvPr/>
          </p:nvSpPr>
          <p:spPr>
            <a:xfrm>
              <a:off x="5603050" y="3515775"/>
              <a:ext cx="99950" cy="20000"/>
            </a:xfrm>
            <a:custGeom>
              <a:avLst/>
              <a:gdLst/>
              <a:ahLst/>
              <a:cxnLst/>
              <a:rect l="l" t="t" r="r" b="b"/>
              <a:pathLst>
                <a:path w="3998" h="800" extrusionOk="0">
                  <a:moveTo>
                    <a:pt x="0" y="0"/>
                  </a:moveTo>
                  <a:lnTo>
                    <a:pt x="0" y="799"/>
                  </a:lnTo>
                  <a:lnTo>
                    <a:pt x="3998" y="799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" name="Google Shape;197;p31">
            <a:extLst>
              <a:ext uri="{FF2B5EF4-FFF2-40B4-BE49-F238E27FC236}">
                <a16:creationId xmlns:a16="http://schemas.microsoft.com/office/drawing/2014/main" id="{3B11A781-A4EB-C657-9912-6F7C4924F382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Scope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171EDF8B-7415-1607-CF1C-78A762E1A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93506F0-8593-3499-D349-AA548F834C8D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45463AFA-7291-CC26-A81C-2A2D8D6AB7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F500778B-4DED-6950-4B28-CA0EA64402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How I Execute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213DB760-E5FD-AACD-C3B1-01293DAC74B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05a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D07379C8-43AE-CFF8-F7EA-3A306BD193D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40878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EB3A0BDD-2EFA-8788-6188-45261509EAF3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Sources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02C4563-5DBE-5F52-06BC-1C2EE4FA09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0881418"/>
              </p:ext>
            </p:extLst>
          </p:nvPr>
        </p:nvGraphicFramePr>
        <p:xfrm>
          <a:off x="304800" y="971942"/>
          <a:ext cx="8534400" cy="397963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4270">
                  <a:extLst>
                    <a:ext uri="{9D8B030D-6E8A-4147-A177-3AD203B41FA5}">
                      <a16:colId xmlns:a16="http://schemas.microsoft.com/office/drawing/2014/main" val="3638772239"/>
                    </a:ext>
                  </a:extLst>
                </a:gridCol>
                <a:gridCol w="1509823">
                  <a:extLst>
                    <a:ext uri="{9D8B030D-6E8A-4147-A177-3AD203B41FA5}">
                      <a16:colId xmlns:a16="http://schemas.microsoft.com/office/drawing/2014/main" val="2342965550"/>
                    </a:ext>
                  </a:extLst>
                </a:gridCol>
                <a:gridCol w="6000307">
                  <a:extLst>
                    <a:ext uri="{9D8B030D-6E8A-4147-A177-3AD203B41FA5}">
                      <a16:colId xmlns:a16="http://schemas.microsoft.com/office/drawing/2014/main" val="2344603609"/>
                    </a:ext>
                  </a:extLst>
                </a:gridCol>
              </a:tblGrid>
              <a:tr h="407307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 Origin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Why Data?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762064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Ridership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Primary forecast target, provides 13 output variables (12 service lines + total) the models are trained to predict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7713889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Fuel Price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Demand drive, EDA confirms higher fuel prices correlate with increased transit use, capturing modal substitution behaviour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368205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Holidays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timeanddate.com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Demand modifier, holidays cause systematic ridership drop, lead/lag features capture anticipation dips, post-holiday return surges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7862888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Rainfall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data.humdata.org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Weather covariate, state-level daily precipitation adds a spatially-varying external signal that influences travel mode choice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414802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Population Density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hub.worldpop.org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context, residential density is a static proxy for transit catchment potential and latent demand at each stop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3272771"/>
                  </a:ext>
                </a:extLst>
              </a:tr>
              <a:tr h="585288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GADM Boundaries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gadm.org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structure, state boundary polygons are used to spatially aggregate features by aggregate features by administrative region and derive inter-state adjacency weights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5088170"/>
                  </a:ext>
                </a:extLst>
              </a:tr>
              <a:tr h="408287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GTFS Static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Network topology, stop counts, route density, travel-time edges quantify transit supply and accessibility per region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2042054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OSM POIs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overpass-api.de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Land-use context, POI category counts within a 500m catchment of each stop capture activity generators that drive trip origins and destinations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194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B6250C2F-E816-D284-B08E-F04BFB98F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FB112E81-FCAA-CA39-E5DE-12CE4CDA0218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Understanding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A4BE710-2172-3331-2B4A-A30E5FDDE3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444694"/>
              </p:ext>
            </p:extLst>
          </p:nvPr>
        </p:nvGraphicFramePr>
        <p:xfrm>
          <a:off x="304799" y="971942"/>
          <a:ext cx="8613914" cy="380178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991834">
                  <a:extLst>
                    <a:ext uri="{9D8B030D-6E8A-4147-A177-3AD203B41FA5}">
                      <a16:colId xmlns:a16="http://schemas.microsoft.com/office/drawing/2014/main" val="3067367502"/>
                    </a:ext>
                  </a:extLst>
                </a:gridCol>
                <a:gridCol w="6622080">
                  <a:extLst>
                    <a:ext uri="{9D8B030D-6E8A-4147-A177-3AD203B41FA5}">
                      <a16:colId xmlns:a16="http://schemas.microsoft.com/office/drawing/2014/main" val="3579658380"/>
                    </a:ext>
                  </a:extLst>
                </a:gridCol>
              </a:tblGrid>
              <a:tr h="385140">
                <a:tc>
                  <a:txBody>
                    <a:bodyPr/>
                    <a:lstStyle/>
                    <a:p>
                      <a:pPr algn="ctr"/>
                      <a:r>
                        <a:rPr lang="en-MY" sz="16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Attribute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sz="16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Detail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973131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 Range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2019-01-01 to 2025-12-31 (Include MCO)</a:t>
                      </a:r>
                    </a:p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2022-01-01 to 2025-12-31 (Exclude MCO)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005580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Total Observations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2,557 daily records with MCO</a:t>
                      </a:r>
                    </a:p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1,461 daily records without MCO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888057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Total Features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79 columns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721091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Target Variables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13 (12 transit service lines + total ridership)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279585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Feature Sources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8 (Ridership, fuel price, holiday/cyclical, rainfall, population density, GTFS transit network, OSM POI, GADM boundaries)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410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8896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56E832EA-1762-2603-6983-A0C14C9A4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9C78295-54AC-909D-E409-4FB96B3D5447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Understanding (</a:t>
            </a:r>
            <a:r>
              <a:rPr lang="en-MY" sz="2400" dirty="0" err="1"/>
              <a:t>con’t</a:t>
            </a:r>
            <a:r>
              <a:rPr lang="en-MY" sz="2400" dirty="0"/>
              <a:t>)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BA1C006-F24B-8A6F-644B-AF371A4ABC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003079"/>
              </p:ext>
            </p:extLst>
          </p:nvPr>
        </p:nvGraphicFramePr>
        <p:xfrm>
          <a:off x="304799" y="971940"/>
          <a:ext cx="8613915" cy="3961567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173127">
                  <a:extLst>
                    <a:ext uri="{9D8B030D-6E8A-4147-A177-3AD203B41FA5}">
                      <a16:colId xmlns:a16="http://schemas.microsoft.com/office/drawing/2014/main" val="3067367502"/>
                    </a:ext>
                  </a:extLst>
                </a:gridCol>
                <a:gridCol w="871869">
                  <a:extLst>
                    <a:ext uri="{9D8B030D-6E8A-4147-A177-3AD203B41FA5}">
                      <a16:colId xmlns:a16="http://schemas.microsoft.com/office/drawing/2014/main" val="2788595002"/>
                    </a:ext>
                  </a:extLst>
                </a:gridCol>
                <a:gridCol w="6568919">
                  <a:extLst>
                    <a:ext uri="{9D8B030D-6E8A-4147-A177-3AD203B41FA5}">
                      <a16:colId xmlns:a16="http://schemas.microsoft.com/office/drawing/2014/main" val="3579658380"/>
                    </a:ext>
                  </a:extLst>
                </a:gridCol>
              </a:tblGrid>
              <a:tr h="376842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Group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Count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Description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973131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Targets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13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12 service lines + total ridership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005580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Temporal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16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Holiday flags, lead/lag days, cyclical encoding, year, day-of-year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888057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External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30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Fuel price levels &amp; changes (15) + Rainfall per state (15)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721091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Lag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Autoregressive lags at 7, 14, 28 days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41066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Static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17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Population density, GTFS network states, OSM POI counts, GADM boundaries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0524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98187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2828A86C-72FE-94CA-368E-34A25526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26C40B59-114B-74E8-00DC-424B3551856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All data sources are filtered to 2019-01-01 – 2025-12-31; MCO flagging on ridership, compute total ridership; Weekly fuel price forward-fill as daily; Expand data range rows into one binary flag per calendar day, handle state-specific coverage; Retain final rainfall result; Compute state centroids; Deduplicate stops and trips; Clip density values at 99</a:t>
            </a:r>
            <a:r>
              <a:rPr lang="en-MY" baseline="30000" dirty="0"/>
              <a:t>th</a:t>
            </a:r>
            <a:r>
              <a:rPr lang="en-MY" dirty="0"/>
              <a:t> percentile to reduce raster outliers; Deduplicate OSM element ID, map specific tags to 7 POI categories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89982D82-61CE-6194-E9EA-01D179E880E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19999" y="2977927"/>
            <a:ext cx="768231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Merged all cleaned data sources into 2019/2022-01-01 – 2025-12-31 (2,557 | 1,461 days) x 79 feature columns; Time-varying sources reindexed to daily master; Remaining gaps filled by forward-fill or linear interpolation; Static sources broadcast to every row.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6276B205-A656-59C6-CD96-296BAA76F0F5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Per-source Cleaning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4E01D056-338C-A9C2-24AA-B581F6B9BB32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1167725" y="2733527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Alignment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63ED7DF0-B39A-6D48-3198-80BAC3847262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169450" y="3763724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Sequence Building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86D582AC-97B8-E4C9-1C5F-8C887A314A88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4008124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Sliding window sequences: (X shape: N, T_in, 79) – (y shape: N, 7) – for T_in in 14, 28, 56 look-back days.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Chronological 70/15/15 split – no shuffle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Special for graph models – build Pearson correlation adjacency on-the-fly from X_train</a:t>
            </a:r>
            <a:endParaRPr dirty="0"/>
          </a:p>
        </p:txBody>
      </p: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3F60AC58-B7A9-06B9-5EFC-838A5E2EEDEC}"/>
              </a:ext>
            </a:extLst>
          </p:cNvPr>
          <p:cNvGrpSpPr/>
          <p:nvPr/>
        </p:nvGrpSpPr>
        <p:grpSpPr>
          <a:xfrm>
            <a:off x="831745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0B2C867C-F4A2-E16D-623E-CC8F2EF19EB9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0C32AE9C-8FDC-7BE9-7B08-68BE18917E83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41A7059E-6088-5895-CD4C-C76F1C59B95A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4E3F681A-6144-9BBE-6F36-A68FB3A9314B}"/>
              </a:ext>
            </a:extLst>
          </p:cNvPr>
          <p:cNvGrpSpPr/>
          <p:nvPr/>
        </p:nvGrpSpPr>
        <p:grpSpPr>
          <a:xfrm>
            <a:off x="835775" y="3765223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C5896DA3-2AB4-0F6A-3A62-5AA76555F42D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611B5EB-6EE8-0538-1AEA-F9883D14A85D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8E0238DD-6A07-8AED-E043-3F12B477DF94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38F55806-E251-AF79-C42F-60B9E58F801A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B2E54D13-815E-1D28-9C86-F1230AB4D106}"/>
              </a:ext>
            </a:extLst>
          </p:cNvPr>
          <p:cNvGrpSpPr/>
          <p:nvPr/>
        </p:nvGrpSpPr>
        <p:grpSpPr>
          <a:xfrm>
            <a:off x="835783" y="2749529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38B10133-B41C-FB6D-CBDC-72BC78B10C83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3160882A-049C-517F-D5C9-17B23D7DA035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BC8BF8AF-6065-2BBB-4FEB-547A7328D719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95340FEC-1698-3885-ECB9-65AE999B1500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AAD4AFE2-316C-EE28-F5A3-5BAEEED9F825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0F1B3C6B-57D0-3C27-5630-C7F21ACCE761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58FBE8E-49FE-2FFE-D5CE-2D9DBB4228E0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C829ED37-69A3-E3B4-3C9B-E9FE242063E7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DA4086FE-F446-3F7F-DFFF-AB156ADC387D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FD5C0E30-A6A5-3E8D-FC73-11240D39E9D7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1665D82-54D0-11CA-158E-CDBE69F770FE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192CDC2D-AD99-302D-C2E6-AE618D6BE6D1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2C3CA42D-1038-AC42-1AAC-FB0AEEBB378A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7D5310A3-E3BA-C9D2-BFB0-2A06CF5176AE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Preprocessing</a:t>
            </a:r>
          </a:p>
        </p:txBody>
      </p:sp>
    </p:spTree>
    <p:extLst>
      <p:ext uri="{BB962C8B-B14F-4D97-AF65-F5344CB8AC3E}">
        <p14:creationId xmlns:p14="http://schemas.microsoft.com/office/powerpoint/2010/main" val="105421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DEABD444-36AE-26D8-9232-F0B41386B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C412B6B5-439D-735F-6429-B41E2BB4015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1837" y="1475475"/>
            <a:ext cx="40044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Change-point detection identifies the lockdown onset and three recovery phases; per-service collapse %, and post-MCO recovery rate differ by mode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2B7D5885-4816-98F2-1781-4E9E0481762D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41837" y="2648800"/>
            <a:ext cx="3710016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Monthly wet-day ratio and extreme-event frequency peak in November-January, east-coast states record more extreme than west-coast</a:t>
            </a:r>
            <a:endParaRPr dirty="0"/>
          </a:p>
        </p:txBody>
      </p:sp>
      <p:sp>
        <p:nvSpPr>
          <p:cNvPr id="342" name="Google Shape;342;p37">
            <a:extLst>
              <a:ext uri="{FF2B5EF4-FFF2-40B4-BE49-F238E27FC236}">
                <a16:creationId xmlns:a16="http://schemas.microsoft.com/office/drawing/2014/main" id="{088AB42C-E75B-B2F8-B9D2-DD8E9EFD1EA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515124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Clustering on stop coordinates identifies dense clusters in greater KL; outside Selangor/KL have fewer than 5% of total stops</a:t>
            </a:r>
            <a:endParaRPr dirty="0"/>
          </a:p>
        </p:txBody>
      </p:sp>
      <p:sp>
        <p:nvSpPr>
          <p:cNvPr id="343" name="Google Shape;343;p37">
            <a:extLst>
              <a:ext uri="{FF2B5EF4-FFF2-40B4-BE49-F238E27FC236}">
                <a16:creationId xmlns:a16="http://schemas.microsoft.com/office/drawing/2014/main" id="{F65756B3-6ED3-68C2-2B5C-811450EBF2A8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515123" y="2648800"/>
            <a:ext cx="438703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Joint analysis of population density, transit supply identifies priority zones where high residential density coincides with low stop coverage and poor pedestrian access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E6848E80-01D2-CD77-6A03-D19E36328B31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685437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Collapse / Recover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9D33DE24-8943-9CAE-5209-9A6D30B37B01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689562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Northeast Monsoon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184F6611-7C7E-48FA-22DB-39354FE6D5D5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691287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Holiday Anticipation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8C6956FC-9D4E-94C9-9653-6AF850755FAF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241837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Ridership dip 1-2 days before public holidays and return surge on first post-holiday workday, school holidays show a softer, multi-day ramp</a:t>
            </a:r>
            <a:endParaRPr dirty="0"/>
          </a:p>
        </p:txBody>
      </p:sp>
      <p:sp>
        <p:nvSpPr>
          <p:cNvPr id="348" name="Google Shape;348;p37">
            <a:extLst>
              <a:ext uri="{FF2B5EF4-FFF2-40B4-BE49-F238E27FC236}">
                <a16:creationId xmlns:a16="http://schemas.microsoft.com/office/drawing/2014/main" id="{1F6C416F-3FF2-C8FF-7860-E087D7A8FE6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4515124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Some temporal, static like GTFS, OSM POIs, GADM boundaries, and population density are at near-zero correlation with ridership</a:t>
            </a:r>
            <a:endParaRPr dirty="0"/>
          </a:p>
        </p:txBody>
      </p:sp>
      <p:sp>
        <p:nvSpPr>
          <p:cNvPr id="349" name="Google Shape;349;p37">
            <a:extLst>
              <a:ext uri="{FF2B5EF4-FFF2-40B4-BE49-F238E27FC236}">
                <a16:creationId xmlns:a16="http://schemas.microsoft.com/office/drawing/2014/main" id="{FE48D3FD-6BE7-20D0-FE87-67D406797F28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4960624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KL Concentration</a:t>
            </a:r>
            <a:endParaRPr dirty="0"/>
          </a:p>
        </p:txBody>
      </p:sp>
      <p:sp>
        <p:nvSpPr>
          <p:cNvPr id="350" name="Google Shape;350;p37">
            <a:extLst>
              <a:ext uri="{FF2B5EF4-FFF2-40B4-BE49-F238E27FC236}">
                <a16:creationId xmlns:a16="http://schemas.microsoft.com/office/drawing/2014/main" id="{EA868A23-48FC-C086-6513-605ADA076122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4960627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Underserved Zones</a:t>
            </a:r>
            <a:endParaRPr dirty="0"/>
          </a:p>
        </p:txBody>
      </p:sp>
      <p:sp>
        <p:nvSpPr>
          <p:cNvPr id="351" name="Google Shape;351;p37">
            <a:extLst>
              <a:ext uri="{FF2B5EF4-FFF2-40B4-BE49-F238E27FC236}">
                <a16:creationId xmlns:a16="http://schemas.microsoft.com/office/drawing/2014/main" id="{2174A777-7B6B-BC7B-5C44-00B6E8094868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4960624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Correlation</a:t>
            </a:r>
            <a:endParaRPr dirty="0"/>
          </a:p>
        </p:txBody>
      </p:sp>
      <p:grpSp>
        <p:nvGrpSpPr>
          <p:cNvPr id="352" name="Google Shape;352;p37">
            <a:extLst>
              <a:ext uri="{FF2B5EF4-FFF2-40B4-BE49-F238E27FC236}">
                <a16:creationId xmlns:a16="http://schemas.microsoft.com/office/drawing/2014/main" id="{C1152121-BA60-83A7-88A6-F57BF2D8FBF8}"/>
              </a:ext>
            </a:extLst>
          </p:cNvPr>
          <p:cNvGrpSpPr/>
          <p:nvPr/>
        </p:nvGrpSpPr>
        <p:grpSpPr>
          <a:xfrm>
            <a:off x="4626783" y="2411055"/>
            <a:ext cx="261958" cy="230156"/>
            <a:chOff x="7039625" y="2147325"/>
            <a:chExt cx="341225" cy="299800"/>
          </a:xfrm>
        </p:grpSpPr>
        <p:sp>
          <p:nvSpPr>
            <p:cNvPr id="353" name="Google Shape;353;p37">
              <a:extLst>
                <a:ext uri="{FF2B5EF4-FFF2-40B4-BE49-F238E27FC236}">
                  <a16:creationId xmlns:a16="http://schemas.microsoft.com/office/drawing/2014/main" id="{4E0A70DF-D4E7-9F88-CEB5-88833728EFDD}"/>
                </a:ext>
              </a:extLst>
            </p:cNvPr>
            <p:cNvSpPr/>
            <p:nvPr/>
          </p:nvSpPr>
          <p:spPr>
            <a:xfrm>
              <a:off x="7039725" y="2147325"/>
              <a:ext cx="341125" cy="239850"/>
            </a:xfrm>
            <a:custGeom>
              <a:avLst/>
              <a:gdLst/>
              <a:ahLst/>
              <a:cxnLst/>
              <a:rect l="l" t="t" r="r" b="b"/>
              <a:pathLst>
                <a:path w="13645" h="9594" extrusionOk="0">
                  <a:moveTo>
                    <a:pt x="6176" y="799"/>
                  </a:moveTo>
                  <a:lnTo>
                    <a:pt x="4423" y="4302"/>
                  </a:lnTo>
                  <a:lnTo>
                    <a:pt x="2672" y="799"/>
                  </a:lnTo>
                  <a:close/>
                  <a:moveTo>
                    <a:pt x="10972" y="799"/>
                  </a:moveTo>
                  <a:lnTo>
                    <a:pt x="9221" y="4302"/>
                  </a:lnTo>
                  <a:lnTo>
                    <a:pt x="7469" y="799"/>
                  </a:lnTo>
                  <a:close/>
                  <a:moveTo>
                    <a:pt x="2100" y="1441"/>
                  </a:moveTo>
                  <a:lnTo>
                    <a:pt x="3778" y="4796"/>
                  </a:lnTo>
                  <a:lnTo>
                    <a:pt x="955" y="4796"/>
                  </a:lnTo>
                  <a:lnTo>
                    <a:pt x="2100" y="1441"/>
                  </a:lnTo>
                  <a:close/>
                  <a:moveTo>
                    <a:pt x="6823" y="1294"/>
                  </a:moveTo>
                  <a:lnTo>
                    <a:pt x="8574" y="4796"/>
                  </a:lnTo>
                  <a:lnTo>
                    <a:pt x="5070" y="4796"/>
                  </a:lnTo>
                  <a:lnTo>
                    <a:pt x="6823" y="1294"/>
                  </a:lnTo>
                  <a:close/>
                  <a:moveTo>
                    <a:pt x="11545" y="1441"/>
                  </a:moveTo>
                  <a:lnTo>
                    <a:pt x="12689" y="4796"/>
                  </a:lnTo>
                  <a:lnTo>
                    <a:pt x="9867" y="4796"/>
                  </a:lnTo>
                  <a:lnTo>
                    <a:pt x="11545" y="1441"/>
                  </a:lnTo>
                  <a:close/>
                  <a:moveTo>
                    <a:pt x="2027" y="0"/>
                  </a:moveTo>
                  <a:cubicBezTo>
                    <a:pt x="1854" y="0"/>
                    <a:pt x="1702" y="109"/>
                    <a:pt x="1647" y="273"/>
                  </a:cubicBezTo>
                  <a:lnTo>
                    <a:pt x="21" y="5069"/>
                  </a:lnTo>
                  <a:cubicBezTo>
                    <a:pt x="21" y="5071"/>
                    <a:pt x="1" y="5195"/>
                    <a:pt x="1" y="5196"/>
                  </a:cubicBezTo>
                  <a:lnTo>
                    <a:pt x="1" y="5995"/>
                  </a:lnTo>
                  <a:cubicBezTo>
                    <a:pt x="1" y="6217"/>
                    <a:pt x="179" y="6395"/>
                    <a:pt x="401" y="6395"/>
                  </a:cubicBezTo>
                  <a:lnTo>
                    <a:pt x="2027" y="6395"/>
                  </a:lnTo>
                  <a:lnTo>
                    <a:pt x="2027" y="8808"/>
                  </a:lnTo>
                  <a:cubicBezTo>
                    <a:pt x="2458" y="8808"/>
                    <a:pt x="2843" y="9021"/>
                    <a:pt x="3057" y="9378"/>
                  </a:cubicBezTo>
                  <a:cubicBezTo>
                    <a:pt x="3059" y="9378"/>
                    <a:pt x="3230" y="9594"/>
                    <a:pt x="3626" y="9594"/>
                  </a:cubicBezTo>
                  <a:lnTo>
                    <a:pt x="3626" y="6395"/>
                  </a:lnTo>
                  <a:lnTo>
                    <a:pt x="10021" y="6395"/>
                  </a:lnTo>
                  <a:lnTo>
                    <a:pt x="10021" y="9594"/>
                  </a:lnTo>
                  <a:cubicBezTo>
                    <a:pt x="10417" y="9594"/>
                    <a:pt x="10591" y="9372"/>
                    <a:pt x="10610" y="9346"/>
                  </a:cubicBezTo>
                  <a:lnTo>
                    <a:pt x="10613" y="9349"/>
                  </a:lnTo>
                  <a:cubicBezTo>
                    <a:pt x="10855" y="8996"/>
                    <a:pt x="11224" y="8807"/>
                    <a:pt x="11620" y="8807"/>
                  </a:cubicBezTo>
                  <a:lnTo>
                    <a:pt x="11620" y="6395"/>
                  </a:lnTo>
                  <a:lnTo>
                    <a:pt x="13246" y="6395"/>
                  </a:lnTo>
                  <a:cubicBezTo>
                    <a:pt x="13466" y="6395"/>
                    <a:pt x="13645" y="6217"/>
                    <a:pt x="13645" y="5995"/>
                  </a:cubicBezTo>
                  <a:lnTo>
                    <a:pt x="13645" y="5196"/>
                  </a:lnTo>
                  <a:cubicBezTo>
                    <a:pt x="13645" y="5193"/>
                    <a:pt x="13624" y="5072"/>
                    <a:pt x="13624" y="5069"/>
                  </a:cubicBezTo>
                  <a:lnTo>
                    <a:pt x="11998" y="273"/>
                  </a:lnTo>
                  <a:cubicBezTo>
                    <a:pt x="11944" y="109"/>
                    <a:pt x="11790" y="0"/>
                    <a:pt x="116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7">
              <a:extLst>
                <a:ext uri="{FF2B5EF4-FFF2-40B4-BE49-F238E27FC236}">
                  <a16:creationId xmlns:a16="http://schemas.microsoft.com/office/drawing/2014/main" id="{9EC0029E-B254-5ED6-85B2-F29CCB83B440}"/>
                </a:ext>
              </a:extLst>
            </p:cNvPr>
            <p:cNvSpPr/>
            <p:nvPr/>
          </p:nvSpPr>
          <p:spPr>
            <a:xfrm>
              <a:off x="7039625" y="2387475"/>
              <a:ext cx="341125" cy="59650"/>
            </a:xfrm>
            <a:custGeom>
              <a:avLst/>
              <a:gdLst/>
              <a:ahLst/>
              <a:cxnLst/>
              <a:rect l="l" t="t" r="r" b="b"/>
              <a:pathLst>
                <a:path w="13645" h="2386" extrusionOk="0">
                  <a:moveTo>
                    <a:pt x="11623" y="0"/>
                  </a:moveTo>
                  <a:cubicBezTo>
                    <a:pt x="11487" y="0"/>
                    <a:pt x="11351" y="61"/>
                    <a:pt x="11279" y="183"/>
                  </a:cubicBezTo>
                  <a:cubicBezTo>
                    <a:pt x="11276" y="189"/>
                    <a:pt x="10898" y="787"/>
                    <a:pt x="10024" y="787"/>
                  </a:cubicBezTo>
                  <a:cubicBezTo>
                    <a:pt x="9154" y="787"/>
                    <a:pt x="8782" y="205"/>
                    <a:pt x="8768" y="183"/>
                  </a:cubicBezTo>
                  <a:cubicBezTo>
                    <a:pt x="8695" y="62"/>
                    <a:pt x="8559" y="1"/>
                    <a:pt x="8424" y="1"/>
                  </a:cubicBezTo>
                  <a:cubicBezTo>
                    <a:pt x="8288" y="1"/>
                    <a:pt x="8152" y="62"/>
                    <a:pt x="8079" y="183"/>
                  </a:cubicBezTo>
                  <a:cubicBezTo>
                    <a:pt x="8076" y="189"/>
                    <a:pt x="7698" y="787"/>
                    <a:pt x="6824" y="787"/>
                  </a:cubicBezTo>
                  <a:cubicBezTo>
                    <a:pt x="5954" y="787"/>
                    <a:pt x="5583" y="205"/>
                    <a:pt x="5569" y="183"/>
                  </a:cubicBezTo>
                  <a:cubicBezTo>
                    <a:pt x="5496" y="62"/>
                    <a:pt x="5360" y="1"/>
                    <a:pt x="5225" y="1"/>
                  </a:cubicBezTo>
                  <a:cubicBezTo>
                    <a:pt x="5089" y="1"/>
                    <a:pt x="4953" y="62"/>
                    <a:pt x="4880" y="183"/>
                  </a:cubicBezTo>
                  <a:cubicBezTo>
                    <a:pt x="4878" y="189"/>
                    <a:pt x="4500" y="787"/>
                    <a:pt x="3625" y="787"/>
                  </a:cubicBezTo>
                  <a:cubicBezTo>
                    <a:pt x="2756" y="787"/>
                    <a:pt x="2384" y="205"/>
                    <a:pt x="2370" y="183"/>
                  </a:cubicBezTo>
                  <a:cubicBezTo>
                    <a:pt x="2298" y="62"/>
                    <a:pt x="2162" y="1"/>
                    <a:pt x="2026" y="1"/>
                  </a:cubicBezTo>
                  <a:cubicBezTo>
                    <a:pt x="1890" y="1"/>
                    <a:pt x="1754" y="62"/>
                    <a:pt x="1682" y="183"/>
                  </a:cubicBezTo>
                  <a:cubicBezTo>
                    <a:pt x="1679" y="189"/>
                    <a:pt x="1275" y="787"/>
                    <a:pt x="400" y="787"/>
                  </a:cubicBezTo>
                  <a:cubicBezTo>
                    <a:pt x="179" y="787"/>
                    <a:pt x="0" y="965"/>
                    <a:pt x="0" y="1187"/>
                  </a:cubicBezTo>
                  <a:lnTo>
                    <a:pt x="0" y="1986"/>
                  </a:lnTo>
                  <a:cubicBezTo>
                    <a:pt x="0" y="2207"/>
                    <a:pt x="179" y="2386"/>
                    <a:pt x="400" y="2386"/>
                  </a:cubicBezTo>
                  <a:lnTo>
                    <a:pt x="13246" y="2386"/>
                  </a:lnTo>
                  <a:cubicBezTo>
                    <a:pt x="13466" y="2386"/>
                    <a:pt x="13644" y="2207"/>
                    <a:pt x="13644" y="1986"/>
                  </a:cubicBezTo>
                  <a:lnTo>
                    <a:pt x="13644" y="1187"/>
                  </a:lnTo>
                  <a:cubicBezTo>
                    <a:pt x="13644" y="965"/>
                    <a:pt x="13466" y="787"/>
                    <a:pt x="13246" y="787"/>
                  </a:cubicBezTo>
                  <a:lnTo>
                    <a:pt x="13249" y="787"/>
                  </a:lnTo>
                  <a:cubicBezTo>
                    <a:pt x="12385" y="787"/>
                    <a:pt x="11985" y="212"/>
                    <a:pt x="11965" y="180"/>
                  </a:cubicBezTo>
                  <a:cubicBezTo>
                    <a:pt x="11893" y="60"/>
                    <a:pt x="11758" y="0"/>
                    <a:pt x="11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6062A6A3-7787-54E3-DA50-B95513355511}"/>
              </a:ext>
            </a:extLst>
          </p:cNvPr>
          <p:cNvGrpSpPr/>
          <p:nvPr/>
        </p:nvGrpSpPr>
        <p:grpSpPr>
          <a:xfrm>
            <a:off x="353582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98435DDD-183F-B1D4-B777-475D576BDBBB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D71D6A95-45B7-DC1F-9A78-E55EF0E3CB68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DF879211-0C61-C80E-D98E-ECCDAEB507F6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37">
            <a:extLst>
              <a:ext uri="{FF2B5EF4-FFF2-40B4-BE49-F238E27FC236}">
                <a16:creationId xmlns:a16="http://schemas.microsoft.com/office/drawing/2014/main" id="{3A96FE92-3231-6D3D-483E-006842000DB8}"/>
              </a:ext>
            </a:extLst>
          </p:cNvPr>
          <p:cNvGrpSpPr/>
          <p:nvPr/>
        </p:nvGrpSpPr>
        <p:grpSpPr>
          <a:xfrm>
            <a:off x="4627062" y="3592408"/>
            <a:ext cx="229317" cy="260946"/>
            <a:chOff x="4795200" y="3245250"/>
            <a:chExt cx="299800" cy="341150"/>
          </a:xfrm>
        </p:grpSpPr>
        <p:sp>
          <p:nvSpPr>
            <p:cNvPr id="360" name="Google Shape;360;p37">
              <a:extLst>
                <a:ext uri="{FF2B5EF4-FFF2-40B4-BE49-F238E27FC236}">
                  <a16:creationId xmlns:a16="http://schemas.microsoft.com/office/drawing/2014/main" id="{8A3C1332-8D18-5327-7315-C32554D0EA33}"/>
                </a:ext>
              </a:extLst>
            </p:cNvPr>
            <p:cNvSpPr/>
            <p:nvPr/>
          </p:nvSpPr>
          <p:spPr>
            <a:xfrm>
              <a:off x="4795200" y="3383575"/>
              <a:ext cx="299800" cy="202825"/>
            </a:xfrm>
            <a:custGeom>
              <a:avLst/>
              <a:gdLst/>
              <a:ahLst/>
              <a:cxnLst/>
              <a:rect l="l" t="t" r="r" b="b"/>
              <a:pathLst>
                <a:path w="11992" h="8113" extrusionOk="0">
                  <a:moveTo>
                    <a:pt x="5997" y="0"/>
                  </a:moveTo>
                  <a:lnTo>
                    <a:pt x="5196" y="560"/>
                  </a:lnTo>
                  <a:lnTo>
                    <a:pt x="5196" y="4888"/>
                  </a:lnTo>
                  <a:lnTo>
                    <a:pt x="3957" y="4888"/>
                  </a:lnTo>
                  <a:cubicBezTo>
                    <a:pt x="3766" y="3950"/>
                    <a:pt x="2940" y="3289"/>
                    <a:pt x="2002" y="3289"/>
                  </a:cubicBezTo>
                  <a:cubicBezTo>
                    <a:pt x="1934" y="3289"/>
                    <a:pt x="1867" y="3292"/>
                    <a:pt x="1799" y="3299"/>
                  </a:cubicBezTo>
                  <a:cubicBezTo>
                    <a:pt x="777" y="3403"/>
                    <a:pt x="0" y="4260"/>
                    <a:pt x="0" y="5287"/>
                  </a:cubicBezTo>
                  <a:lnTo>
                    <a:pt x="0" y="5288"/>
                  </a:lnTo>
                  <a:cubicBezTo>
                    <a:pt x="0" y="6313"/>
                    <a:pt x="777" y="7172"/>
                    <a:pt x="1799" y="7276"/>
                  </a:cubicBezTo>
                  <a:cubicBezTo>
                    <a:pt x="1867" y="7283"/>
                    <a:pt x="1934" y="7286"/>
                    <a:pt x="2002" y="7286"/>
                  </a:cubicBezTo>
                  <a:cubicBezTo>
                    <a:pt x="2940" y="7286"/>
                    <a:pt x="3766" y="6625"/>
                    <a:pt x="3957" y="5687"/>
                  </a:cubicBezTo>
                  <a:lnTo>
                    <a:pt x="5196" y="5687"/>
                  </a:lnTo>
                  <a:lnTo>
                    <a:pt x="5196" y="7713"/>
                  </a:lnTo>
                  <a:cubicBezTo>
                    <a:pt x="5196" y="7933"/>
                    <a:pt x="5375" y="8113"/>
                    <a:pt x="5596" y="8113"/>
                  </a:cubicBezTo>
                  <a:lnTo>
                    <a:pt x="6395" y="8113"/>
                  </a:lnTo>
                  <a:cubicBezTo>
                    <a:pt x="6617" y="8113"/>
                    <a:pt x="6796" y="7933"/>
                    <a:pt x="6796" y="7713"/>
                  </a:cubicBezTo>
                  <a:lnTo>
                    <a:pt x="6796" y="5687"/>
                  </a:lnTo>
                  <a:lnTo>
                    <a:pt x="8036" y="5687"/>
                  </a:lnTo>
                  <a:cubicBezTo>
                    <a:pt x="8226" y="6625"/>
                    <a:pt x="9052" y="7286"/>
                    <a:pt x="9991" y="7286"/>
                  </a:cubicBezTo>
                  <a:cubicBezTo>
                    <a:pt x="10059" y="7286"/>
                    <a:pt x="10126" y="7283"/>
                    <a:pt x="10195" y="7276"/>
                  </a:cubicBezTo>
                  <a:cubicBezTo>
                    <a:pt x="11215" y="7172"/>
                    <a:pt x="11992" y="6313"/>
                    <a:pt x="11992" y="5287"/>
                  </a:cubicBezTo>
                  <a:cubicBezTo>
                    <a:pt x="11992" y="4260"/>
                    <a:pt x="11215" y="3401"/>
                    <a:pt x="10195" y="3299"/>
                  </a:cubicBezTo>
                  <a:cubicBezTo>
                    <a:pt x="10126" y="3292"/>
                    <a:pt x="10059" y="3289"/>
                    <a:pt x="9991" y="3289"/>
                  </a:cubicBezTo>
                  <a:cubicBezTo>
                    <a:pt x="9052" y="3289"/>
                    <a:pt x="8226" y="3950"/>
                    <a:pt x="8036" y="4888"/>
                  </a:cubicBezTo>
                  <a:lnTo>
                    <a:pt x="6796" y="4888"/>
                  </a:lnTo>
                  <a:lnTo>
                    <a:pt x="6796" y="560"/>
                  </a:lnTo>
                  <a:lnTo>
                    <a:pt x="59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>
              <a:extLst>
                <a:ext uri="{FF2B5EF4-FFF2-40B4-BE49-F238E27FC236}">
                  <a16:creationId xmlns:a16="http://schemas.microsoft.com/office/drawing/2014/main" id="{D1962232-B83F-5711-FC59-78C8F2CDC2E0}"/>
                </a:ext>
              </a:extLst>
            </p:cNvPr>
            <p:cNvSpPr/>
            <p:nvPr/>
          </p:nvSpPr>
          <p:spPr>
            <a:xfrm>
              <a:off x="4831225" y="3250175"/>
              <a:ext cx="227725" cy="169200"/>
            </a:xfrm>
            <a:custGeom>
              <a:avLst/>
              <a:gdLst/>
              <a:ahLst/>
              <a:cxnLst/>
              <a:rect l="l" t="t" r="r" b="b"/>
              <a:pathLst>
                <a:path w="9109" h="6768" extrusionOk="0">
                  <a:moveTo>
                    <a:pt x="993" y="0"/>
                  </a:moveTo>
                  <a:cubicBezTo>
                    <a:pt x="968" y="0"/>
                    <a:pt x="944" y="3"/>
                    <a:pt x="920" y="7"/>
                  </a:cubicBezTo>
                  <a:lnTo>
                    <a:pt x="364" y="105"/>
                  </a:lnTo>
                  <a:cubicBezTo>
                    <a:pt x="145" y="143"/>
                    <a:pt x="0" y="351"/>
                    <a:pt x="39" y="568"/>
                  </a:cubicBezTo>
                  <a:lnTo>
                    <a:pt x="138" y="1125"/>
                  </a:lnTo>
                  <a:cubicBezTo>
                    <a:pt x="155" y="1230"/>
                    <a:pt x="214" y="1323"/>
                    <a:pt x="302" y="1384"/>
                  </a:cubicBezTo>
                  <a:lnTo>
                    <a:pt x="7890" y="6696"/>
                  </a:lnTo>
                  <a:cubicBezTo>
                    <a:pt x="7956" y="6743"/>
                    <a:pt x="8035" y="6768"/>
                    <a:pt x="8116" y="6768"/>
                  </a:cubicBezTo>
                  <a:cubicBezTo>
                    <a:pt x="8140" y="6768"/>
                    <a:pt x="8164" y="6766"/>
                    <a:pt x="8188" y="6761"/>
                  </a:cubicBezTo>
                  <a:lnTo>
                    <a:pt x="8745" y="6664"/>
                  </a:lnTo>
                  <a:cubicBezTo>
                    <a:pt x="8962" y="6626"/>
                    <a:pt x="9108" y="6417"/>
                    <a:pt x="9068" y="6200"/>
                  </a:cubicBezTo>
                  <a:lnTo>
                    <a:pt x="8971" y="5645"/>
                  </a:lnTo>
                  <a:cubicBezTo>
                    <a:pt x="8953" y="5540"/>
                    <a:pt x="8894" y="5447"/>
                    <a:pt x="8807" y="5387"/>
                  </a:cubicBezTo>
                  <a:lnTo>
                    <a:pt x="1218" y="72"/>
                  </a:lnTo>
                  <a:cubicBezTo>
                    <a:pt x="1152" y="26"/>
                    <a:pt x="1072" y="0"/>
                    <a:pt x="9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>
              <a:extLst>
                <a:ext uri="{FF2B5EF4-FFF2-40B4-BE49-F238E27FC236}">
                  <a16:creationId xmlns:a16="http://schemas.microsoft.com/office/drawing/2014/main" id="{B1B4E2E5-CAC6-92DD-7BDB-3E4A7EA43D02}"/>
                </a:ext>
              </a:extLst>
            </p:cNvPr>
            <p:cNvSpPr/>
            <p:nvPr/>
          </p:nvSpPr>
          <p:spPr>
            <a:xfrm>
              <a:off x="4925100" y="3245250"/>
              <a:ext cx="40000" cy="40750"/>
            </a:xfrm>
            <a:custGeom>
              <a:avLst/>
              <a:gdLst/>
              <a:ahLst/>
              <a:cxnLst/>
              <a:rect l="l" t="t" r="r" b="b"/>
              <a:pathLst>
                <a:path w="1600" h="1630" extrusionOk="0">
                  <a:moveTo>
                    <a:pt x="400" y="1"/>
                  </a:moveTo>
                  <a:cubicBezTo>
                    <a:pt x="179" y="1"/>
                    <a:pt x="0" y="179"/>
                    <a:pt x="0" y="401"/>
                  </a:cubicBezTo>
                  <a:lnTo>
                    <a:pt x="0" y="1070"/>
                  </a:lnTo>
                  <a:lnTo>
                    <a:pt x="801" y="1629"/>
                  </a:lnTo>
                  <a:lnTo>
                    <a:pt x="1600" y="1070"/>
                  </a:lnTo>
                  <a:lnTo>
                    <a:pt x="1600" y="401"/>
                  </a:lnTo>
                  <a:cubicBezTo>
                    <a:pt x="1600" y="179"/>
                    <a:pt x="1421" y="1"/>
                    <a:pt x="1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7">
              <a:extLst>
                <a:ext uri="{FF2B5EF4-FFF2-40B4-BE49-F238E27FC236}">
                  <a16:creationId xmlns:a16="http://schemas.microsoft.com/office/drawing/2014/main" id="{8BDCC372-7685-43BE-4A57-8CDD24E8D55E}"/>
                </a:ext>
              </a:extLst>
            </p:cNvPr>
            <p:cNvSpPr/>
            <p:nvPr/>
          </p:nvSpPr>
          <p:spPr>
            <a:xfrm>
              <a:off x="4962500" y="3250175"/>
              <a:ext cx="96400" cy="72450"/>
            </a:xfrm>
            <a:custGeom>
              <a:avLst/>
              <a:gdLst/>
              <a:ahLst/>
              <a:cxnLst/>
              <a:rect l="l" t="t" r="r" b="b"/>
              <a:pathLst>
                <a:path w="3856" h="2898" extrusionOk="0">
                  <a:moveTo>
                    <a:pt x="2866" y="1"/>
                  </a:moveTo>
                  <a:cubicBezTo>
                    <a:pt x="2785" y="1"/>
                    <a:pt x="2705" y="26"/>
                    <a:pt x="2639" y="74"/>
                  </a:cubicBezTo>
                  <a:lnTo>
                    <a:pt x="0" y="1921"/>
                  </a:lnTo>
                  <a:lnTo>
                    <a:pt x="1394" y="2897"/>
                  </a:lnTo>
                  <a:lnTo>
                    <a:pt x="3556" y="1384"/>
                  </a:lnTo>
                  <a:cubicBezTo>
                    <a:pt x="3643" y="1323"/>
                    <a:pt x="3702" y="1230"/>
                    <a:pt x="3720" y="1125"/>
                  </a:cubicBezTo>
                  <a:lnTo>
                    <a:pt x="3817" y="568"/>
                  </a:lnTo>
                  <a:cubicBezTo>
                    <a:pt x="3856" y="351"/>
                    <a:pt x="3711" y="143"/>
                    <a:pt x="3494" y="106"/>
                  </a:cubicBezTo>
                  <a:lnTo>
                    <a:pt x="2937" y="7"/>
                  </a:lnTo>
                  <a:cubicBezTo>
                    <a:pt x="2913" y="3"/>
                    <a:pt x="2889" y="1"/>
                    <a:pt x="28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7">
              <a:extLst>
                <a:ext uri="{FF2B5EF4-FFF2-40B4-BE49-F238E27FC236}">
                  <a16:creationId xmlns:a16="http://schemas.microsoft.com/office/drawing/2014/main" id="{5F74B2CF-0AB6-C249-D426-70B4538E02C5}"/>
                </a:ext>
              </a:extLst>
            </p:cNvPr>
            <p:cNvSpPr/>
            <p:nvPr/>
          </p:nvSpPr>
          <p:spPr>
            <a:xfrm>
              <a:off x="4831225" y="3347000"/>
              <a:ext cx="96450" cy="72375"/>
            </a:xfrm>
            <a:custGeom>
              <a:avLst/>
              <a:gdLst/>
              <a:ahLst/>
              <a:cxnLst/>
              <a:rect l="l" t="t" r="r" b="b"/>
              <a:pathLst>
                <a:path w="3858" h="2895" extrusionOk="0">
                  <a:moveTo>
                    <a:pt x="2463" y="0"/>
                  </a:moveTo>
                  <a:lnTo>
                    <a:pt x="302" y="1514"/>
                  </a:lnTo>
                  <a:cubicBezTo>
                    <a:pt x="214" y="1574"/>
                    <a:pt x="155" y="1667"/>
                    <a:pt x="138" y="1772"/>
                  </a:cubicBezTo>
                  <a:lnTo>
                    <a:pt x="39" y="2327"/>
                  </a:lnTo>
                  <a:cubicBezTo>
                    <a:pt x="0" y="2544"/>
                    <a:pt x="145" y="2753"/>
                    <a:pt x="364" y="2791"/>
                  </a:cubicBezTo>
                  <a:lnTo>
                    <a:pt x="920" y="2888"/>
                  </a:lnTo>
                  <a:cubicBezTo>
                    <a:pt x="944" y="2893"/>
                    <a:pt x="968" y="2895"/>
                    <a:pt x="991" y="2895"/>
                  </a:cubicBezTo>
                  <a:cubicBezTo>
                    <a:pt x="1072" y="2895"/>
                    <a:pt x="1151" y="2870"/>
                    <a:pt x="1218" y="2823"/>
                  </a:cubicBezTo>
                  <a:lnTo>
                    <a:pt x="3857" y="976"/>
                  </a:lnTo>
                  <a:lnTo>
                    <a:pt x="2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00797F0A-6BA4-FBC1-0824-E4EB6E84F70F}"/>
              </a:ext>
            </a:extLst>
          </p:cNvPr>
          <p:cNvGrpSpPr/>
          <p:nvPr/>
        </p:nvGrpSpPr>
        <p:grpSpPr>
          <a:xfrm>
            <a:off x="357612" y="3595399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DE1B4B62-C357-4A3D-9761-BFCA461C41DD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69C411E-4079-F20A-8EEC-26E348C00D7E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92D241AA-DEC4-3000-F603-085BF226DF5D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DE62D170-5F83-47B5-E00E-57F973A6DCE8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95005251-BCE4-4F18-2FAA-29F785EBE6D7}"/>
              </a:ext>
            </a:extLst>
          </p:cNvPr>
          <p:cNvGrpSpPr/>
          <p:nvPr/>
        </p:nvGrpSpPr>
        <p:grpSpPr>
          <a:xfrm>
            <a:off x="357620" y="2420402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3A020ADB-7F40-8522-765D-B7D83B6CF545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1D4B7D6E-C791-705E-9775-AAFE99CB5412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BBDA33A1-12CD-CED3-5447-7F431A6E8AF9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720D50A6-EB3B-CD0B-D77D-61F9B664DE4C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7C054255-013C-D526-7DB4-CC6F5215233E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AB5A3FF9-EA98-A17E-98B0-9ED2FFFEA9CF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C98F938-8E1B-6CAE-0920-42A02750353A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501C4F2D-76E7-C7EC-BCF5-57FA6F2BAD5B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A4EF0740-82ED-94CF-2689-CBD1E818E97F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88B3B6FE-E338-C944-BF22-04ED1AC815E3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D69CB50-DB10-1EA6-DBCF-F26C8DCDD6EB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8735919B-6399-1B08-A21D-D91C068F7CE3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36049CDF-6A0B-0EEC-F5EA-C0A0166E58F3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37">
            <a:extLst>
              <a:ext uri="{FF2B5EF4-FFF2-40B4-BE49-F238E27FC236}">
                <a16:creationId xmlns:a16="http://schemas.microsoft.com/office/drawing/2014/main" id="{9445C751-3106-20CE-C448-FE3AD4889784}"/>
              </a:ext>
            </a:extLst>
          </p:cNvPr>
          <p:cNvGrpSpPr/>
          <p:nvPr/>
        </p:nvGrpSpPr>
        <p:grpSpPr>
          <a:xfrm>
            <a:off x="4606413" y="1280301"/>
            <a:ext cx="306330" cy="179550"/>
            <a:chOff x="4008150" y="2769150"/>
            <a:chExt cx="341125" cy="199900"/>
          </a:xfrm>
        </p:grpSpPr>
        <p:sp>
          <p:nvSpPr>
            <p:cNvPr id="385" name="Google Shape;385;p37">
              <a:extLst>
                <a:ext uri="{FF2B5EF4-FFF2-40B4-BE49-F238E27FC236}">
                  <a16:creationId xmlns:a16="http://schemas.microsoft.com/office/drawing/2014/main" id="{445DA67A-4538-2B03-24B0-D30D0FE9C9B6}"/>
                </a:ext>
              </a:extLst>
            </p:cNvPr>
            <p:cNvSpPr/>
            <p:nvPr/>
          </p:nvSpPr>
          <p:spPr>
            <a:xfrm>
              <a:off x="4078775" y="2829150"/>
              <a:ext cx="20025" cy="20000"/>
            </a:xfrm>
            <a:custGeom>
              <a:avLst/>
              <a:gdLst/>
              <a:ahLst/>
              <a:cxnLst/>
              <a:rect l="l" t="t" r="r" b="b"/>
              <a:pathLst>
                <a:path w="801" h="800" extrusionOk="0">
                  <a:moveTo>
                    <a:pt x="400" y="0"/>
                  </a:moveTo>
                  <a:cubicBezTo>
                    <a:pt x="179" y="0"/>
                    <a:pt x="0" y="179"/>
                    <a:pt x="0" y="399"/>
                  </a:cubicBezTo>
                  <a:lnTo>
                    <a:pt x="0" y="799"/>
                  </a:lnTo>
                  <a:lnTo>
                    <a:pt x="801" y="799"/>
                  </a:lnTo>
                  <a:lnTo>
                    <a:pt x="8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7">
              <a:extLst>
                <a:ext uri="{FF2B5EF4-FFF2-40B4-BE49-F238E27FC236}">
                  <a16:creationId xmlns:a16="http://schemas.microsoft.com/office/drawing/2014/main" id="{90A59402-4375-BC9F-2E8B-24C91E0E74BE}"/>
                </a:ext>
              </a:extLst>
            </p:cNvPr>
            <p:cNvSpPr/>
            <p:nvPr/>
          </p:nvSpPr>
          <p:spPr>
            <a:xfrm>
              <a:off x="4118750" y="28291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0" y="0"/>
                  </a:moveTo>
                  <a:lnTo>
                    <a:pt x="0" y="799"/>
                  </a:lnTo>
                  <a:lnTo>
                    <a:pt x="799" y="799"/>
                  </a:lnTo>
                  <a:lnTo>
                    <a:pt x="799" y="399"/>
                  </a:lnTo>
                  <a:cubicBezTo>
                    <a:pt x="799" y="179"/>
                    <a:pt x="621" y="0"/>
                    <a:pt x="4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7">
              <a:extLst>
                <a:ext uri="{FF2B5EF4-FFF2-40B4-BE49-F238E27FC236}">
                  <a16:creationId xmlns:a16="http://schemas.microsoft.com/office/drawing/2014/main" id="{53330081-683E-3194-0087-D671EC2C75B0}"/>
                </a:ext>
              </a:extLst>
            </p:cNvPr>
            <p:cNvSpPr/>
            <p:nvPr/>
          </p:nvSpPr>
          <p:spPr>
            <a:xfrm>
              <a:off x="4078775" y="2869075"/>
              <a:ext cx="59975" cy="20000"/>
            </a:xfrm>
            <a:custGeom>
              <a:avLst/>
              <a:gdLst/>
              <a:ahLst/>
              <a:cxnLst/>
              <a:rect l="l" t="t" r="r" b="b"/>
              <a:pathLst>
                <a:path w="2399" h="800" extrusionOk="0">
                  <a:moveTo>
                    <a:pt x="0" y="1"/>
                  </a:moveTo>
                  <a:lnTo>
                    <a:pt x="0" y="800"/>
                  </a:lnTo>
                  <a:lnTo>
                    <a:pt x="2398" y="800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7">
              <a:extLst>
                <a:ext uri="{FF2B5EF4-FFF2-40B4-BE49-F238E27FC236}">
                  <a16:creationId xmlns:a16="http://schemas.microsoft.com/office/drawing/2014/main" id="{F4FBCE48-D145-B1EB-B2FF-A673C62142BA}"/>
                </a:ext>
              </a:extLst>
            </p:cNvPr>
            <p:cNvSpPr/>
            <p:nvPr/>
          </p:nvSpPr>
          <p:spPr>
            <a:xfrm>
              <a:off x="4008150" y="2769150"/>
              <a:ext cx="341125" cy="199900"/>
            </a:xfrm>
            <a:custGeom>
              <a:avLst/>
              <a:gdLst/>
              <a:ahLst/>
              <a:cxnLst/>
              <a:rect l="l" t="t" r="r" b="b"/>
              <a:pathLst>
                <a:path w="13645" h="7996" extrusionOk="0">
                  <a:moveTo>
                    <a:pt x="10409" y="1600"/>
                  </a:moveTo>
                  <a:cubicBezTo>
                    <a:pt x="10412" y="1600"/>
                    <a:pt x="10416" y="1600"/>
                    <a:pt x="10420" y="1600"/>
                  </a:cubicBezTo>
                  <a:lnTo>
                    <a:pt x="12019" y="1600"/>
                  </a:lnTo>
                  <a:cubicBezTo>
                    <a:pt x="12236" y="1604"/>
                    <a:pt x="12410" y="1782"/>
                    <a:pt x="12410" y="1999"/>
                  </a:cubicBezTo>
                  <a:cubicBezTo>
                    <a:pt x="12410" y="2217"/>
                    <a:pt x="12236" y="2394"/>
                    <a:pt x="12019" y="2399"/>
                  </a:cubicBezTo>
                  <a:lnTo>
                    <a:pt x="10420" y="2399"/>
                  </a:lnTo>
                  <a:cubicBezTo>
                    <a:pt x="10417" y="2399"/>
                    <a:pt x="10414" y="2399"/>
                    <a:pt x="10411" y="2399"/>
                  </a:cubicBezTo>
                  <a:cubicBezTo>
                    <a:pt x="10191" y="2399"/>
                    <a:pt x="10012" y="2220"/>
                    <a:pt x="10012" y="1999"/>
                  </a:cubicBezTo>
                  <a:cubicBezTo>
                    <a:pt x="10012" y="1779"/>
                    <a:pt x="10189" y="1600"/>
                    <a:pt x="10409" y="1600"/>
                  </a:cubicBezTo>
                  <a:close/>
                  <a:moveTo>
                    <a:pt x="10409" y="3199"/>
                  </a:moveTo>
                  <a:cubicBezTo>
                    <a:pt x="10412" y="3199"/>
                    <a:pt x="10416" y="3199"/>
                    <a:pt x="10420" y="3199"/>
                  </a:cubicBezTo>
                  <a:lnTo>
                    <a:pt x="12019" y="3199"/>
                  </a:lnTo>
                  <a:cubicBezTo>
                    <a:pt x="12236" y="3203"/>
                    <a:pt x="12410" y="3381"/>
                    <a:pt x="12410" y="3598"/>
                  </a:cubicBezTo>
                  <a:cubicBezTo>
                    <a:pt x="12410" y="3816"/>
                    <a:pt x="12236" y="3993"/>
                    <a:pt x="12019" y="3998"/>
                  </a:cubicBezTo>
                  <a:lnTo>
                    <a:pt x="10420" y="3998"/>
                  </a:lnTo>
                  <a:cubicBezTo>
                    <a:pt x="10417" y="3998"/>
                    <a:pt x="10414" y="3998"/>
                    <a:pt x="10411" y="3998"/>
                  </a:cubicBezTo>
                  <a:cubicBezTo>
                    <a:pt x="10191" y="3998"/>
                    <a:pt x="10012" y="3819"/>
                    <a:pt x="10012" y="3598"/>
                  </a:cubicBezTo>
                  <a:cubicBezTo>
                    <a:pt x="10012" y="3378"/>
                    <a:pt x="10189" y="3199"/>
                    <a:pt x="10409" y="3199"/>
                  </a:cubicBezTo>
                  <a:close/>
                  <a:moveTo>
                    <a:pt x="8421" y="3198"/>
                  </a:moveTo>
                  <a:cubicBezTo>
                    <a:pt x="8639" y="3198"/>
                    <a:pt x="8822" y="3375"/>
                    <a:pt x="8822" y="3598"/>
                  </a:cubicBezTo>
                  <a:lnTo>
                    <a:pt x="8822" y="4398"/>
                  </a:lnTo>
                  <a:cubicBezTo>
                    <a:pt x="8822" y="4621"/>
                    <a:pt x="8639" y="4798"/>
                    <a:pt x="8421" y="4798"/>
                  </a:cubicBezTo>
                  <a:cubicBezTo>
                    <a:pt x="8406" y="4798"/>
                    <a:pt x="8391" y="4797"/>
                    <a:pt x="8376" y="4795"/>
                  </a:cubicBezTo>
                  <a:cubicBezTo>
                    <a:pt x="8172" y="4773"/>
                    <a:pt x="8022" y="4591"/>
                    <a:pt x="8022" y="4388"/>
                  </a:cubicBezTo>
                  <a:lnTo>
                    <a:pt x="8022" y="3608"/>
                  </a:lnTo>
                  <a:cubicBezTo>
                    <a:pt x="8022" y="3403"/>
                    <a:pt x="8172" y="3223"/>
                    <a:pt x="8376" y="3201"/>
                  </a:cubicBezTo>
                  <a:cubicBezTo>
                    <a:pt x="8391" y="3199"/>
                    <a:pt x="8406" y="3198"/>
                    <a:pt x="8421" y="3198"/>
                  </a:cubicBezTo>
                  <a:close/>
                  <a:moveTo>
                    <a:pt x="10411" y="5597"/>
                  </a:moveTo>
                  <a:cubicBezTo>
                    <a:pt x="10414" y="5597"/>
                    <a:pt x="10417" y="5597"/>
                    <a:pt x="10420" y="5597"/>
                  </a:cubicBezTo>
                  <a:lnTo>
                    <a:pt x="12019" y="5597"/>
                  </a:lnTo>
                  <a:cubicBezTo>
                    <a:pt x="12236" y="5602"/>
                    <a:pt x="12410" y="5779"/>
                    <a:pt x="12410" y="5997"/>
                  </a:cubicBezTo>
                  <a:cubicBezTo>
                    <a:pt x="12410" y="6214"/>
                    <a:pt x="12236" y="6391"/>
                    <a:pt x="12019" y="6396"/>
                  </a:cubicBezTo>
                  <a:lnTo>
                    <a:pt x="10420" y="6396"/>
                  </a:lnTo>
                  <a:cubicBezTo>
                    <a:pt x="10416" y="6396"/>
                    <a:pt x="10412" y="6396"/>
                    <a:pt x="10409" y="6396"/>
                  </a:cubicBezTo>
                  <a:cubicBezTo>
                    <a:pt x="10189" y="6396"/>
                    <a:pt x="10012" y="6217"/>
                    <a:pt x="10012" y="5997"/>
                  </a:cubicBezTo>
                  <a:cubicBezTo>
                    <a:pt x="10012" y="5775"/>
                    <a:pt x="10191" y="5597"/>
                    <a:pt x="10411" y="5597"/>
                  </a:cubicBezTo>
                  <a:close/>
                  <a:moveTo>
                    <a:pt x="5223" y="1600"/>
                  </a:moveTo>
                  <a:cubicBezTo>
                    <a:pt x="5665" y="1600"/>
                    <a:pt x="6024" y="1959"/>
                    <a:pt x="6024" y="2400"/>
                  </a:cubicBezTo>
                  <a:lnTo>
                    <a:pt x="6024" y="5330"/>
                  </a:lnTo>
                  <a:cubicBezTo>
                    <a:pt x="6024" y="5477"/>
                    <a:pt x="5904" y="5597"/>
                    <a:pt x="5756" y="5597"/>
                  </a:cubicBezTo>
                  <a:lnTo>
                    <a:pt x="5223" y="5597"/>
                  </a:lnTo>
                  <a:lnTo>
                    <a:pt x="5223" y="5987"/>
                  </a:lnTo>
                  <a:cubicBezTo>
                    <a:pt x="5223" y="6192"/>
                    <a:pt x="5073" y="6372"/>
                    <a:pt x="4869" y="6394"/>
                  </a:cubicBezTo>
                  <a:cubicBezTo>
                    <a:pt x="4854" y="6396"/>
                    <a:pt x="4839" y="6397"/>
                    <a:pt x="4824" y="6397"/>
                  </a:cubicBezTo>
                  <a:cubicBezTo>
                    <a:pt x="4607" y="6397"/>
                    <a:pt x="4424" y="6220"/>
                    <a:pt x="4424" y="5997"/>
                  </a:cubicBezTo>
                  <a:lnTo>
                    <a:pt x="4424" y="5597"/>
                  </a:lnTo>
                  <a:lnTo>
                    <a:pt x="3624" y="5597"/>
                  </a:lnTo>
                  <a:lnTo>
                    <a:pt x="3624" y="5987"/>
                  </a:lnTo>
                  <a:cubicBezTo>
                    <a:pt x="3624" y="6192"/>
                    <a:pt x="3474" y="6372"/>
                    <a:pt x="3270" y="6394"/>
                  </a:cubicBezTo>
                  <a:cubicBezTo>
                    <a:pt x="3255" y="6396"/>
                    <a:pt x="3240" y="6397"/>
                    <a:pt x="3225" y="6397"/>
                  </a:cubicBezTo>
                  <a:cubicBezTo>
                    <a:pt x="3008" y="6397"/>
                    <a:pt x="2825" y="6220"/>
                    <a:pt x="2825" y="5997"/>
                  </a:cubicBezTo>
                  <a:lnTo>
                    <a:pt x="2825" y="5597"/>
                  </a:lnTo>
                  <a:lnTo>
                    <a:pt x="2292" y="5597"/>
                  </a:lnTo>
                  <a:cubicBezTo>
                    <a:pt x="2146" y="5597"/>
                    <a:pt x="2026" y="5477"/>
                    <a:pt x="2026" y="5330"/>
                  </a:cubicBezTo>
                  <a:lnTo>
                    <a:pt x="2026" y="2400"/>
                  </a:lnTo>
                  <a:cubicBezTo>
                    <a:pt x="2026" y="1959"/>
                    <a:pt x="2384" y="1600"/>
                    <a:pt x="2825" y="1600"/>
                  </a:cubicBezTo>
                  <a:close/>
                  <a:moveTo>
                    <a:pt x="401" y="1"/>
                  </a:moveTo>
                  <a:cubicBezTo>
                    <a:pt x="179" y="1"/>
                    <a:pt x="1" y="179"/>
                    <a:pt x="1" y="399"/>
                  </a:cubicBezTo>
                  <a:lnTo>
                    <a:pt x="1" y="7595"/>
                  </a:lnTo>
                  <a:cubicBezTo>
                    <a:pt x="1" y="7816"/>
                    <a:pt x="179" y="7995"/>
                    <a:pt x="401" y="7995"/>
                  </a:cubicBezTo>
                  <a:lnTo>
                    <a:pt x="7623" y="7995"/>
                  </a:lnTo>
                  <a:cubicBezTo>
                    <a:pt x="7843" y="7995"/>
                    <a:pt x="8022" y="7816"/>
                    <a:pt x="8022" y="7595"/>
                  </a:cubicBezTo>
                  <a:lnTo>
                    <a:pt x="8022" y="6008"/>
                  </a:lnTo>
                  <a:cubicBezTo>
                    <a:pt x="8022" y="5802"/>
                    <a:pt x="8172" y="5622"/>
                    <a:pt x="8376" y="5600"/>
                  </a:cubicBezTo>
                  <a:cubicBezTo>
                    <a:pt x="8392" y="5598"/>
                    <a:pt x="8408" y="5597"/>
                    <a:pt x="8423" y="5597"/>
                  </a:cubicBezTo>
                  <a:cubicBezTo>
                    <a:pt x="8641" y="5597"/>
                    <a:pt x="8822" y="5774"/>
                    <a:pt x="8822" y="5997"/>
                  </a:cubicBezTo>
                  <a:lnTo>
                    <a:pt x="8822" y="7595"/>
                  </a:lnTo>
                  <a:cubicBezTo>
                    <a:pt x="8822" y="7816"/>
                    <a:pt x="9001" y="7995"/>
                    <a:pt x="9221" y="7995"/>
                  </a:cubicBezTo>
                  <a:lnTo>
                    <a:pt x="13244" y="7995"/>
                  </a:lnTo>
                  <a:cubicBezTo>
                    <a:pt x="13466" y="7995"/>
                    <a:pt x="13645" y="7816"/>
                    <a:pt x="13645" y="7595"/>
                  </a:cubicBezTo>
                  <a:lnTo>
                    <a:pt x="13645" y="401"/>
                  </a:lnTo>
                  <a:cubicBezTo>
                    <a:pt x="13645" y="179"/>
                    <a:pt x="13466" y="1"/>
                    <a:pt x="13246" y="1"/>
                  </a:cubicBezTo>
                  <a:lnTo>
                    <a:pt x="9222" y="1"/>
                  </a:lnTo>
                  <a:cubicBezTo>
                    <a:pt x="9001" y="1"/>
                    <a:pt x="8822" y="179"/>
                    <a:pt x="8822" y="399"/>
                  </a:cubicBezTo>
                  <a:lnTo>
                    <a:pt x="8822" y="1988"/>
                  </a:lnTo>
                  <a:cubicBezTo>
                    <a:pt x="8822" y="2193"/>
                    <a:pt x="8671" y="2374"/>
                    <a:pt x="8467" y="2396"/>
                  </a:cubicBezTo>
                  <a:cubicBezTo>
                    <a:pt x="8452" y="2397"/>
                    <a:pt x="8437" y="2398"/>
                    <a:pt x="8422" y="2398"/>
                  </a:cubicBezTo>
                  <a:cubicBezTo>
                    <a:pt x="8204" y="2398"/>
                    <a:pt x="8022" y="2222"/>
                    <a:pt x="8022" y="1999"/>
                  </a:cubicBezTo>
                  <a:lnTo>
                    <a:pt x="8022" y="399"/>
                  </a:lnTo>
                  <a:cubicBezTo>
                    <a:pt x="8022" y="179"/>
                    <a:pt x="7843" y="1"/>
                    <a:pt x="7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69544336-ED4B-60B3-A11D-5B19EB299EA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Notable Explanatory Data Analysis</a:t>
            </a:r>
          </a:p>
        </p:txBody>
      </p:sp>
    </p:spTree>
    <p:extLst>
      <p:ext uri="{BB962C8B-B14F-4D97-AF65-F5344CB8AC3E}">
        <p14:creationId xmlns:p14="http://schemas.microsoft.com/office/powerpoint/2010/main" val="1330577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DE6B6272-D40B-261B-96C9-20A68A853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6C97328-0610-A25E-0E8E-A3FC967435C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34A48047-B21B-38DB-20AF-E1A4C475F3B5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DA68621E-2977-EB37-31BF-B20CBE8BD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Benchmark &amp; Evaluation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F72DFB39-CC5C-645B-1922-6784B0E13F1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05b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3AA6420B-B869-7FC4-DE23-21EC50F9C166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2225685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>
          <a:extLst>
            <a:ext uri="{FF2B5EF4-FFF2-40B4-BE49-F238E27FC236}">
              <a16:creationId xmlns:a16="http://schemas.microsoft.com/office/drawing/2014/main" id="{C74B228B-07AF-CAD7-0696-1101AA84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>
            <a:extLst>
              <a:ext uri="{FF2B5EF4-FFF2-40B4-BE49-F238E27FC236}">
                <a16:creationId xmlns:a16="http://schemas.microsoft.com/office/drawing/2014/main" id="{906866BE-070C-5F73-F687-9BE53E3580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460067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MY" sz="3200" dirty="0">
                <a:solidFill>
                  <a:schemeClr val="accent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Baseline LSTM</a:t>
            </a:r>
            <a:endParaRPr sz="3200" dirty="0">
              <a:solidFill>
                <a:schemeClr val="accent2">
                  <a:lumMod val="40000"/>
                  <a:lumOff val="60000"/>
                </a:schemeClr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7EE6A75D-B95B-B608-7113-81F30385CB16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B2557BF-88D8-F26D-CA6F-03492FC313C5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C6790051-C626-6D94-5193-67F6CD7BEAD2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937D76C7-BCAB-ED6A-B0D4-07DDE6E7D0F1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66CCA420-B715-4DA7-2E87-6D4D43187EC4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8668AB5E-77C5-77B3-1306-9BEAA201361B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12AE1FEB-A981-1AED-3F06-8283F1BC0FA0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BFDABD3A-6F87-4F25-E153-C9A0E0F4B21E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BD01DED9-44E7-D84B-1690-3A5D9B9543ED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62B8B5FE-EDBE-B173-C077-C8F6F9A58B04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A70EDB36-B079-6032-0F5D-53AC706DEE98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8F07FA59-7633-A7F4-0715-5334C4DF6118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FBBCA8D6-9DA7-24DC-800E-8482945CDA0A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1C871992-6907-0176-88F6-5AF1E4DA81F0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A2F06E80-7FED-E5F0-4896-BED7EF7EA7B8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1BEEDCDE-B11E-CA37-1A0F-D41FB4887436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2404D3BE-71AF-3020-E079-32A1765B62D0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C22EF2A3-E47A-7BC8-EA25-CD57855AE266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D8121999-AFC9-F526-929E-14883A81188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D50A2A0A-40C5-DD5D-BECC-E7B234AA2CC7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79D7E41-B3C8-55AB-D056-11543CABC191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9BC8BFCA-48F3-6A23-295E-0C4D069F2F7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726239E1-747F-E597-CDA1-533F071DBD21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0C3240FD-3EB1-88C8-F3A4-3BDCA8D01789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89D9B5BD-93B4-804B-5185-B6864CB2BE86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332965CB-F418-70FA-6D79-BD7BF8FBFB90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ED6DD4AC-41A2-F73F-2768-F0E9AF515D91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8B036C31-620E-830E-F04B-A6F2DEEB6360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1776B727-FB1D-E44A-5FBD-78CC89F9BC6C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ACDBC73A-E348-6F9D-2713-731262D722BD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611BA72B-B9B9-6DA6-4257-BBC587D0965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DA53047E-14B4-CE88-FA75-99CAA409818F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42A3B8B8-CF89-882C-F2DD-220CB4F7E2DF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81095015-B20C-0902-44D5-42909813F1EF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E64FDE-07D7-7052-916A-510F8D2B922C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D3E5D289-70B6-C4C5-9C1D-BAEFCFBF0F55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E0396855-623E-E4BB-79DA-0533160D1F48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15A8369F-73BA-1AB0-E50C-E9A2E7860D5B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33CA143C-6093-73F1-380B-F216596F0CA1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E729AABE-4614-76C1-0CBC-77A323910292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332CDBB3-3C0B-8F91-D971-974E2CC3D5E5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FF24533C-0EDA-0EA7-DE1E-5C1822B74BA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D25E3D89-0A68-386E-4BD0-1FB4448712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78C62243-C234-392F-9430-A6716F951D63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07032BE3-7829-937A-65B1-857325D2E143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019E5D6D-5449-696C-F044-AFC5196340DC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670CB399-80DA-B660-79E0-790C3FAB9B03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5CC8CB3B-8CBE-BE0B-A8D7-3871470002BE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6BE89F4C-340B-BD7A-2ADA-754F1F14CD81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5548442A-F6CB-4060-476F-7F8A285F66EA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13D467FE-A274-F69C-49E5-CAEB25E40CD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06922513-6DFD-CD7A-63A1-E6268549EC79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F3B6E978-E0B4-B470-2C9E-3E8CA68988D7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86036A38-28BA-1E19-239C-C7B66A5B2B04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B5D6750-D733-38AF-3430-0C7FFB986149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6259E029-89FE-7489-4255-98082FF065E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31E617AD-3A0E-51D4-291F-E59250E8B89C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76C966F9-C254-2458-2FD6-2BA593892617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EECB5221-74C3-9A6C-2479-4D5DE82A37AB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574678AB-44D5-757D-6D9D-B1CDA994EE3E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7D70ACB1-0DC3-5F47-9F6F-E9B17C195C29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53A971E5-EFCF-4AA7-B4FB-C728E1303407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D1B4AF35-7B29-C863-CE95-9B1655ECD338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9215315-87AF-C861-0EB5-90597834CDE6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73C3CFCE-4A12-E58F-E231-1AAE6E6FD7C7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3A45929C-E8C5-EDCE-E7A5-2483502A01DD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C8C41584-29FC-527D-33D3-B8B82B929F6C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18F5B71A-2D42-AC7A-2FB6-7A1D201B8B1E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B561D68D-B11F-8CD3-D425-A5F13CCDC6F1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EC0EFF39-AFC1-1569-C76B-A6CDAD88B17F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9000582-9D7F-D298-B1D7-6C58C688C244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E7D4B588-DF53-5A13-0C5B-3F5E254EA3C9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3F90AC7F-367C-158D-C2C5-BDDE3276CEA5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1ACD98AE-FDC1-F777-CB62-C2A981262684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1762FAA2-BEC7-72EC-EABE-38C05A47889F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A60EAD33-8DD3-6036-0426-7E502ACCF851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F6EE7073-CC85-E297-7020-F255393F6285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4CA188EF-4013-4347-1B37-86CDCDB01FB3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36DB6467-D595-0D44-5996-DB039C6D85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DA37BED8-6338-1ADE-52B4-A84E60CDA531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AF8AB789-676C-F5C7-E52D-A3786AFBFB98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BB96D606-865F-4CCD-9D2F-1B08325EEF09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E7439254-9FAD-37B3-399E-F29DF009E2F1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AC66D9BC-3B8A-E875-B385-77908859E492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21E04C2C-885C-FFDD-3049-B6ADE6D7907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73773B39-4F4D-340B-567A-6BAEDD68E9EC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E9CDD537-7883-BBEF-7F6F-22C13FE46213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2E96836D-9C37-A41C-001A-EBE8AC4CDF7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59F372-4384-EA51-4DA9-83C693F78D9F}"/>
              </a:ext>
            </a:extLst>
          </p:cNvPr>
          <p:cNvSpPr txBox="1">
            <a:spLocks/>
          </p:cNvSpPr>
          <p:nvPr/>
        </p:nvSpPr>
        <p:spPr>
          <a:xfrm>
            <a:off x="1299620" y="1036850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800" dirty="0">
                <a:solidFill>
                  <a:schemeClr val="accent2">
                    <a:lumMod val="20000"/>
                    <a:lumOff val="80000"/>
                  </a:schemeClr>
                </a:solidFill>
                <a:latin typeface="Montserrat ExtraBold" panose="00000900000000000000" pitchFamily="2" charset="0"/>
              </a:rPr>
              <a:t>Uni-directional LSTM (64 hidden; 1 layer) to MLP </a:t>
            </a:r>
          </a:p>
        </p:txBody>
      </p:sp>
      <p:sp>
        <p:nvSpPr>
          <p:cNvPr id="411" name="Google Shape;246;p34">
            <a:extLst>
              <a:ext uri="{FF2B5EF4-FFF2-40B4-BE49-F238E27FC236}">
                <a16:creationId xmlns:a16="http://schemas.microsoft.com/office/drawing/2014/main" id="{8C4362A3-535C-F143-C4A2-2040883C495B}"/>
              </a:ext>
            </a:extLst>
          </p:cNvPr>
          <p:cNvSpPr txBox="1">
            <a:spLocks/>
          </p:cNvSpPr>
          <p:nvPr/>
        </p:nvSpPr>
        <p:spPr>
          <a:xfrm>
            <a:off x="619126" y="1579682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" pitchFamily="2" charset="0"/>
              </a:rPr>
              <a:t>Simplest baseline, establishes performance floor, low parameter count</a:t>
            </a:r>
          </a:p>
        </p:txBody>
      </p:sp>
      <p:sp>
        <p:nvSpPr>
          <p:cNvPr id="412" name="Google Shape;246;p34">
            <a:extLst>
              <a:ext uri="{FF2B5EF4-FFF2-40B4-BE49-F238E27FC236}">
                <a16:creationId xmlns:a16="http://schemas.microsoft.com/office/drawing/2014/main" id="{3D296E4E-64E5-7E93-F494-3A717F564915}"/>
              </a:ext>
            </a:extLst>
          </p:cNvPr>
          <p:cNvSpPr txBox="1">
            <a:spLocks/>
          </p:cNvSpPr>
          <p:nvPr/>
        </p:nvSpPr>
        <p:spPr>
          <a:xfrm>
            <a:off x="619124" y="2180675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tx2"/>
                </a:solidFill>
                <a:latin typeface="Raleway" pitchFamily="2" charset="0"/>
              </a:rPr>
              <a:t>Single hidden vector at T is information bottleneck; no mechanism to identify which timesteps or features drive forecast</a:t>
            </a:r>
          </a:p>
        </p:txBody>
      </p:sp>
    </p:spTree>
    <p:extLst>
      <p:ext uri="{BB962C8B-B14F-4D97-AF65-F5344CB8AC3E}">
        <p14:creationId xmlns:p14="http://schemas.microsoft.com/office/powerpoint/2010/main" val="32438440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/>
          <p:cNvSpPr txBox="1">
            <a:spLocks noGrp="1"/>
          </p:cNvSpPr>
          <p:nvPr>
            <p:ph type="title"/>
          </p:nvPr>
        </p:nvSpPr>
        <p:spPr>
          <a:xfrm>
            <a:off x="0" y="986344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75%</a:t>
            </a:r>
            <a:r>
              <a:rPr lang="en" sz="3200" dirty="0">
                <a:solidFill>
                  <a:schemeClr val="tx2"/>
                </a:solidFill>
                <a:latin typeface="Montserrat ExtraBold" panose="00000900000000000000" pitchFamily="2" charset="0"/>
              </a:rPr>
              <a:t> 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Combined Accuracy (CA) + </a:t>
            </a:r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0.7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 </a:t>
            </a:r>
            <a:r>
              <a:rPr lang="en-MY" sz="32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R</a:t>
            </a:r>
            <a:r>
              <a:rPr lang="en-MY" sz="3200" b="1" baseline="30000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2</a:t>
            </a:r>
            <a:endParaRPr sz="3200" dirty="0">
              <a:solidFill>
                <a:schemeClr val="tx1"/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842D7079-7F52-489F-F4C0-FC846E230327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53C1816-75A7-7954-4762-0C374E7156D0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33522AC7-E4C8-B076-AAA6-5D7152206EAC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D4F3F622-26CA-12D4-F685-E05351F795B8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F97FFAF9-7DCE-28CA-F7DB-9BE2FEDB055B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32BBBA31-93D5-C93C-B1D4-514B1EE07FC0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0B8FA220-4280-430E-5452-706921A3658B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AEF60C2A-B947-0FC7-BCF1-8ECA74EE2B20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A3821A69-A54A-208E-7300-84F71370C8C0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12F8523F-630E-EE0F-5C75-B5F39E891B8C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DEADA511-042E-D969-DF1A-2F008DAF7BF2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ABB78717-8D7B-BB38-ACFA-367E7A85B1B7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D1AB4E43-BB0D-51B9-5065-F6954A80717C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5A25091C-DC8A-A7B6-D078-40EA1F3C02B2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23EDBA42-F1D2-EAA9-57FA-BA0B5108A955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5578AB38-2BE0-28AA-8EE3-9577D59B16E3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F0082D17-7792-FDAE-665D-7696F077E38E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9D3D5075-543E-A02D-36F7-62E6545A0758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BC5965BC-BF36-5D4C-FB13-DF8C3EAC53A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199D9ACE-A4B8-F75B-D579-F26183F8E391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6140B0C-4392-4627-AB51-B4736414E5F0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F7B2F0EF-1CF3-ACC0-7E95-D0E8FF70E1F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6DEDC4D4-F51D-E0D2-5A7A-CF55A9427C1D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D1638CDA-D6FE-4F32-1115-7B0286A189FB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482E3737-B283-E085-BDE7-6DBA2EE88C0C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C1E758A1-0B56-EDEA-8D64-231EECAAF14A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75ED0EBF-AB11-5FB2-6BC4-62D40980EEB2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1DCA8276-EEF0-6231-ED79-E34057632E9E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3BF7CA4F-D76B-B05D-52A3-E72C92833B6B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C2A1505E-FD7F-77EE-8F10-D87B23B25939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E86BB7C6-68C1-9B84-0F2D-707C918D880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B04046C4-58B0-B044-D411-4E7393BC3746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630CF968-8612-A525-144B-9E7FADD7912C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E6CC7003-7F12-4B75-F77A-5EE14AEE0B35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5D27A1-9C0A-0F12-CB05-CCEDFE6A745D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B08EE62D-39BD-8024-CD96-106359EFD273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7B90AF37-C2C1-EEA1-8028-D180CD98E8E4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D31686F5-5D16-5A0C-9083-6D0A71BBAB6C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74DC19A6-8C35-E17F-98B4-C45EE2DD77B4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A7A6314C-D7ED-E8B7-EA0A-B2940AD14D5F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51AC9A94-0EC7-9E45-8214-5B3F5D85852F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27EDB43E-026C-46DC-AD8B-6EDF8BE0EBD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C92DA911-173A-B72D-2D41-16AACEF88E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9796D3CA-A1D5-DFEA-B000-DC6FAE943362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53687420-204F-1F45-72F9-BBF98D776271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CA8ABB33-DC2E-EBDD-4098-E39482EEEBEA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B193E7BC-7B60-561C-EEF1-73554DE90AFA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1E77DA97-2C10-D9C0-25D7-7E66207F104B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3F63D18E-0259-9778-3355-F39100C9777A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4DC43FF2-E342-218C-4470-12A75C8BD50E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8B2D725E-16CB-9584-7E0F-2AC2B651D71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A4BD0B6B-D4E4-4DF7-03FB-BF160142155D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E71A11B3-63A5-4BBC-5498-54288E434513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70EFEFB3-5F6A-5589-5C54-A5C1239ECC6C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F98305E-9995-BEDD-F9FF-80A1B8481B61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095EA96B-4173-E20A-F75F-7F70C069F561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85BBDC83-2012-0509-40BE-E6B2EB9B3EF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0A258478-47C1-6FC6-1CE8-69F353D5557E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65C49641-4BDA-C2D5-3925-E402293AF7F2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D7C3FCB1-B8C2-C81C-02C6-AF72D068521D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E7C34349-2B51-C9AF-C81B-2AC9466FF6B3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20482CE1-3A1E-FBE1-FAD4-28700D9347EE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FD3E4C49-337B-D891-5CFC-EA0F3176AB59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35C72A4-D34C-8317-5867-9298100A175C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027C7143-A006-9186-3FE5-B3384ABA3EB2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ECDA039D-3C65-7C92-6E7F-85C6ACB22FC5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EE49C479-E463-F3DB-7FF1-E264658E0366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EF24707B-A579-A270-BEB6-0CCB8986DAD4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446809F1-865A-C8FA-4FEC-6CC2D18E230E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CE1E8825-0EB4-02F2-E108-3C7D52CD650E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A2A348D-F306-C6D2-FC5F-9D6FE0DD419F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944B167F-DF09-DC91-5ABC-1450DA1BBF21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1D235445-C105-328F-5F09-893EC27C004A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2960C7E1-DF51-DBB8-CCEF-7CDED83CD1FC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A67834A7-B0AA-1926-3BB0-40DB5B8926C9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6DB07BB9-58EE-1AF7-95CB-BD2A4204A5C9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1D667EDD-4F79-F76E-77C9-26902070B100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78FF63FA-CDC7-DBC8-F88B-6BA64328A706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C514D9A3-679A-2E3C-C45F-A9F035C867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9E60C958-689D-F502-41C6-A95DAD17FB8C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53846E4E-55CC-4446-AB43-7C1C9CA29C59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2F260DF6-E724-89BF-AD56-C41A6AA870A8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CBF0BE5E-DF77-AA5F-B330-9F0C2332AB14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E764F2D4-D490-03F2-9DC9-2F8C2F311653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BC3377A5-ED57-AFAE-4B7D-84138841ACA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13855A85-ADE8-328D-5350-DDFA5B94C4CD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773842ED-1331-8A91-2C4E-50A8F3FE1940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1D51189B-2DC6-ECF9-E1D5-18BE2BE2871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7B99A1-3EB7-713D-9049-D3CED1D54209}"/>
              </a:ext>
            </a:extLst>
          </p:cNvPr>
          <p:cNvSpPr txBox="1">
            <a:spLocks/>
          </p:cNvSpPr>
          <p:nvPr/>
        </p:nvSpPr>
        <p:spPr>
          <a:xfrm>
            <a:off x="1299620" y="1637828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2400" dirty="0">
                <a:solidFill>
                  <a:schemeClr val="bg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CA % = MAE % + RMSE % + MAPE %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FA011-B4D1-FDC5-3F52-4C21850A0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FAA8D09B-391D-75C8-0FA2-BA7EFDCE8085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Why These Metrics?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633DAE-B14F-E53A-F3AC-D2A34FB66A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315027"/>
              </p:ext>
            </p:extLst>
          </p:nvPr>
        </p:nvGraphicFramePr>
        <p:xfrm>
          <a:off x="375139" y="807670"/>
          <a:ext cx="8370276" cy="390081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55076">
                  <a:extLst>
                    <a:ext uri="{9D8B030D-6E8A-4147-A177-3AD203B41FA5}">
                      <a16:colId xmlns:a16="http://schemas.microsoft.com/office/drawing/2014/main" val="4159206892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1892022745"/>
                    </a:ext>
                  </a:extLst>
                </a:gridCol>
                <a:gridCol w="1869831">
                  <a:extLst>
                    <a:ext uri="{9D8B030D-6E8A-4147-A177-3AD203B41FA5}">
                      <a16:colId xmlns:a16="http://schemas.microsoft.com/office/drawing/2014/main" val="1033061141"/>
                    </a:ext>
                  </a:extLst>
                </a:gridCol>
                <a:gridCol w="2092569">
                  <a:extLst>
                    <a:ext uri="{9D8B030D-6E8A-4147-A177-3AD203B41FA5}">
                      <a16:colId xmlns:a16="http://schemas.microsoft.com/office/drawing/2014/main" val="1901108842"/>
                    </a:ext>
                  </a:extLst>
                </a:gridCol>
              </a:tblGrid>
              <a:tr h="68053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Metrics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Role in Spatio-temporal Data</a:t>
                      </a: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Strength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Limitations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876986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Captures overall error across all locations and time steps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Simple, robust, same until as data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Does not emphasize large error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112162"/>
                  </a:ext>
                </a:extLst>
              </a:tr>
              <a:tr h="79365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RMSE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Measure typical error magnitude while still penalizing spikes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Interpretable + sensitive to large deviations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Can still be dominated by others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13807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MAPE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Compare errors across locations with different scales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Scale-independent, easy to interpret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Unstable when actual values = 0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816812"/>
                  </a:ext>
                </a:extLst>
              </a:tr>
              <a:tr h="999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</a:t>
                      </a:r>
                      <a:r>
                        <a:rPr lang="en-MY" sz="1400" b="1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Evaluates how well the model explains spatial and temporal variance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Normalized score (up to 1), easy to compare across datasets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Heavily influenced by outliers, doesn’t reflect granular local accuracy well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8615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57892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4D17770F-40A2-0D94-33D0-704C2F371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137E93D7-8387-3A4C-2F2A-23ADF961D97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104FA406-E4FF-CB43-5989-D5B34F2C901C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1DF5DA4-030A-FA58-5520-7A50EBBAF7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Comparatives &amp; Proposed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D8D42BEF-C2BA-1F3F-9D06-6B09755396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05c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28013CF4-4170-28C9-3BF3-DE7BB672AD95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815369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E160D205-C776-E8C6-5426-75C153EE0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B05C504-5EE1-4599-1664-05B2B4259D8F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Spatio-temporal-Based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87AAFDD-F881-315E-7139-E40AB107C6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766142"/>
              </p:ext>
            </p:extLst>
          </p:nvPr>
        </p:nvGraphicFramePr>
        <p:xfrm>
          <a:off x="279990" y="971940"/>
          <a:ext cx="8598196" cy="3995458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825796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2052084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82826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892056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69723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Bidirectional LSTM, concatenate forward + backward hidden states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Mid-window peaks and dips are visible from both temporal directions, richer positional context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 explicit attention/pattern extraction, already near capacity ceiling at base hyperparameters.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TPA-LSTM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LSTM, Conv1d on hidden-state matrix, temporal pattern attention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Discover which recurring temporal shapes matter most, attention weights are semi-interpretable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 filters are fixed per training, architecture still depends on LSTM hidden vector quality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90638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Conv1d layers (local extraction), LSTM, three modes, sequential, parallel, augmented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Hierarchical feature extract, augmented model (CNN, LSTM + raw skip connection) generalises best by preserving direct access to input features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 flattens the spatial dimension of features, mode selection adds experimental complexity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Conv1d, BiLSTM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 complementary inductive biases, strong on mid-window anomalies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Higher parameter count than CNN-LSTM, requires careful regularisation to avoid overfitting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131"/>
                  </a:ext>
                </a:extLst>
              </a:tr>
              <a:tr h="90638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Parallel temporal stream (LSTM, spatial stream (weight-shared MLP across time),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Concat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Clean conceptual separation of “when” from “which features co-activate”, spatial encoder is weight-shared across timesteps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encoder mean-pools across the time dimension, losing temporal order, spatial and temporal streams are fused late without interaction during encoding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71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83230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2F089FF6-439A-D77F-D6D5-B09B2C110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01FB4DC-7D75-8E8E-C0AE-602CA39378E6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Graph-Based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739A780-99A3-87CD-25CE-BAFC1719F4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598181"/>
              </p:ext>
            </p:extLst>
          </p:nvPr>
        </p:nvGraphicFramePr>
        <p:xfrm>
          <a:off x="279990" y="971940"/>
          <a:ext cx="8598196" cy="403270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804531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3232298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445488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115879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45057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63965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Interleaved temporal gated convolutions (GLU) and Chebyshev graph convolutions, fixed pre-computed Laplacian, 2 ST-Conv blocks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Computationally efficient, well validated on traffic benchmarks, interpretable static adjacency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Static graph can’t adapt to changing future correlations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MTGNN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End-to-end learnable asymmetric adjacency from node embeddings, multi-scale inception blocks with dilated kernels, skip connections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 pre-computed correlation needed, asymmetric graph allows directional feature influence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Graph learning adds parameters, asymmetric adjacency can overfit the training-period topology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STSGCN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Block-tridiagonal 3N x 3N spatial-temporal synchronous graph (STSG)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ChebConv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+ GLU per layer, centre-node extraction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Unified single-pass encoding of spatial and temporal adjacency, avoids alternating ST modules, stable on long sequences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Each layer shrinks the temporal dimension by 2, limiting network depth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STFGNN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Dual static graph, spatial + temporal, per-layer learned gate blends spatial and temporal representations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 complementary graph perspectives, gate is interpretable,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LayerNorm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+ residual stabilises deep stacks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Over-regularisation at high dropout, high dropout coefficient suppresses useful signal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131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PDR-STGCN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Two-channel input: original signal + weekly lag-difference, mixed adjacency, static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sym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-norm Pearson + per-sample dynamic attention, learn scalar balances static vs dynamic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Only model with explicit seasonal encoding via lag-difference channel, dynamic relational graph adapts per input sample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Most complex baseline, highest number of parameters, training can be unstable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71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23263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9BCB09AF-0C66-1C60-DDC6-52E1F791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301D059-3AC4-3968-5BB6-EFDE9D3AC7E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Attention-Based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C297DE53-DCFF-B370-D6A4-1C9C9347E5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70494"/>
              </p:ext>
            </p:extLst>
          </p:nvPr>
        </p:nvGraphicFramePr>
        <p:xfrm>
          <a:off x="279990" y="971938"/>
          <a:ext cx="8598196" cy="400409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208568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2700670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509284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179674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13814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927848"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Multi-head spatial attention, Chebyshev GCN, multi-head temporal attention, repeated across </a:t>
                      </a:r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n_blocks</a:t>
                      </a:r>
                      <a:endParaRPr lang="en-MY" sz="12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Dual attention re-weights both spatial node relevance and temporal step relevance, transparent attention maps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Graph adjacency is still static, high parameter count per block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1281543">
                <a:tc>
                  <a:txBody>
                    <a:bodyPr/>
                    <a:lstStyle/>
                    <a:p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Autoformer</a:t>
                      </a:r>
                      <a:endParaRPr lang="en-MY" sz="12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FFT-based auto-correlation discover periodic lags, explicit trend/seasonal decomposition via moving-average sub-layer throughout encoder and decoder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Sub-linear complexity, trend/seasonal decomposition aligns naturally with transit periodicity, self-correlation selects dominant lag periods automatically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FFT amplifies noise at longer sequences, sensitive to decomposition kernel width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1480894"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Informer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ProbSparse</a:t>
                      </a:r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self-attention, top-u queries selected by KL-divergence sparsity measure, others receive mean, sequence </a:t>
                      </a:r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distlling</a:t>
                      </a:r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halves T after each encoder layer, generative decoder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Graceful degradation to full attention for short sequences, generative decoder avoid autoregressive exposure bias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Sequence distilling discards some temporal resolution, many interacting hyperparameters, limited upside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60682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BCE47BAE-F15D-F82E-185C-CC55204C55C5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35705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43"/>
          <p:cNvSpPr txBox="1">
            <a:spLocks noGrp="1"/>
          </p:cNvSpPr>
          <p:nvPr>
            <p:ph type="title"/>
          </p:nvPr>
        </p:nvSpPr>
        <p:spPr>
          <a:xfrm>
            <a:off x="0" y="445025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Selection Chronologically</a:t>
            </a:r>
            <a:endParaRPr dirty="0"/>
          </a:p>
        </p:txBody>
      </p:sp>
      <p:sp>
        <p:nvSpPr>
          <p:cNvPr id="449" name="Google Shape;449;p43"/>
          <p:cNvSpPr txBox="1"/>
          <p:nvPr/>
        </p:nvSpPr>
        <p:spPr>
          <a:xfrm flipH="1">
            <a:off x="7131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LSTM &amp; BiLSTM &amp; TPA-LSTM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1" name="Google Shape;451;p43"/>
          <p:cNvSpPr txBox="1"/>
          <p:nvPr/>
        </p:nvSpPr>
        <p:spPr>
          <a:xfrm flipH="1">
            <a:off x="26770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CNN-LSTM &amp; CNN-BiLSTM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3" name="Google Shape;453;p43"/>
          <p:cNvSpPr txBox="1"/>
          <p:nvPr/>
        </p:nvSpPr>
        <p:spPr>
          <a:xfrm flipH="1">
            <a:off x="46409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ST-LSTM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5" name="Google Shape;455;p43"/>
          <p:cNvSpPr txBox="1"/>
          <p:nvPr/>
        </p:nvSpPr>
        <p:spPr>
          <a:xfrm flipH="1">
            <a:off x="66048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STGCN &amp; ASTGCN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7" name="Google Shape;457;p43"/>
          <p:cNvSpPr txBox="1"/>
          <p:nvPr/>
        </p:nvSpPr>
        <p:spPr>
          <a:xfrm flipH="1">
            <a:off x="7131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STSGCN &amp; PDR-STGCN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9" name="Google Shape;459;p43"/>
          <p:cNvSpPr txBox="1"/>
          <p:nvPr/>
        </p:nvSpPr>
        <p:spPr>
          <a:xfrm flipH="1">
            <a:off x="26770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MTGNN &amp; STFGNN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1" name="Google Shape;461;p43"/>
          <p:cNvSpPr txBox="1"/>
          <p:nvPr/>
        </p:nvSpPr>
        <p:spPr>
          <a:xfrm flipH="1">
            <a:off x="46409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Autoformer &amp; Informer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3" name="Google Shape;463;p43"/>
          <p:cNvSpPr txBox="1"/>
          <p:nvPr/>
        </p:nvSpPr>
        <p:spPr>
          <a:xfrm flipH="1">
            <a:off x="66048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HMT-TSF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>
        <p:nvGrpSpPr>
          <p:cNvPr id="465" name="Google Shape;465;p43"/>
          <p:cNvGrpSpPr/>
          <p:nvPr/>
        </p:nvGrpSpPr>
        <p:grpSpPr>
          <a:xfrm>
            <a:off x="1409425" y="1366263"/>
            <a:ext cx="419700" cy="419700"/>
            <a:chOff x="1409425" y="1366263"/>
            <a:chExt cx="419700" cy="419700"/>
          </a:xfrm>
        </p:grpSpPr>
        <p:sp>
          <p:nvSpPr>
            <p:cNvPr id="466" name="Google Shape;466;p43"/>
            <p:cNvSpPr/>
            <p:nvPr/>
          </p:nvSpPr>
          <p:spPr>
            <a:xfrm>
              <a:off x="14094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7" name="Google Shape;467;p43"/>
            <p:cNvGrpSpPr/>
            <p:nvPr/>
          </p:nvGrpSpPr>
          <p:grpSpPr>
            <a:xfrm>
              <a:off x="1459388" y="1366302"/>
              <a:ext cx="319874" cy="419623"/>
              <a:chOff x="-3365275" y="3253275"/>
              <a:chExt cx="222150" cy="291425"/>
            </a:xfrm>
          </p:grpSpPr>
          <p:sp>
            <p:nvSpPr>
              <p:cNvPr id="468" name="Google Shape;468;p43"/>
              <p:cNvSpPr/>
              <p:nvPr/>
            </p:nvSpPr>
            <p:spPr>
              <a:xfrm>
                <a:off x="-3365275" y="3253275"/>
                <a:ext cx="222150" cy="291425"/>
              </a:xfrm>
              <a:custGeom>
                <a:avLst/>
                <a:gdLst/>
                <a:ahLst/>
                <a:cxnLst/>
                <a:rect l="l" t="t" r="r" b="b"/>
                <a:pathLst>
                  <a:path w="8886" h="11657" extrusionOk="0">
                    <a:moveTo>
                      <a:pt x="5861" y="662"/>
                    </a:moveTo>
                    <a:cubicBezTo>
                      <a:pt x="6302" y="662"/>
                      <a:pt x="6302" y="1323"/>
                      <a:pt x="5861" y="1323"/>
                    </a:cubicBezTo>
                    <a:lnTo>
                      <a:pt x="3120" y="1323"/>
                    </a:lnTo>
                    <a:cubicBezTo>
                      <a:pt x="2647" y="1323"/>
                      <a:pt x="2647" y="662"/>
                      <a:pt x="3120" y="662"/>
                    </a:cubicBezTo>
                    <a:close/>
                    <a:moveTo>
                      <a:pt x="7215" y="3466"/>
                    </a:moveTo>
                    <a:cubicBezTo>
                      <a:pt x="7625" y="3466"/>
                      <a:pt x="7625" y="4127"/>
                      <a:pt x="7215" y="4127"/>
                    </a:cubicBezTo>
                    <a:lnTo>
                      <a:pt x="4443" y="4127"/>
                    </a:lnTo>
                    <a:cubicBezTo>
                      <a:pt x="4002" y="4127"/>
                      <a:pt x="3970" y="3466"/>
                      <a:pt x="4443" y="3466"/>
                    </a:cubicBezTo>
                    <a:close/>
                    <a:moveTo>
                      <a:pt x="3101" y="2795"/>
                    </a:moveTo>
                    <a:cubicBezTo>
                      <a:pt x="3360" y="2795"/>
                      <a:pt x="3582" y="3129"/>
                      <a:pt x="3340" y="3371"/>
                    </a:cubicBezTo>
                    <a:lnTo>
                      <a:pt x="2899" y="3812"/>
                    </a:lnTo>
                    <a:lnTo>
                      <a:pt x="3340" y="4253"/>
                    </a:lnTo>
                    <a:cubicBezTo>
                      <a:pt x="3582" y="4495"/>
                      <a:pt x="3360" y="4830"/>
                      <a:pt x="3101" y="4830"/>
                    </a:cubicBezTo>
                    <a:cubicBezTo>
                      <a:pt x="3023" y="4830"/>
                      <a:pt x="2941" y="4799"/>
                      <a:pt x="2868" y="4726"/>
                    </a:cubicBezTo>
                    <a:lnTo>
                      <a:pt x="2427" y="4285"/>
                    </a:lnTo>
                    <a:lnTo>
                      <a:pt x="2017" y="4726"/>
                    </a:lnTo>
                    <a:cubicBezTo>
                      <a:pt x="1944" y="4799"/>
                      <a:pt x="1862" y="4830"/>
                      <a:pt x="1784" y="4830"/>
                    </a:cubicBezTo>
                    <a:cubicBezTo>
                      <a:pt x="1525" y="4830"/>
                      <a:pt x="1303" y="4495"/>
                      <a:pt x="1545" y="4253"/>
                    </a:cubicBezTo>
                    <a:lnTo>
                      <a:pt x="1954" y="3812"/>
                    </a:lnTo>
                    <a:lnTo>
                      <a:pt x="1545" y="3371"/>
                    </a:lnTo>
                    <a:cubicBezTo>
                      <a:pt x="1303" y="3129"/>
                      <a:pt x="1525" y="2795"/>
                      <a:pt x="1784" y="2795"/>
                    </a:cubicBezTo>
                    <a:cubicBezTo>
                      <a:pt x="1862" y="2795"/>
                      <a:pt x="1944" y="2825"/>
                      <a:pt x="2017" y="2899"/>
                    </a:cubicBezTo>
                    <a:lnTo>
                      <a:pt x="2427" y="3340"/>
                    </a:lnTo>
                    <a:lnTo>
                      <a:pt x="2868" y="2899"/>
                    </a:lnTo>
                    <a:cubicBezTo>
                      <a:pt x="2941" y="2825"/>
                      <a:pt x="3023" y="2795"/>
                      <a:pt x="3101" y="2795"/>
                    </a:cubicBezTo>
                    <a:close/>
                    <a:moveTo>
                      <a:pt x="7242" y="6206"/>
                    </a:moveTo>
                    <a:cubicBezTo>
                      <a:pt x="7625" y="6206"/>
                      <a:pt x="7616" y="6868"/>
                      <a:pt x="7215" y="6868"/>
                    </a:cubicBezTo>
                    <a:lnTo>
                      <a:pt x="4443" y="6868"/>
                    </a:lnTo>
                    <a:cubicBezTo>
                      <a:pt x="4002" y="6868"/>
                      <a:pt x="3970" y="6207"/>
                      <a:pt x="4443" y="6207"/>
                    </a:cubicBezTo>
                    <a:lnTo>
                      <a:pt x="7215" y="6207"/>
                    </a:lnTo>
                    <a:cubicBezTo>
                      <a:pt x="7225" y="6206"/>
                      <a:pt x="7233" y="6206"/>
                      <a:pt x="7242" y="6206"/>
                    </a:cubicBezTo>
                    <a:close/>
                    <a:moveTo>
                      <a:pt x="3101" y="5504"/>
                    </a:moveTo>
                    <a:cubicBezTo>
                      <a:pt x="3360" y="5504"/>
                      <a:pt x="3582" y="5839"/>
                      <a:pt x="3340" y="6081"/>
                    </a:cubicBezTo>
                    <a:lnTo>
                      <a:pt x="2899" y="6522"/>
                    </a:lnTo>
                    <a:lnTo>
                      <a:pt x="3340" y="6963"/>
                    </a:lnTo>
                    <a:cubicBezTo>
                      <a:pt x="3582" y="7205"/>
                      <a:pt x="3360" y="7539"/>
                      <a:pt x="3101" y="7539"/>
                    </a:cubicBezTo>
                    <a:cubicBezTo>
                      <a:pt x="3023" y="7539"/>
                      <a:pt x="2941" y="7509"/>
                      <a:pt x="2868" y="7435"/>
                    </a:cubicBezTo>
                    <a:lnTo>
                      <a:pt x="2427" y="6994"/>
                    </a:lnTo>
                    <a:lnTo>
                      <a:pt x="2017" y="7435"/>
                    </a:lnTo>
                    <a:cubicBezTo>
                      <a:pt x="1944" y="7509"/>
                      <a:pt x="1862" y="7539"/>
                      <a:pt x="1784" y="7539"/>
                    </a:cubicBezTo>
                    <a:cubicBezTo>
                      <a:pt x="1525" y="7539"/>
                      <a:pt x="1303" y="7205"/>
                      <a:pt x="1545" y="6963"/>
                    </a:cubicBezTo>
                    <a:lnTo>
                      <a:pt x="1954" y="6522"/>
                    </a:lnTo>
                    <a:lnTo>
                      <a:pt x="1545" y="6081"/>
                    </a:lnTo>
                    <a:cubicBezTo>
                      <a:pt x="1303" y="5839"/>
                      <a:pt x="1525" y="5504"/>
                      <a:pt x="1784" y="5504"/>
                    </a:cubicBezTo>
                    <a:cubicBezTo>
                      <a:pt x="1862" y="5504"/>
                      <a:pt x="1944" y="5535"/>
                      <a:pt x="2017" y="5608"/>
                    </a:cubicBezTo>
                    <a:lnTo>
                      <a:pt x="2427" y="6049"/>
                    </a:lnTo>
                    <a:lnTo>
                      <a:pt x="2868" y="5608"/>
                    </a:lnTo>
                    <a:cubicBezTo>
                      <a:pt x="2941" y="5535"/>
                      <a:pt x="3023" y="5504"/>
                      <a:pt x="3101" y="5504"/>
                    </a:cubicBezTo>
                    <a:close/>
                    <a:moveTo>
                      <a:pt x="7215" y="8916"/>
                    </a:moveTo>
                    <a:cubicBezTo>
                      <a:pt x="7625" y="8916"/>
                      <a:pt x="7625" y="9609"/>
                      <a:pt x="7215" y="9609"/>
                    </a:cubicBezTo>
                    <a:lnTo>
                      <a:pt x="4443" y="9609"/>
                    </a:lnTo>
                    <a:cubicBezTo>
                      <a:pt x="4002" y="9609"/>
                      <a:pt x="3970" y="8916"/>
                      <a:pt x="4443" y="8916"/>
                    </a:cubicBezTo>
                    <a:close/>
                    <a:moveTo>
                      <a:pt x="2395" y="8254"/>
                    </a:moveTo>
                    <a:cubicBezTo>
                      <a:pt x="2962" y="8254"/>
                      <a:pt x="3435" y="8727"/>
                      <a:pt x="3435" y="9263"/>
                    </a:cubicBezTo>
                    <a:cubicBezTo>
                      <a:pt x="3435" y="9830"/>
                      <a:pt x="2994" y="10302"/>
                      <a:pt x="2395" y="10302"/>
                    </a:cubicBezTo>
                    <a:cubicBezTo>
                      <a:pt x="1860" y="10302"/>
                      <a:pt x="1387" y="9830"/>
                      <a:pt x="1387" y="9263"/>
                    </a:cubicBezTo>
                    <a:cubicBezTo>
                      <a:pt x="1387" y="8727"/>
                      <a:pt x="1860" y="8254"/>
                      <a:pt x="2395" y="8254"/>
                    </a:cubicBezTo>
                    <a:close/>
                    <a:moveTo>
                      <a:pt x="3057" y="0"/>
                    </a:moveTo>
                    <a:cubicBezTo>
                      <a:pt x="2647" y="0"/>
                      <a:pt x="2238" y="252"/>
                      <a:pt x="2112" y="662"/>
                    </a:cubicBezTo>
                    <a:lnTo>
                      <a:pt x="1009" y="662"/>
                    </a:lnTo>
                    <a:cubicBezTo>
                      <a:pt x="473" y="662"/>
                      <a:pt x="1" y="1134"/>
                      <a:pt x="1" y="1670"/>
                    </a:cubicBezTo>
                    <a:lnTo>
                      <a:pt x="1" y="10617"/>
                    </a:lnTo>
                    <a:cubicBezTo>
                      <a:pt x="1" y="11153"/>
                      <a:pt x="473" y="11657"/>
                      <a:pt x="1009" y="11657"/>
                    </a:cubicBezTo>
                    <a:lnTo>
                      <a:pt x="7877" y="11657"/>
                    </a:lnTo>
                    <a:cubicBezTo>
                      <a:pt x="8413" y="11657"/>
                      <a:pt x="8885" y="11184"/>
                      <a:pt x="8885" y="10617"/>
                    </a:cubicBezTo>
                    <a:lnTo>
                      <a:pt x="8885" y="1670"/>
                    </a:lnTo>
                    <a:cubicBezTo>
                      <a:pt x="8885" y="1134"/>
                      <a:pt x="8476" y="662"/>
                      <a:pt x="7877" y="662"/>
                    </a:cubicBezTo>
                    <a:lnTo>
                      <a:pt x="6774" y="662"/>
                    </a:lnTo>
                    <a:cubicBezTo>
                      <a:pt x="6617" y="252"/>
                      <a:pt x="6270" y="0"/>
                      <a:pt x="582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Google Shape;469;p43"/>
              <p:cNvSpPr/>
              <p:nvPr/>
            </p:nvSpPr>
            <p:spPr>
              <a:xfrm>
                <a:off x="-3314075" y="3476175"/>
                <a:ext cx="17350" cy="18125"/>
              </a:xfrm>
              <a:custGeom>
                <a:avLst/>
                <a:gdLst/>
                <a:ahLst/>
                <a:cxnLst/>
                <a:rect l="l" t="t" r="r" b="b"/>
                <a:pathLst>
                  <a:path w="694" h="725" extrusionOk="0">
                    <a:moveTo>
                      <a:pt x="347" y="0"/>
                    </a:moveTo>
                    <a:cubicBezTo>
                      <a:pt x="158" y="0"/>
                      <a:pt x="1" y="158"/>
                      <a:pt x="1" y="347"/>
                    </a:cubicBezTo>
                    <a:cubicBezTo>
                      <a:pt x="1" y="567"/>
                      <a:pt x="158" y="725"/>
                      <a:pt x="347" y="725"/>
                    </a:cubicBezTo>
                    <a:cubicBezTo>
                      <a:pt x="536" y="725"/>
                      <a:pt x="694" y="567"/>
                      <a:pt x="694" y="347"/>
                    </a:cubicBezTo>
                    <a:cubicBezTo>
                      <a:pt x="694" y="158"/>
                      <a:pt x="536" y="0"/>
                      <a:pt x="34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70" name="Google Shape;470;p43"/>
          <p:cNvCxnSpPr>
            <a:stCxn id="466" idx="4"/>
            <a:endCxn id="449" idx="0"/>
          </p:cNvCxnSpPr>
          <p:nvPr/>
        </p:nvCxnSpPr>
        <p:spPr>
          <a:xfrm>
            <a:off x="16192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71" name="Google Shape;471;p43"/>
          <p:cNvGrpSpPr/>
          <p:nvPr/>
        </p:nvGrpSpPr>
        <p:grpSpPr>
          <a:xfrm>
            <a:off x="5337312" y="1366263"/>
            <a:ext cx="419717" cy="419700"/>
            <a:chOff x="5337312" y="1366263"/>
            <a:chExt cx="419717" cy="419700"/>
          </a:xfrm>
        </p:grpSpPr>
        <p:sp>
          <p:nvSpPr>
            <p:cNvPr id="472" name="Google Shape;472;p43"/>
            <p:cNvSpPr/>
            <p:nvPr/>
          </p:nvSpPr>
          <p:spPr>
            <a:xfrm>
              <a:off x="53373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" name="Google Shape;473;p43"/>
            <p:cNvGrpSpPr/>
            <p:nvPr/>
          </p:nvGrpSpPr>
          <p:grpSpPr>
            <a:xfrm>
              <a:off x="5337312" y="1391701"/>
              <a:ext cx="419717" cy="368844"/>
              <a:chOff x="238075" y="2137575"/>
              <a:chExt cx="341150" cy="299800"/>
            </a:xfrm>
          </p:grpSpPr>
          <p:sp>
            <p:nvSpPr>
              <p:cNvPr id="474" name="Google Shape;474;p43"/>
              <p:cNvSpPr/>
              <p:nvPr/>
            </p:nvSpPr>
            <p:spPr>
              <a:xfrm>
                <a:off x="418675" y="2137575"/>
                <a:ext cx="112175" cy="69975"/>
              </a:xfrm>
              <a:custGeom>
                <a:avLst/>
                <a:gdLst/>
                <a:ahLst/>
                <a:cxnLst/>
                <a:rect l="l" t="t" r="r" b="b"/>
                <a:pathLst>
                  <a:path w="4487" h="2799" extrusionOk="0">
                    <a:moveTo>
                      <a:pt x="0" y="0"/>
                    </a:moveTo>
                    <a:cubicBezTo>
                      <a:pt x="0" y="3"/>
                      <a:pt x="2" y="5"/>
                      <a:pt x="2" y="6"/>
                    </a:cubicBezTo>
                    <a:lnTo>
                      <a:pt x="2" y="801"/>
                    </a:lnTo>
                    <a:cubicBezTo>
                      <a:pt x="3" y="1904"/>
                      <a:pt x="896" y="2797"/>
                      <a:pt x="2000" y="2799"/>
                    </a:cubicBezTo>
                    <a:lnTo>
                      <a:pt x="4486" y="2799"/>
                    </a:lnTo>
                    <a:cubicBezTo>
                      <a:pt x="4467" y="2778"/>
                      <a:pt x="4452" y="2756"/>
                      <a:pt x="4432" y="2735"/>
                    </a:cubicBezTo>
                    <a:lnTo>
                      <a:pt x="2298" y="674"/>
                    </a:lnTo>
                    <a:cubicBezTo>
                      <a:pt x="1850" y="241"/>
                      <a:pt x="1252" y="0"/>
                      <a:pt x="63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43"/>
              <p:cNvSpPr/>
              <p:nvPr/>
            </p:nvSpPr>
            <p:spPr>
              <a:xfrm>
                <a:off x="31810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1" y="1"/>
                    </a:moveTo>
                    <a:lnTo>
                      <a:pt x="1" y="800"/>
                    </a:lnTo>
                    <a:lnTo>
                      <a:pt x="800" y="800"/>
                    </a:lnTo>
                    <a:lnTo>
                      <a:pt x="80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43"/>
              <p:cNvSpPr/>
              <p:nvPr/>
            </p:nvSpPr>
            <p:spPr>
              <a:xfrm>
                <a:off x="23815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0" y="1"/>
                    </a:moveTo>
                    <a:lnTo>
                      <a:pt x="0" y="800"/>
                    </a:lnTo>
                    <a:lnTo>
                      <a:pt x="799" y="800"/>
                    </a:lnTo>
                    <a:lnTo>
                      <a:pt x="79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43"/>
              <p:cNvSpPr/>
              <p:nvPr/>
            </p:nvSpPr>
            <p:spPr>
              <a:xfrm>
                <a:off x="238150" y="2137575"/>
                <a:ext cx="300475" cy="119950"/>
              </a:xfrm>
              <a:custGeom>
                <a:avLst/>
                <a:gdLst/>
                <a:ahLst/>
                <a:cxnLst/>
                <a:rect l="l" t="t" r="r" b="b"/>
                <a:pathLst>
                  <a:path w="12019" h="4798" extrusionOk="0">
                    <a:moveTo>
                      <a:pt x="4401" y="1201"/>
                    </a:moveTo>
                    <a:cubicBezTo>
                      <a:pt x="4619" y="1201"/>
                      <a:pt x="4798" y="1380"/>
                      <a:pt x="4797" y="1601"/>
                    </a:cubicBezTo>
                    <a:lnTo>
                      <a:pt x="4797" y="3200"/>
                    </a:lnTo>
                    <a:cubicBezTo>
                      <a:pt x="4797" y="3420"/>
                      <a:pt x="4618" y="3599"/>
                      <a:pt x="4398" y="3599"/>
                    </a:cubicBezTo>
                    <a:lnTo>
                      <a:pt x="2799" y="3599"/>
                    </a:lnTo>
                    <a:cubicBezTo>
                      <a:pt x="2577" y="3599"/>
                      <a:pt x="2399" y="3420"/>
                      <a:pt x="2399" y="3200"/>
                    </a:cubicBezTo>
                    <a:lnTo>
                      <a:pt x="2399" y="1601"/>
                    </a:lnTo>
                    <a:cubicBezTo>
                      <a:pt x="2399" y="1380"/>
                      <a:pt x="2576" y="1201"/>
                      <a:pt x="2796" y="1201"/>
                    </a:cubicBezTo>
                    <a:cubicBezTo>
                      <a:pt x="2797" y="1201"/>
                      <a:pt x="2798" y="1201"/>
                      <a:pt x="2799" y="1201"/>
                    </a:cubicBezTo>
                    <a:lnTo>
                      <a:pt x="4398" y="1201"/>
                    </a:lnTo>
                    <a:cubicBezTo>
                      <a:pt x="4399" y="1201"/>
                      <a:pt x="4400" y="1201"/>
                      <a:pt x="4401" y="1201"/>
                    </a:cubicBezTo>
                    <a:close/>
                    <a:moveTo>
                      <a:pt x="401" y="0"/>
                    </a:moveTo>
                    <a:cubicBezTo>
                      <a:pt x="179" y="0"/>
                      <a:pt x="0" y="179"/>
                      <a:pt x="0" y="400"/>
                    </a:cubicBezTo>
                    <a:lnTo>
                      <a:pt x="0" y="1201"/>
                    </a:lnTo>
                    <a:lnTo>
                      <a:pt x="1199" y="1201"/>
                    </a:lnTo>
                    <a:cubicBezTo>
                      <a:pt x="1421" y="1201"/>
                      <a:pt x="1600" y="1379"/>
                      <a:pt x="1600" y="1601"/>
                    </a:cubicBezTo>
                    <a:lnTo>
                      <a:pt x="1600" y="3200"/>
                    </a:lnTo>
                    <a:cubicBezTo>
                      <a:pt x="1600" y="3420"/>
                      <a:pt x="1421" y="3599"/>
                      <a:pt x="1199" y="3599"/>
                    </a:cubicBezTo>
                    <a:lnTo>
                      <a:pt x="0" y="3599"/>
                    </a:lnTo>
                    <a:lnTo>
                      <a:pt x="0" y="4399"/>
                    </a:lnTo>
                    <a:cubicBezTo>
                      <a:pt x="0" y="4619"/>
                      <a:pt x="179" y="4798"/>
                      <a:pt x="401" y="4798"/>
                    </a:cubicBezTo>
                    <a:lnTo>
                      <a:pt x="10820" y="4798"/>
                    </a:lnTo>
                    <a:cubicBezTo>
                      <a:pt x="11483" y="4798"/>
                      <a:pt x="12019" y="4260"/>
                      <a:pt x="12019" y="3597"/>
                    </a:cubicBezTo>
                    <a:lnTo>
                      <a:pt x="9221" y="3597"/>
                    </a:lnTo>
                    <a:cubicBezTo>
                      <a:pt x="7674" y="3597"/>
                      <a:pt x="6422" y="2345"/>
                      <a:pt x="6422" y="799"/>
                    </a:cubicBezTo>
                    <a:lnTo>
                      <a:pt x="6422" y="6"/>
                    </a:lnTo>
                    <a:cubicBezTo>
                      <a:pt x="6422" y="3"/>
                      <a:pt x="6424" y="2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43"/>
              <p:cNvSpPr/>
              <p:nvPr/>
            </p:nvSpPr>
            <p:spPr>
              <a:xfrm>
                <a:off x="238075" y="2377750"/>
                <a:ext cx="341150" cy="59625"/>
              </a:xfrm>
              <a:custGeom>
                <a:avLst/>
                <a:gdLst/>
                <a:ahLst/>
                <a:cxnLst/>
                <a:rect l="l" t="t" r="r" b="b"/>
                <a:pathLst>
                  <a:path w="13646" h="2385" extrusionOk="0">
                    <a:moveTo>
                      <a:pt x="11622" y="1"/>
                    </a:moveTo>
                    <a:cubicBezTo>
                      <a:pt x="11486" y="1"/>
                      <a:pt x="11350" y="62"/>
                      <a:pt x="11277" y="183"/>
                    </a:cubicBezTo>
                    <a:cubicBezTo>
                      <a:pt x="11275" y="189"/>
                      <a:pt x="10897" y="787"/>
                      <a:pt x="10022" y="787"/>
                    </a:cubicBezTo>
                    <a:cubicBezTo>
                      <a:pt x="9153" y="787"/>
                      <a:pt x="8781" y="205"/>
                      <a:pt x="8767" y="183"/>
                    </a:cubicBezTo>
                    <a:cubicBezTo>
                      <a:pt x="8694" y="62"/>
                      <a:pt x="8558" y="2"/>
                      <a:pt x="8423" y="2"/>
                    </a:cubicBezTo>
                    <a:cubicBezTo>
                      <a:pt x="8287" y="2"/>
                      <a:pt x="8151" y="62"/>
                      <a:pt x="8079" y="183"/>
                    </a:cubicBezTo>
                    <a:cubicBezTo>
                      <a:pt x="8075" y="189"/>
                      <a:pt x="7697" y="787"/>
                      <a:pt x="6824" y="787"/>
                    </a:cubicBezTo>
                    <a:cubicBezTo>
                      <a:pt x="5954" y="787"/>
                      <a:pt x="5556" y="205"/>
                      <a:pt x="5542" y="183"/>
                    </a:cubicBezTo>
                    <a:cubicBezTo>
                      <a:pt x="5470" y="62"/>
                      <a:pt x="5334" y="2"/>
                      <a:pt x="5198" y="2"/>
                    </a:cubicBezTo>
                    <a:cubicBezTo>
                      <a:pt x="5062" y="2"/>
                      <a:pt x="4926" y="62"/>
                      <a:pt x="4853" y="183"/>
                    </a:cubicBezTo>
                    <a:cubicBezTo>
                      <a:pt x="4850" y="189"/>
                      <a:pt x="4473" y="787"/>
                      <a:pt x="3598" y="787"/>
                    </a:cubicBezTo>
                    <a:cubicBezTo>
                      <a:pt x="2728" y="787"/>
                      <a:pt x="2357" y="205"/>
                      <a:pt x="2342" y="183"/>
                    </a:cubicBezTo>
                    <a:cubicBezTo>
                      <a:pt x="2270" y="62"/>
                      <a:pt x="2134" y="2"/>
                      <a:pt x="1998" y="2"/>
                    </a:cubicBezTo>
                    <a:cubicBezTo>
                      <a:pt x="1863" y="2"/>
                      <a:pt x="1727" y="62"/>
                      <a:pt x="1654" y="183"/>
                    </a:cubicBezTo>
                    <a:cubicBezTo>
                      <a:pt x="1651" y="189"/>
                      <a:pt x="1275" y="784"/>
                      <a:pt x="404" y="787"/>
                    </a:cubicBezTo>
                    <a:cubicBezTo>
                      <a:pt x="403" y="787"/>
                      <a:pt x="402" y="787"/>
                      <a:pt x="401" y="787"/>
                    </a:cubicBezTo>
                    <a:cubicBezTo>
                      <a:pt x="181" y="787"/>
                      <a:pt x="2" y="965"/>
                      <a:pt x="1" y="1186"/>
                    </a:cubicBezTo>
                    <a:lnTo>
                      <a:pt x="1" y="1986"/>
                    </a:lnTo>
                    <a:cubicBezTo>
                      <a:pt x="1" y="2207"/>
                      <a:pt x="179" y="2385"/>
                      <a:pt x="401" y="2385"/>
                    </a:cubicBezTo>
                    <a:cubicBezTo>
                      <a:pt x="402" y="2385"/>
                      <a:pt x="403" y="2385"/>
                      <a:pt x="404" y="2385"/>
                    </a:cubicBezTo>
                    <a:lnTo>
                      <a:pt x="13247" y="2385"/>
                    </a:lnTo>
                    <a:cubicBezTo>
                      <a:pt x="13467" y="2385"/>
                      <a:pt x="13646" y="2206"/>
                      <a:pt x="13646" y="1985"/>
                    </a:cubicBezTo>
                    <a:lnTo>
                      <a:pt x="13646" y="1186"/>
                    </a:lnTo>
                    <a:cubicBezTo>
                      <a:pt x="13646" y="966"/>
                      <a:pt x="13467" y="787"/>
                      <a:pt x="13247" y="787"/>
                    </a:cubicBezTo>
                    <a:cubicBezTo>
                      <a:pt x="12383" y="787"/>
                      <a:pt x="11983" y="213"/>
                      <a:pt x="11964" y="180"/>
                    </a:cubicBezTo>
                    <a:cubicBezTo>
                      <a:pt x="11891" y="61"/>
                      <a:pt x="11757" y="1"/>
                      <a:pt x="116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43"/>
              <p:cNvSpPr/>
              <p:nvPr/>
            </p:nvSpPr>
            <p:spPr>
              <a:xfrm>
                <a:off x="238150" y="2277475"/>
                <a:ext cx="341075" cy="99950"/>
              </a:xfrm>
              <a:custGeom>
                <a:avLst/>
                <a:gdLst/>
                <a:ahLst/>
                <a:cxnLst/>
                <a:rect l="l" t="t" r="r" b="b"/>
                <a:pathLst>
                  <a:path w="13643" h="3998" extrusionOk="0">
                    <a:moveTo>
                      <a:pt x="401" y="1"/>
                    </a:moveTo>
                    <a:cubicBezTo>
                      <a:pt x="179" y="1"/>
                      <a:pt x="0" y="179"/>
                      <a:pt x="0" y="401"/>
                    </a:cubicBezTo>
                    <a:lnTo>
                      <a:pt x="0" y="1200"/>
                    </a:lnTo>
                    <a:cubicBezTo>
                      <a:pt x="0" y="1421"/>
                      <a:pt x="179" y="1600"/>
                      <a:pt x="401" y="1600"/>
                    </a:cubicBezTo>
                    <a:lnTo>
                      <a:pt x="1998" y="1600"/>
                    </a:lnTo>
                    <a:lnTo>
                      <a:pt x="1998" y="3212"/>
                    </a:lnTo>
                    <a:cubicBezTo>
                      <a:pt x="2430" y="3212"/>
                      <a:pt x="2815" y="3426"/>
                      <a:pt x="3029" y="3784"/>
                    </a:cubicBezTo>
                    <a:cubicBezTo>
                      <a:pt x="3032" y="3784"/>
                      <a:pt x="3202" y="3998"/>
                      <a:pt x="3598" y="3998"/>
                    </a:cubicBezTo>
                    <a:lnTo>
                      <a:pt x="3598" y="1600"/>
                    </a:lnTo>
                    <a:lnTo>
                      <a:pt x="10019" y="1600"/>
                    </a:lnTo>
                    <a:lnTo>
                      <a:pt x="10019" y="3998"/>
                    </a:lnTo>
                    <a:cubicBezTo>
                      <a:pt x="10417" y="3998"/>
                      <a:pt x="10591" y="3776"/>
                      <a:pt x="10610" y="3751"/>
                    </a:cubicBezTo>
                    <a:lnTo>
                      <a:pt x="10613" y="3754"/>
                    </a:lnTo>
                    <a:cubicBezTo>
                      <a:pt x="10855" y="3401"/>
                      <a:pt x="11223" y="3212"/>
                      <a:pt x="11619" y="3212"/>
                    </a:cubicBezTo>
                    <a:lnTo>
                      <a:pt x="11619" y="1600"/>
                    </a:lnTo>
                    <a:lnTo>
                      <a:pt x="13244" y="1600"/>
                    </a:lnTo>
                    <a:cubicBezTo>
                      <a:pt x="13464" y="1600"/>
                      <a:pt x="13643" y="1421"/>
                      <a:pt x="13643" y="1200"/>
                    </a:cubicBezTo>
                    <a:lnTo>
                      <a:pt x="13643" y="401"/>
                    </a:lnTo>
                    <a:cubicBezTo>
                      <a:pt x="13643" y="179"/>
                      <a:pt x="13464" y="1"/>
                      <a:pt x="132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0" name="Google Shape;480;p43"/>
          <p:cNvCxnSpPr>
            <a:stCxn id="472" idx="4"/>
            <a:endCxn id="453" idx="0"/>
          </p:cNvCxnSpPr>
          <p:nvPr/>
        </p:nvCxnSpPr>
        <p:spPr>
          <a:xfrm>
            <a:off x="55471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1" name="Google Shape;481;p43"/>
          <p:cNvGrpSpPr/>
          <p:nvPr/>
        </p:nvGrpSpPr>
        <p:grpSpPr>
          <a:xfrm>
            <a:off x="7301261" y="1366263"/>
            <a:ext cx="419714" cy="419700"/>
            <a:chOff x="7301261" y="1366263"/>
            <a:chExt cx="419714" cy="419700"/>
          </a:xfrm>
        </p:grpSpPr>
        <p:sp>
          <p:nvSpPr>
            <p:cNvPr id="482" name="Google Shape;482;p43"/>
            <p:cNvSpPr/>
            <p:nvPr/>
          </p:nvSpPr>
          <p:spPr>
            <a:xfrm>
              <a:off x="73012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83" name="Google Shape;483;p43"/>
            <p:cNvGrpSpPr/>
            <p:nvPr/>
          </p:nvGrpSpPr>
          <p:grpSpPr>
            <a:xfrm>
              <a:off x="7301261" y="1369067"/>
              <a:ext cx="419698" cy="414121"/>
              <a:chOff x="-1951475" y="3597450"/>
              <a:chExt cx="295375" cy="291450"/>
            </a:xfrm>
          </p:grpSpPr>
          <p:sp>
            <p:nvSpPr>
              <p:cNvPr id="484" name="Google Shape;484;p43"/>
              <p:cNvSpPr/>
              <p:nvPr/>
            </p:nvSpPr>
            <p:spPr>
              <a:xfrm>
                <a:off x="-1951475" y="3597450"/>
                <a:ext cx="170925" cy="3467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1387" extrusionOk="0">
                    <a:moveTo>
                      <a:pt x="1008" y="1"/>
                    </a:moveTo>
                    <a:cubicBezTo>
                      <a:pt x="473" y="1"/>
                      <a:pt x="0" y="473"/>
                      <a:pt x="0" y="1040"/>
                    </a:cubicBezTo>
                    <a:lnTo>
                      <a:pt x="0" y="1387"/>
                    </a:lnTo>
                    <a:lnTo>
                      <a:pt x="6837" y="1387"/>
                    </a:lnTo>
                    <a:lnTo>
                      <a:pt x="6837" y="1040"/>
                    </a:lnTo>
                    <a:cubicBezTo>
                      <a:pt x="6837" y="473"/>
                      <a:pt x="6364" y="1"/>
                      <a:pt x="58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43"/>
              <p:cNvSpPr/>
              <p:nvPr/>
            </p:nvSpPr>
            <p:spPr>
              <a:xfrm>
                <a:off x="-1949900" y="3648650"/>
                <a:ext cx="171725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6869" h="6932" extrusionOk="0">
                    <a:moveTo>
                      <a:pt x="0" y="1"/>
                    </a:moveTo>
                    <a:lnTo>
                      <a:pt x="0" y="6932"/>
                    </a:lnTo>
                    <a:lnTo>
                      <a:pt x="2426" y="6932"/>
                    </a:lnTo>
                    <a:cubicBezTo>
                      <a:pt x="2521" y="6585"/>
                      <a:pt x="2836" y="6333"/>
                      <a:pt x="3245" y="6270"/>
                    </a:cubicBezTo>
                    <a:lnTo>
                      <a:pt x="1166" y="4191"/>
                    </a:lnTo>
                    <a:cubicBezTo>
                      <a:pt x="693" y="3718"/>
                      <a:pt x="693" y="2962"/>
                      <a:pt x="1166" y="2489"/>
                    </a:cubicBezTo>
                    <a:cubicBezTo>
                      <a:pt x="1386" y="2237"/>
                      <a:pt x="1670" y="2143"/>
                      <a:pt x="2017" y="2143"/>
                    </a:cubicBezTo>
                    <a:cubicBezTo>
                      <a:pt x="2363" y="2143"/>
                      <a:pt x="2647" y="2237"/>
                      <a:pt x="2899" y="2489"/>
                    </a:cubicBezTo>
                    <a:lnTo>
                      <a:pt x="3560" y="3151"/>
                    </a:lnTo>
                    <a:cubicBezTo>
                      <a:pt x="3592" y="2994"/>
                      <a:pt x="3718" y="2836"/>
                      <a:pt x="3844" y="2710"/>
                    </a:cubicBezTo>
                    <a:cubicBezTo>
                      <a:pt x="4064" y="2489"/>
                      <a:pt x="4348" y="2363"/>
                      <a:pt x="4694" y="2363"/>
                    </a:cubicBezTo>
                    <a:cubicBezTo>
                      <a:pt x="4694" y="2048"/>
                      <a:pt x="4820" y="1733"/>
                      <a:pt x="5041" y="1513"/>
                    </a:cubicBezTo>
                    <a:cubicBezTo>
                      <a:pt x="5293" y="1261"/>
                      <a:pt x="5577" y="1135"/>
                      <a:pt x="5923" y="1135"/>
                    </a:cubicBezTo>
                    <a:cubicBezTo>
                      <a:pt x="6112" y="1135"/>
                      <a:pt x="6301" y="1198"/>
                      <a:pt x="6459" y="1261"/>
                    </a:cubicBezTo>
                    <a:cubicBezTo>
                      <a:pt x="6522" y="1072"/>
                      <a:pt x="6616" y="914"/>
                      <a:pt x="6774" y="757"/>
                    </a:cubicBezTo>
                    <a:lnTo>
                      <a:pt x="6868" y="662"/>
                    </a:lnTo>
                    <a:lnTo>
                      <a:pt x="686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43"/>
              <p:cNvSpPr/>
              <p:nvPr/>
            </p:nvSpPr>
            <p:spPr>
              <a:xfrm>
                <a:off x="-1951475" y="3838475"/>
                <a:ext cx="170925" cy="5042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2017" extrusionOk="0">
                    <a:moveTo>
                      <a:pt x="0" y="0"/>
                    </a:moveTo>
                    <a:lnTo>
                      <a:pt x="0" y="1008"/>
                    </a:lnTo>
                    <a:cubicBezTo>
                      <a:pt x="0" y="1544"/>
                      <a:pt x="473" y="2017"/>
                      <a:pt x="1008" y="2017"/>
                    </a:cubicBezTo>
                    <a:lnTo>
                      <a:pt x="5829" y="2017"/>
                    </a:lnTo>
                    <a:cubicBezTo>
                      <a:pt x="6333" y="2017"/>
                      <a:pt x="6774" y="1670"/>
                      <a:pt x="6837" y="1166"/>
                    </a:cubicBezTo>
                    <a:lnTo>
                      <a:pt x="6679" y="1071"/>
                    </a:lnTo>
                    <a:lnTo>
                      <a:pt x="3466" y="1071"/>
                    </a:lnTo>
                    <a:cubicBezTo>
                      <a:pt x="2867" y="1071"/>
                      <a:pt x="2363" y="599"/>
                      <a:pt x="22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487;p43"/>
              <p:cNvSpPr/>
              <p:nvPr/>
            </p:nvSpPr>
            <p:spPr>
              <a:xfrm>
                <a:off x="-1912900" y="3675825"/>
                <a:ext cx="256800" cy="202825"/>
              </a:xfrm>
              <a:custGeom>
                <a:avLst/>
                <a:gdLst/>
                <a:ahLst/>
                <a:cxnLst/>
                <a:rect l="l" t="t" r="r" b="b"/>
                <a:pathLst>
                  <a:path w="10272" h="8113" extrusionOk="0">
                    <a:moveTo>
                      <a:pt x="6085" y="0"/>
                    </a:moveTo>
                    <a:cubicBezTo>
                      <a:pt x="5955" y="0"/>
                      <a:pt x="5829" y="48"/>
                      <a:pt x="5735" y="142"/>
                    </a:cubicBezTo>
                    <a:cubicBezTo>
                      <a:pt x="5546" y="331"/>
                      <a:pt x="5546" y="646"/>
                      <a:pt x="5735" y="835"/>
                    </a:cubicBezTo>
                    <a:lnTo>
                      <a:pt x="6081" y="1213"/>
                    </a:lnTo>
                    <a:cubicBezTo>
                      <a:pt x="6207" y="1308"/>
                      <a:pt x="6207" y="1560"/>
                      <a:pt x="6081" y="1655"/>
                    </a:cubicBezTo>
                    <a:cubicBezTo>
                      <a:pt x="6034" y="1718"/>
                      <a:pt x="5948" y="1749"/>
                      <a:pt x="5857" y="1749"/>
                    </a:cubicBezTo>
                    <a:cubicBezTo>
                      <a:pt x="5766" y="1749"/>
                      <a:pt x="5672" y="1718"/>
                      <a:pt x="5609" y="1655"/>
                    </a:cubicBezTo>
                    <a:lnTo>
                      <a:pt x="4758" y="804"/>
                    </a:lnTo>
                    <a:cubicBezTo>
                      <a:pt x="4664" y="709"/>
                      <a:pt x="4538" y="662"/>
                      <a:pt x="4408" y="662"/>
                    </a:cubicBezTo>
                    <a:cubicBezTo>
                      <a:pt x="4278" y="662"/>
                      <a:pt x="4144" y="709"/>
                      <a:pt x="4034" y="804"/>
                    </a:cubicBezTo>
                    <a:cubicBezTo>
                      <a:pt x="3845" y="993"/>
                      <a:pt x="3845" y="1308"/>
                      <a:pt x="4034" y="1528"/>
                    </a:cubicBezTo>
                    <a:cubicBezTo>
                      <a:pt x="4034" y="1655"/>
                      <a:pt x="4884" y="2505"/>
                      <a:pt x="4821" y="2505"/>
                    </a:cubicBezTo>
                    <a:cubicBezTo>
                      <a:pt x="4947" y="2631"/>
                      <a:pt x="4947" y="2852"/>
                      <a:pt x="4821" y="2978"/>
                    </a:cubicBezTo>
                    <a:cubicBezTo>
                      <a:pt x="4774" y="3041"/>
                      <a:pt x="4687" y="3072"/>
                      <a:pt x="4601" y="3072"/>
                    </a:cubicBezTo>
                    <a:cubicBezTo>
                      <a:pt x="4514" y="3072"/>
                      <a:pt x="4427" y="3041"/>
                      <a:pt x="4380" y="2978"/>
                    </a:cubicBezTo>
                    <a:lnTo>
                      <a:pt x="3498" y="2096"/>
                    </a:lnTo>
                    <a:cubicBezTo>
                      <a:pt x="3403" y="2001"/>
                      <a:pt x="3277" y="1954"/>
                      <a:pt x="3151" y="1954"/>
                    </a:cubicBezTo>
                    <a:cubicBezTo>
                      <a:pt x="3025" y="1954"/>
                      <a:pt x="2899" y="2001"/>
                      <a:pt x="2805" y="2096"/>
                    </a:cubicBezTo>
                    <a:cubicBezTo>
                      <a:pt x="2584" y="2316"/>
                      <a:pt x="2584" y="2631"/>
                      <a:pt x="2805" y="2820"/>
                    </a:cubicBezTo>
                    <a:lnTo>
                      <a:pt x="3656" y="3671"/>
                    </a:lnTo>
                    <a:cubicBezTo>
                      <a:pt x="3782" y="3797"/>
                      <a:pt x="3782" y="4017"/>
                      <a:pt x="3656" y="4143"/>
                    </a:cubicBezTo>
                    <a:cubicBezTo>
                      <a:pt x="3593" y="4206"/>
                      <a:pt x="3506" y="4238"/>
                      <a:pt x="3419" y="4238"/>
                    </a:cubicBezTo>
                    <a:cubicBezTo>
                      <a:pt x="3333" y="4238"/>
                      <a:pt x="3246" y="4206"/>
                      <a:pt x="3183" y="4143"/>
                    </a:cubicBezTo>
                    <a:lnTo>
                      <a:pt x="883" y="1875"/>
                    </a:lnTo>
                    <a:cubicBezTo>
                      <a:pt x="789" y="1765"/>
                      <a:pt x="663" y="1710"/>
                      <a:pt x="537" y="1710"/>
                    </a:cubicBezTo>
                    <a:cubicBezTo>
                      <a:pt x="411" y="1710"/>
                      <a:pt x="284" y="1765"/>
                      <a:pt x="190" y="1875"/>
                    </a:cubicBezTo>
                    <a:cubicBezTo>
                      <a:pt x="1" y="2064"/>
                      <a:pt x="1" y="2379"/>
                      <a:pt x="190" y="2568"/>
                    </a:cubicBezTo>
                    <a:lnTo>
                      <a:pt x="1797" y="4206"/>
                    </a:lnTo>
                    <a:lnTo>
                      <a:pt x="3403" y="5845"/>
                    </a:lnTo>
                    <a:lnTo>
                      <a:pt x="1954" y="5845"/>
                    </a:lnTo>
                    <a:cubicBezTo>
                      <a:pt x="1671" y="5845"/>
                      <a:pt x="1450" y="6097"/>
                      <a:pt x="1450" y="6349"/>
                    </a:cubicBezTo>
                    <a:cubicBezTo>
                      <a:pt x="1450" y="6632"/>
                      <a:pt x="1671" y="6884"/>
                      <a:pt x="1954" y="6884"/>
                    </a:cubicBezTo>
                    <a:lnTo>
                      <a:pt x="5451" y="6884"/>
                    </a:lnTo>
                    <a:cubicBezTo>
                      <a:pt x="5514" y="6916"/>
                      <a:pt x="6491" y="7829"/>
                      <a:pt x="6491" y="7829"/>
                    </a:cubicBezTo>
                    <a:cubicBezTo>
                      <a:pt x="6680" y="8018"/>
                      <a:pt x="6948" y="8113"/>
                      <a:pt x="7216" y="8113"/>
                    </a:cubicBezTo>
                    <a:cubicBezTo>
                      <a:pt x="7483" y="8113"/>
                      <a:pt x="7751" y="8018"/>
                      <a:pt x="7940" y="7829"/>
                    </a:cubicBezTo>
                    <a:lnTo>
                      <a:pt x="9862" y="5876"/>
                    </a:lnTo>
                    <a:cubicBezTo>
                      <a:pt x="10272" y="5498"/>
                      <a:pt x="10272" y="4836"/>
                      <a:pt x="9862" y="4427"/>
                    </a:cubicBezTo>
                    <a:lnTo>
                      <a:pt x="9452" y="3986"/>
                    </a:lnTo>
                    <a:cubicBezTo>
                      <a:pt x="9326" y="3608"/>
                      <a:pt x="9043" y="3198"/>
                      <a:pt x="8822" y="2820"/>
                    </a:cubicBezTo>
                    <a:cubicBezTo>
                      <a:pt x="8570" y="2411"/>
                      <a:pt x="8350" y="2064"/>
                      <a:pt x="8035" y="1718"/>
                    </a:cubicBezTo>
                    <a:lnTo>
                      <a:pt x="6459" y="142"/>
                    </a:lnTo>
                    <a:cubicBezTo>
                      <a:pt x="6349" y="48"/>
                      <a:pt x="6215" y="0"/>
                      <a:pt x="60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8" name="Google Shape;488;p43"/>
          <p:cNvCxnSpPr>
            <a:stCxn id="482" idx="4"/>
            <a:endCxn id="455" idx="0"/>
          </p:cNvCxnSpPr>
          <p:nvPr/>
        </p:nvCxnSpPr>
        <p:spPr>
          <a:xfrm>
            <a:off x="75111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9" name="Google Shape;489;p43"/>
          <p:cNvGrpSpPr/>
          <p:nvPr/>
        </p:nvGrpSpPr>
        <p:grpSpPr>
          <a:xfrm>
            <a:off x="1409425" y="3099981"/>
            <a:ext cx="419710" cy="441156"/>
            <a:chOff x="1409425" y="3099981"/>
            <a:chExt cx="419710" cy="441156"/>
          </a:xfrm>
        </p:grpSpPr>
        <p:sp>
          <p:nvSpPr>
            <p:cNvPr id="490" name="Google Shape;490;p43"/>
            <p:cNvSpPr/>
            <p:nvPr/>
          </p:nvSpPr>
          <p:spPr>
            <a:xfrm>
              <a:off x="14094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91" name="Google Shape;491;p43"/>
            <p:cNvGrpSpPr/>
            <p:nvPr/>
          </p:nvGrpSpPr>
          <p:grpSpPr>
            <a:xfrm>
              <a:off x="1409425" y="3099981"/>
              <a:ext cx="419710" cy="419038"/>
              <a:chOff x="1753950" y="2118150"/>
              <a:chExt cx="341700" cy="341125"/>
            </a:xfrm>
          </p:grpSpPr>
          <p:sp>
            <p:nvSpPr>
              <p:cNvPr id="492" name="Google Shape;492;p43"/>
              <p:cNvSpPr/>
              <p:nvPr/>
            </p:nvSpPr>
            <p:spPr>
              <a:xfrm>
                <a:off x="1794500" y="2238725"/>
                <a:ext cx="60025" cy="60000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2400" extrusionOk="0">
                    <a:moveTo>
                      <a:pt x="1201" y="0"/>
                    </a:moveTo>
                    <a:cubicBezTo>
                      <a:pt x="538" y="0"/>
                      <a:pt x="1" y="538"/>
                      <a:pt x="1" y="1201"/>
                    </a:cubicBezTo>
                    <a:cubicBezTo>
                      <a:pt x="1" y="1862"/>
                      <a:pt x="538" y="2400"/>
                      <a:pt x="1201" y="2400"/>
                    </a:cubicBezTo>
                    <a:cubicBezTo>
                      <a:pt x="1863" y="2400"/>
                      <a:pt x="2400" y="1862"/>
                      <a:pt x="2400" y="1201"/>
                    </a:cubicBezTo>
                    <a:cubicBezTo>
                      <a:pt x="2400" y="538"/>
                      <a:pt x="1863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43"/>
              <p:cNvSpPr/>
              <p:nvPr/>
            </p:nvSpPr>
            <p:spPr>
              <a:xfrm>
                <a:off x="1753950" y="2331675"/>
                <a:ext cx="341700" cy="127600"/>
              </a:xfrm>
              <a:custGeom>
                <a:avLst/>
                <a:gdLst/>
                <a:ahLst/>
                <a:cxnLst/>
                <a:rect l="l" t="t" r="r" b="b"/>
                <a:pathLst>
                  <a:path w="13668" h="5104" extrusionOk="0">
                    <a:moveTo>
                      <a:pt x="11095" y="2680"/>
                    </a:moveTo>
                    <a:lnTo>
                      <a:pt x="11825" y="4305"/>
                    </a:lnTo>
                    <a:lnTo>
                      <a:pt x="6637" y="4305"/>
                    </a:lnTo>
                    <a:lnTo>
                      <a:pt x="7368" y="2680"/>
                    </a:lnTo>
                    <a:cubicBezTo>
                      <a:pt x="7453" y="2688"/>
                      <a:pt x="7534" y="2704"/>
                      <a:pt x="7619" y="2704"/>
                    </a:cubicBezTo>
                    <a:lnTo>
                      <a:pt x="10844" y="2704"/>
                    </a:lnTo>
                    <a:cubicBezTo>
                      <a:pt x="10930" y="2704"/>
                      <a:pt x="11011" y="2688"/>
                      <a:pt x="11095" y="2680"/>
                    </a:cubicBezTo>
                    <a:close/>
                    <a:moveTo>
                      <a:pt x="13634" y="0"/>
                    </a:moveTo>
                    <a:lnTo>
                      <a:pt x="13634" y="0"/>
                    </a:lnTo>
                    <a:cubicBezTo>
                      <a:pt x="13031" y="687"/>
                      <a:pt x="12162" y="1080"/>
                      <a:pt x="11250" y="1080"/>
                    </a:cubicBezTo>
                    <a:cubicBezTo>
                      <a:pt x="11248" y="1080"/>
                      <a:pt x="11246" y="1080"/>
                      <a:pt x="11245" y="1080"/>
                    </a:cubicBezTo>
                    <a:lnTo>
                      <a:pt x="7221" y="1080"/>
                    </a:lnTo>
                    <a:cubicBezTo>
                      <a:pt x="7219" y="1080"/>
                      <a:pt x="7217" y="1080"/>
                      <a:pt x="7216" y="1080"/>
                    </a:cubicBezTo>
                    <a:cubicBezTo>
                      <a:pt x="6302" y="1080"/>
                      <a:pt x="5431" y="687"/>
                      <a:pt x="4829" y="2"/>
                    </a:cubicBezTo>
                    <a:lnTo>
                      <a:pt x="4829" y="2"/>
                    </a:lnTo>
                    <a:cubicBezTo>
                      <a:pt x="4871" y="1123"/>
                      <a:pt x="5582" y="2100"/>
                      <a:pt x="6573" y="2502"/>
                    </a:cubicBezTo>
                    <a:lnTo>
                      <a:pt x="5762" y="4305"/>
                    </a:lnTo>
                    <a:lnTo>
                      <a:pt x="4823" y="4305"/>
                    </a:lnTo>
                    <a:lnTo>
                      <a:pt x="4823" y="3905"/>
                    </a:lnTo>
                    <a:cubicBezTo>
                      <a:pt x="4823" y="3685"/>
                      <a:pt x="4644" y="3504"/>
                      <a:pt x="4423" y="3504"/>
                    </a:cubicBezTo>
                    <a:lnTo>
                      <a:pt x="399" y="3504"/>
                    </a:lnTo>
                    <a:cubicBezTo>
                      <a:pt x="179" y="3504"/>
                      <a:pt x="0" y="3683"/>
                      <a:pt x="0" y="3905"/>
                    </a:cubicBezTo>
                    <a:lnTo>
                      <a:pt x="0" y="4703"/>
                    </a:lnTo>
                    <a:cubicBezTo>
                      <a:pt x="0" y="4925"/>
                      <a:pt x="179" y="5104"/>
                      <a:pt x="399" y="5104"/>
                    </a:cubicBezTo>
                    <a:lnTo>
                      <a:pt x="13234" y="5104"/>
                    </a:lnTo>
                    <a:cubicBezTo>
                      <a:pt x="13439" y="5104"/>
                      <a:pt x="13619" y="4953"/>
                      <a:pt x="13641" y="4749"/>
                    </a:cubicBezTo>
                    <a:cubicBezTo>
                      <a:pt x="13668" y="4512"/>
                      <a:pt x="13484" y="4305"/>
                      <a:pt x="13246" y="4305"/>
                    </a:cubicBezTo>
                    <a:cubicBezTo>
                      <a:pt x="13246" y="4305"/>
                      <a:pt x="13245" y="4305"/>
                      <a:pt x="13244" y="4305"/>
                    </a:cubicBezTo>
                    <a:lnTo>
                      <a:pt x="12702" y="4305"/>
                    </a:lnTo>
                    <a:lnTo>
                      <a:pt x="11891" y="2500"/>
                    </a:lnTo>
                    <a:cubicBezTo>
                      <a:pt x="12882" y="2099"/>
                      <a:pt x="13592" y="1121"/>
                      <a:pt x="136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Google Shape;494;p43"/>
              <p:cNvSpPr/>
              <p:nvPr/>
            </p:nvSpPr>
            <p:spPr>
              <a:xfrm>
                <a:off x="1934450" y="2208750"/>
                <a:ext cx="100625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2399" extrusionOk="0">
                    <a:moveTo>
                      <a:pt x="1" y="0"/>
                    </a:moveTo>
                    <a:lnTo>
                      <a:pt x="1" y="1784"/>
                    </a:lnTo>
                    <a:cubicBezTo>
                      <a:pt x="327" y="1985"/>
                      <a:pt x="1108" y="2398"/>
                      <a:pt x="2000" y="2398"/>
                    </a:cubicBezTo>
                    <a:cubicBezTo>
                      <a:pt x="2898" y="2398"/>
                      <a:pt x="3701" y="1986"/>
                      <a:pt x="4025" y="1785"/>
                    </a:cubicBezTo>
                    <a:lnTo>
                      <a:pt x="40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Google Shape;495;p43"/>
              <p:cNvSpPr/>
              <p:nvPr/>
            </p:nvSpPr>
            <p:spPr>
              <a:xfrm>
                <a:off x="1874500" y="2118150"/>
                <a:ext cx="2205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823" h="8822" extrusionOk="0">
                    <a:moveTo>
                      <a:pt x="5230" y="1226"/>
                    </a:moveTo>
                    <a:cubicBezTo>
                      <a:pt x="5451" y="1226"/>
                      <a:pt x="5631" y="1405"/>
                      <a:pt x="5631" y="1626"/>
                    </a:cubicBezTo>
                    <a:cubicBezTo>
                      <a:pt x="5631" y="1847"/>
                      <a:pt x="5452" y="2025"/>
                      <a:pt x="5233" y="2025"/>
                    </a:cubicBezTo>
                    <a:cubicBezTo>
                      <a:pt x="5229" y="2025"/>
                      <a:pt x="5226" y="2025"/>
                      <a:pt x="5222" y="2025"/>
                    </a:cubicBezTo>
                    <a:lnTo>
                      <a:pt x="3598" y="2025"/>
                    </a:lnTo>
                    <a:cubicBezTo>
                      <a:pt x="3379" y="2021"/>
                      <a:pt x="3206" y="1843"/>
                      <a:pt x="3206" y="1626"/>
                    </a:cubicBezTo>
                    <a:cubicBezTo>
                      <a:pt x="3206" y="1409"/>
                      <a:pt x="3379" y="1231"/>
                      <a:pt x="3598" y="1226"/>
                    </a:cubicBezTo>
                    <a:lnTo>
                      <a:pt x="5222" y="1226"/>
                    </a:lnTo>
                    <a:cubicBezTo>
                      <a:pt x="5225" y="1226"/>
                      <a:pt x="5227" y="1226"/>
                      <a:pt x="5230" y="1226"/>
                    </a:cubicBezTo>
                    <a:close/>
                    <a:moveTo>
                      <a:pt x="6823" y="2825"/>
                    </a:moveTo>
                    <a:cubicBezTo>
                      <a:pt x="7044" y="2825"/>
                      <a:pt x="7223" y="3004"/>
                      <a:pt x="7223" y="3226"/>
                    </a:cubicBezTo>
                    <a:lnTo>
                      <a:pt x="7223" y="5624"/>
                    </a:lnTo>
                    <a:cubicBezTo>
                      <a:pt x="7223" y="5749"/>
                      <a:pt x="7164" y="5869"/>
                      <a:pt x="7062" y="5944"/>
                    </a:cubicBezTo>
                    <a:cubicBezTo>
                      <a:pt x="7013" y="5981"/>
                      <a:pt x="5838" y="6823"/>
                      <a:pt x="4398" y="6823"/>
                    </a:cubicBezTo>
                    <a:cubicBezTo>
                      <a:pt x="2958" y="6823"/>
                      <a:pt x="1810" y="5979"/>
                      <a:pt x="1761" y="5944"/>
                    </a:cubicBezTo>
                    <a:cubicBezTo>
                      <a:pt x="1659" y="5869"/>
                      <a:pt x="1600" y="5749"/>
                      <a:pt x="1600" y="5624"/>
                    </a:cubicBezTo>
                    <a:lnTo>
                      <a:pt x="1600" y="3226"/>
                    </a:lnTo>
                    <a:cubicBezTo>
                      <a:pt x="1600" y="3004"/>
                      <a:pt x="1779" y="2825"/>
                      <a:pt x="2000" y="2825"/>
                    </a:cubicBezTo>
                    <a:close/>
                    <a:moveTo>
                      <a:pt x="1995" y="6822"/>
                    </a:moveTo>
                    <a:cubicBezTo>
                      <a:pt x="2201" y="6822"/>
                      <a:pt x="2397" y="6981"/>
                      <a:pt x="2397" y="7223"/>
                    </a:cubicBezTo>
                    <a:cubicBezTo>
                      <a:pt x="2397" y="7443"/>
                      <a:pt x="2219" y="7621"/>
                      <a:pt x="1999" y="7621"/>
                    </a:cubicBezTo>
                    <a:cubicBezTo>
                      <a:pt x="1641" y="7621"/>
                      <a:pt x="1464" y="7192"/>
                      <a:pt x="1715" y="6939"/>
                    </a:cubicBezTo>
                    <a:cubicBezTo>
                      <a:pt x="1797" y="6858"/>
                      <a:pt x="1897" y="6822"/>
                      <a:pt x="1995" y="6822"/>
                    </a:cubicBezTo>
                    <a:close/>
                    <a:moveTo>
                      <a:pt x="6819" y="6822"/>
                    </a:moveTo>
                    <a:cubicBezTo>
                      <a:pt x="7024" y="6822"/>
                      <a:pt x="7221" y="6981"/>
                      <a:pt x="7221" y="7223"/>
                    </a:cubicBezTo>
                    <a:cubicBezTo>
                      <a:pt x="7221" y="7443"/>
                      <a:pt x="7043" y="7621"/>
                      <a:pt x="6821" y="7621"/>
                    </a:cubicBezTo>
                    <a:cubicBezTo>
                      <a:pt x="6465" y="7621"/>
                      <a:pt x="6287" y="7192"/>
                      <a:pt x="6539" y="6939"/>
                    </a:cubicBezTo>
                    <a:cubicBezTo>
                      <a:pt x="6620" y="6858"/>
                      <a:pt x="6720" y="6822"/>
                      <a:pt x="6819" y="6822"/>
                    </a:cubicBezTo>
                    <a:close/>
                    <a:moveTo>
                      <a:pt x="4398" y="1"/>
                    </a:moveTo>
                    <a:cubicBezTo>
                      <a:pt x="1960" y="1"/>
                      <a:pt x="1" y="2434"/>
                      <a:pt x="1" y="4425"/>
                    </a:cubicBezTo>
                    <a:lnTo>
                      <a:pt x="1" y="6422"/>
                    </a:lnTo>
                    <a:cubicBezTo>
                      <a:pt x="1" y="7743"/>
                      <a:pt x="1080" y="8822"/>
                      <a:pt x="2399" y="8822"/>
                    </a:cubicBezTo>
                    <a:lnTo>
                      <a:pt x="6423" y="8822"/>
                    </a:lnTo>
                    <a:cubicBezTo>
                      <a:pt x="7743" y="8822"/>
                      <a:pt x="8822" y="7743"/>
                      <a:pt x="8822" y="6422"/>
                    </a:cubicBezTo>
                    <a:lnTo>
                      <a:pt x="8822" y="4425"/>
                    </a:lnTo>
                    <a:cubicBezTo>
                      <a:pt x="8822" y="2433"/>
                      <a:pt x="6836" y="1"/>
                      <a:pt x="43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43"/>
              <p:cNvSpPr/>
              <p:nvPr/>
            </p:nvSpPr>
            <p:spPr>
              <a:xfrm>
                <a:off x="1794550" y="2298725"/>
                <a:ext cx="60000" cy="100600"/>
              </a:xfrm>
              <a:custGeom>
                <a:avLst/>
                <a:gdLst/>
                <a:ahLst/>
                <a:cxnLst/>
                <a:rect l="l" t="t" r="r" b="b"/>
                <a:pathLst>
                  <a:path w="2400" h="4024" extrusionOk="0">
                    <a:moveTo>
                      <a:pt x="1202" y="1"/>
                    </a:moveTo>
                    <a:cubicBezTo>
                      <a:pt x="1180" y="1"/>
                      <a:pt x="1157" y="1"/>
                      <a:pt x="1134" y="3"/>
                    </a:cubicBezTo>
                    <a:cubicBezTo>
                      <a:pt x="510" y="35"/>
                      <a:pt x="0" y="593"/>
                      <a:pt x="0" y="1218"/>
                    </a:cubicBezTo>
                    <a:lnTo>
                      <a:pt x="0" y="4024"/>
                    </a:lnTo>
                    <a:lnTo>
                      <a:pt x="2400" y="4024"/>
                    </a:lnTo>
                    <a:lnTo>
                      <a:pt x="2400" y="1200"/>
                    </a:lnTo>
                    <a:cubicBezTo>
                      <a:pt x="2398" y="535"/>
                      <a:pt x="1859" y="1"/>
                      <a:pt x="120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97" name="Google Shape;497;p43"/>
          <p:cNvCxnSpPr>
            <a:stCxn id="490" idx="4"/>
            <a:endCxn id="457" idx="0"/>
          </p:cNvCxnSpPr>
          <p:nvPr/>
        </p:nvCxnSpPr>
        <p:spPr>
          <a:xfrm>
            <a:off x="16192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98" name="Google Shape;498;p43"/>
          <p:cNvGrpSpPr/>
          <p:nvPr/>
        </p:nvGrpSpPr>
        <p:grpSpPr>
          <a:xfrm>
            <a:off x="3373375" y="1349956"/>
            <a:ext cx="419700" cy="436007"/>
            <a:chOff x="3373375" y="1349956"/>
            <a:chExt cx="419700" cy="436007"/>
          </a:xfrm>
        </p:grpSpPr>
        <p:sp>
          <p:nvSpPr>
            <p:cNvPr id="499" name="Google Shape;499;p43"/>
            <p:cNvSpPr/>
            <p:nvPr/>
          </p:nvSpPr>
          <p:spPr>
            <a:xfrm>
              <a:off x="33733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0" name="Google Shape;500;p43"/>
            <p:cNvGrpSpPr/>
            <p:nvPr/>
          </p:nvGrpSpPr>
          <p:grpSpPr>
            <a:xfrm>
              <a:off x="3422233" y="1349956"/>
              <a:ext cx="321965" cy="419686"/>
              <a:chOff x="1791775" y="3235550"/>
              <a:chExt cx="261675" cy="341125"/>
            </a:xfrm>
          </p:grpSpPr>
          <p:sp>
            <p:nvSpPr>
              <p:cNvPr id="501" name="Google Shape;501;p43"/>
              <p:cNvSpPr/>
              <p:nvPr/>
            </p:nvSpPr>
            <p:spPr>
              <a:xfrm>
                <a:off x="1791775" y="3449050"/>
                <a:ext cx="261675" cy="127625"/>
              </a:xfrm>
              <a:custGeom>
                <a:avLst/>
                <a:gdLst/>
                <a:ahLst/>
                <a:cxnLst/>
                <a:rect l="l" t="t" r="r" b="b"/>
                <a:pathLst>
                  <a:path w="10467" h="5105" extrusionOk="0">
                    <a:moveTo>
                      <a:pt x="7407" y="2644"/>
                    </a:moveTo>
                    <a:lnTo>
                      <a:pt x="8268" y="3505"/>
                    </a:lnTo>
                    <a:lnTo>
                      <a:pt x="2204" y="3505"/>
                    </a:lnTo>
                    <a:lnTo>
                      <a:pt x="3065" y="2644"/>
                    </a:lnTo>
                    <a:cubicBezTo>
                      <a:pt x="3254" y="2684"/>
                      <a:pt x="3446" y="2705"/>
                      <a:pt x="3638" y="2706"/>
                    </a:cubicBezTo>
                    <a:lnTo>
                      <a:pt x="6836" y="2706"/>
                    </a:lnTo>
                    <a:cubicBezTo>
                      <a:pt x="7028" y="2705"/>
                      <a:pt x="7220" y="2684"/>
                      <a:pt x="7407" y="2644"/>
                    </a:cubicBezTo>
                    <a:close/>
                    <a:moveTo>
                      <a:pt x="847" y="1"/>
                    </a:moveTo>
                    <a:lnTo>
                      <a:pt x="847" y="1"/>
                    </a:lnTo>
                    <a:cubicBezTo>
                      <a:pt x="884" y="987"/>
                      <a:pt x="1445" y="1862"/>
                      <a:pt x="2252" y="2327"/>
                    </a:cubicBezTo>
                    <a:lnTo>
                      <a:pt x="157" y="4422"/>
                    </a:lnTo>
                    <a:cubicBezTo>
                      <a:pt x="1" y="4578"/>
                      <a:pt x="1" y="4831"/>
                      <a:pt x="157" y="4987"/>
                    </a:cubicBezTo>
                    <a:cubicBezTo>
                      <a:pt x="235" y="5066"/>
                      <a:pt x="338" y="5105"/>
                      <a:pt x="440" y="5105"/>
                    </a:cubicBezTo>
                    <a:cubicBezTo>
                      <a:pt x="542" y="5105"/>
                      <a:pt x="644" y="5066"/>
                      <a:pt x="723" y="4987"/>
                    </a:cubicBezTo>
                    <a:lnTo>
                      <a:pt x="1405" y="4304"/>
                    </a:lnTo>
                    <a:lnTo>
                      <a:pt x="9069" y="4304"/>
                    </a:lnTo>
                    <a:lnTo>
                      <a:pt x="9752" y="4987"/>
                    </a:lnTo>
                    <a:cubicBezTo>
                      <a:pt x="9829" y="5062"/>
                      <a:pt x="9929" y="5099"/>
                      <a:pt x="10028" y="5099"/>
                    </a:cubicBezTo>
                    <a:cubicBezTo>
                      <a:pt x="10130" y="5099"/>
                      <a:pt x="10232" y="5059"/>
                      <a:pt x="10310" y="4982"/>
                    </a:cubicBezTo>
                    <a:cubicBezTo>
                      <a:pt x="10464" y="4828"/>
                      <a:pt x="10467" y="4578"/>
                      <a:pt x="10316" y="4422"/>
                    </a:cubicBezTo>
                    <a:lnTo>
                      <a:pt x="8221" y="2327"/>
                    </a:lnTo>
                    <a:cubicBezTo>
                      <a:pt x="9029" y="1862"/>
                      <a:pt x="9590" y="987"/>
                      <a:pt x="9627" y="1"/>
                    </a:cubicBezTo>
                    <a:lnTo>
                      <a:pt x="9627" y="1"/>
                    </a:lnTo>
                    <a:cubicBezTo>
                      <a:pt x="9024" y="688"/>
                      <a:pt x="8155" y="1080"/>
                      <a:pt x="7241" y="1080"/>
                    </a:cubicBezTo>
                    <a:cubicBezTo>
                      <a:pt x="7239" y="1080"/>
                      <a:pt x="7238" y="1080"/>
                      <a:pt x="7236" y="1080"/>
                    </a:cubicBezTo>
                    <a:lnTo>
                      <a:pt x="3237" y="1080"/>
                    </a:lnTo>
                    <a:cubicBezTo>
                      <a:pt x="3236" y="1080"/>
                      <a:pt x="3234" y="1080"/>
                      <a:pt x="3232" y="1080"/>
                    </a:cubicBezTo>
                    <a:cubicBezTo>
                      <a:pt x="2319" y="1080"/>
                      <a:pt x="1450" y="688"/>
                      <a:pt x="84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43"/>
              <p:cNvSpPr/>
              <p:nvPr/>
            </p:nvSpPr>
            <p:spPr>
              <a:xfrm>
                <a:off x="1872725" y="3326125"/>
                <a:ext cx="99975" cy="60025"/>
              </a:xfrm>
              <a:custGeom>
                <a:avLst/>
                <a:gdLst/>
                <a:ahLst/>
                <a:cxnLst/>
                <a:rect l="l" t="t" r="r" b="b"/>
                <a:pathLst>
                  <a:path w="3999" h="2401" extrusionOk="0">
                    <a:moveTo>
                      <a:pt x="1" y="1"/>
                    </a:moveTo>
                    <a:lnTo>
                      <a:pt x="1" y="1785"/>
                    </a:lnTo>
                    <a:cubicBezTo>
                      <a:pt x="327" y="1985"/>
                      <a:pt x="1108" y="2400"/>
                      <a:pt x="2000" y="2400"/>
                    </a:cubicBezTo>
                    <a:cubicBezTo>
                      <a:pt x="2898" y="2400"/>
                      <a:pt x="3675" y="1987"/>
                      <a:pt x="3998" y="1786"/>
                    </a:cubicBezTo>
                    <a:lnTo>
                      <a:pt x="39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43"/>
              <p:cNvSpPr/>
              <p:nvPr/>
            </p:nvSpPr>
            <p:spPr>
              <a:xfrm>
                <a:off x="1812775" y="3235550"/>
                <a:ext cx="2198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795" h="8822" extrusionOk="0">
                    <a:moveTo>
                      <a:pt x="5196" y="1226"/>
                    </a:moveTo>
                    <a:cubicBezTo>
                      <a:pt x="5417" y="1226"/>
                      <a:pt x="5596" y="1404"/>
                      <a:pt x="5596" y="1626"/>
                    </a:cubicBezTo>
                    <a:cubicBezTo>
                      <a:pt x="5596" y="1846"/>
                      <a:pt x="5417" y="2025"/>
                      <a:pt x="5196" y="2025"/>
                    </a:cubicBezTo>
                    <a:lnTo>
                      <a:pt x="3596" y="2025"/>
                    </a:lnTo>
                    <a:cubicBezTo>
                      <a:pt x="3376" y="2025"/>
                      <a:pt x="3198" y="1846"/>
                      <a:pt x="3198" y="1626"/>
                    </a:cubicBezTo>
                    <a:cubicBezTo>
                      <a:pt x="3198" y="1404"/>
                      <a:pt x="3376" y="1226"/>
                      <a:pt x="3596" y="1226"/>
                    </a:cubicBezTo>
                    <a:close/>
                    <a:moveTo>
                      <a:pt x="6795" y="2825"/>
                    </a:moveTo>
                    <a:cubicBezTo>
                      <a:pt x="7016" y="2825"/>
                      <a:pt x="7195" y="3004"/>
                      <a:pt x="7195" y="3224"/>
                    </a:cubicBezTo>
                    <a:lnTo>
                      <a:pt x="7195" y="5623"/>
                    </a:lnTo>
                    <a:cubicBezTo>
                      <a:pt x="7195" y="5749"/>
                      <a:pt x="7136" y="5868"/>
                      <a:pt x="7034" y="5944"/>
                    </a:cubicBezTo>
                    <a:cubicBezTo>
                      <a:pt x="6985" y="5979"/>
                      <a:pt x="5836" y="6822"/>
                      <a:pt x="4397" y="6822"/>
                    </a:cubicBezTo>
                    <a:cubicBezTo>
                      <a:pt x="2957" y="6822"/>
                      <a:pt x="1808" y="5979"/>
                      <a:pt x="1759" y="5944"/>
                    </a:cubicBezTo>
                    <a:cubicBezTo>
                      <a:pt x="1658" y="5868"/>
                      <a:pt x="1599" y="5749"/>
                      <a:pt x="1599" y="5623"/>
                    </a:cubicBezTo>
                    <a:lnTo>
                      <a:pt x="1599" y="3225"/>
                    </a:lnTo>
                    <a:cubicBezTo>
                      <a:pt x="1599" y="3004"/>
                      <a:pt x="1779" y="2825"/>
                      <a:pt x="1999" y="2825"/>
                    </a:cubicBezTo>
                    <a:close/>
                    <a:moveTo>
                      <a:pt x="6792" y="6821"/>
                    </a:moveTo>
                    <a:cubicBezTo>
                      <a:pt x="6998" y="6821"/>
                      <a:pt x="7195" y="6980"/>
                      <a:pt x="7195" y="7221"/>
                    </a:cubicBezTo>
                    <a:cubicBezTo>
                      <a:pt x="7195" y="7442"/>
                      <a:pt x="7016" y="7621"/>
                      <a:pt x="6795" y="7621"/>
                    </a:cubicBezTo>
                    <a:cubicBezTo>
                      <a:pt x="6439" y="7621"/>
                      <a:pt x="6260" y="7190"/>
                      <a:pt x="6511" y="6939"/>
                    </a:cubicBezTo>
                    <a:cubicBezTo>
                      <a:pt x="6593" y="6857"/>
                      <a:pt x="6693" y="6821"/>
                      <a:pt x="6792" y="6821"/>
                    </a:cubicBezTo>
                    <a:close/>
                    <a:moveTo>
                      <a:pt x="1999" y="6822"/>
                    </a:moveTo>
                    <a:cubicBezTo>
                      <a:pt x="2355" y="6822"/>
                      <a:pt x="2532" y="7252"/>
                      <a:pt x="2281" y="7504"/>
                    </a:cubicBezTo>
                    <a:cubicBezTo>
                      <a:pt x="2199" y="7586"/>
                      <a:pt x="2099" y="7622"/>
                      <a:pt x="2001" y="7622"/>
                    </a:cubicBezTo>
                    <a:cubicBezTo>
                      <a:pt x="1795" y="7622"/>
                      <a:pt x="1599" y="7463"/>
                      <a:pt x="1599" y="7221"/>
                    </a:cubicBezTo>
                    <a:cubicBezTo>
                      <a:pt x="1599" y="7001"/>
                      <a:pt x="1777" y="6822"/>
                      <a:pt x="1999" y="6822"/>
                    </a:cubicBezTo>
                    <a:close/>
                    <a:moveTo>
                      <a:pt x="4398" y="0"/>
                    </a:moveTo>
                    <a:cubicBezTo>
                      <a:pt x="1959" y="0"/>
                      <a:pt x="1" y="2434"/>
                      <a:pt x="1" y="4424"/>
                    </a:cubicBezTo>
                    <a:lnTo>
                      <a:pt x="1" y="6422"/>
                    </a:lnTo>
                    <a:cubicBezTo>
                      <a:pt x="1" y="7742"/>
                      <a:pt x="1080" y="8822"/>
                      <a:pt x="2399" y="8822"/>
                    </a:cubicBezTo>
                    <a:lnTo>
                      <a:pt x="6396" y="8822"/>
                    </a:lnTo>
                    <a:cubicBezTo>
                      <a:pt x="7715" y="8822"/>
                      <a:pt x="8794" y="7742"/>
                      <a:pt x="8794" y="6422"/>
                    </a:cubicBezTo>
                    <a:lnTo>
                      <a:pt x="8794" y="4424"/>
                    </a:lnTo>
                    <a:cubicBezTo>
                      <a:pt x="8794" y="2434"/>
                      <a:pt x="6836" y="0"/>
                      <a:pt x="43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04" name="Google Shape;504;p43"/>
          <p:cNvCxnSpPr>
            <a:stCxn id="499" idx="4"/>
            <a:endCxn id="451" idx="0"/>
          </p:cNvCxnSpPr>
          <p:nvPr/>
        </p:nvCxnSpPr>
        <p:spPr>
          <a:xfrm>
            <a:off x="35832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05" name="Google Shape;505;p43"/>
          <p:cNvGrpSpPr/>
          <p:nvPr/>
        </p:nvGrpSpPr>
        <p:grpSpPr>
          <a:xfrm>
            <a:off x="3373375" y="3099652"/>
            <a:ext cx="419700" cy="441486"/>
            <a:chOff x="3373375" y="3099652"/>
            <a:chExt cx="419700" cy="441486"/>
          </a:xfrm>
        </p:grpSpPr>
        <p:sp>
          <p:nvSpPr>
            <p:cNvPr id="506" name="Google Shape;506;p43"/>
            <p:cNvSpPr/>
            <p:nvPr/>
          </p:nvSpPr>
          <p:spPr>
            <a:xfrm>
              <a:off x="337337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7" name="Google Shape;507;p43"/>
            <p:cNvGrpSpPr/>
            <p:nvPr/>
          </p:nvGrpSpPr>
          <p:grpSpPr>
            <a:xfrm>
              <a:off x="3398743" y="3099652"/>
              <a:ext cx="368966" cy="419689"/>
              <a:chOff x="238125" y="1564325"/>
              <a:chExt cx="299875" cy="341100"/>
            </a:xfrm>
          </p:grpSpPr>
          <p:sp>
            <p:nvSpPr>
              <p:cNvPr id="508" name="Google Shape;508;p43"/>
              <p:cNvSpPr/>
              <p:nvPr/>
            </p:nvSpPr>
            <p:spPr>
              <a:xfrm>
                <a:off x="4347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094" y="1"/>
                    </a:moveTo>
                    <a:cubicBezTo>
                      <a:pt x="867" y="556"/>
                      <a:pt x="487" y="1037"/>
                      <a:pt x="0" y="1387"/>
                    </a:cubicBezTo>
                    <a:lnTo>
                      <a:pt x="1732" y="1727"/>
                    </a:lnTo>
                    <a:lnTo>
                      <a:pt x="173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43"/>
              <p:cNvSpPr/>
              <p:nvPr/>
            </p:nvSpPr>
            <p:spPr>
              <a:xfrm>
                <a:off x="2981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" y="1"/>
                    </a:moveTo>
                    <a:lnTo>
                      <a:pt x="1" y="1727"/>
                    </a:lnTo>
                    <a:lnTo>
                      <a:pt x="1733" y="1387"/>
                    </a:lnTo>
                    <a:cubicBezTo>
                      <a:pt x="1245" y="1037"/>
                      <a:pt x="866" y="556"/>
                      <a:pt x="6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43"/>
              <p:cNvSpPr/>
              <p:nvPr/>
            </p:nvSpPr>
            <p:spPr>
              <a:xfrm>
                <a:off x="298100" y="1784525"/>
                <a:ext cx="39850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4" h="4836" extrusionOk="0">
                    <a:moveTo>
                      <a:pt x="793" y="0"/>
                    </a:moveTo>
                    <a:lnTo>
                      <a:pt x="1" y="155"/>
                    </a:lnTo>
                    <a:lnTo>
                      <a:pt x="1" y="4836"/>
                    </a:lnTo>
                    <a:lnTo>
                      <a:pt x="1594" y="4836"/>
                    </a:lnTo>
                    <a:lnTo>
                      <a:pt x="79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43"/>
              <p:cNvSpPr/>
              <p:nvPr/>
            </p:nvSpPr>
            <p:spPr>
              <a:xfrm>
                <a:off x="438150" y="1784525"/>
                <a:ext cx="39875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5" h="4836" extrusionOk="0">
                    <a:moveTo>
                      <a:pt x="803" y="0"/>
                    </a:moveTo>
                    <a:lnTo>
                      <a:pt x="1" y="4836"/>
                    </a:lnTo>
                    <a:lnTo>
                      <a:pt x="1594" y="4836"/>
                    </a:lnTo>
                    <a:lnTo>
                      <a:pt x="1594" y="155"/>
                    </a:lnTo>
                    <a:lnTo>
                      <a:pt x="80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43"/>
              <p:cNvSpPr/>
              <p:nvPr/>
            </p:nvSpPr>
            <p:spPr>
              <a:xfrm>
                <a:off x="339075" y="1789975"/>
                <a:ext cx="97975" cy="115450"/>
              </a:xfrm>
              <a:custGeom>
                <a:avLst/>
                <a:gdLst/>
                <a:ahLst/>
                <a:cxnLst/>
                <a:rect l="l" t="t" r="r" b="b"/>
                <a:pathLst>
                  <a:path w="3919" h="4618" extrusionOk="0">
                    <a:moveTo>
                      <a:pt x="1" y="1"/>
                    </a:moveTo>
                    <a:lnTo>
                      <a:pt x="765" y="4618"/>
                    </a:lnTo>
                    <a:lnTo>
                      <a:pt x="3153" y="4618"/>
                    </a:lnTo>
                    <a:lnTo>
                      <a:pt x="3918" y="1"/>
                    </a:lnTo>
                    <a:lnTo>
                      <a:pt x="2359" y="1558"/>
                    </a:lnTo>
                    <a:lnTo>
                      <a:pt x="2359" y="2992"/>
                    </a:lnTo>
                    <a:cubicBezTo>
                      <a:pt x="2365" y="3217"/>
                      <a:pt x="2183" y="3401"/>
                      <a:pt x="1960" y="3401"/>
                    </a:cubicBezTo>
                    <a:cubicBezTo>
                      <a:pt x="1736" y="3401"/>
                      <a:pt x="1555" y="3217"/>
                      <a:pt x="1560" y="2992"/>
                    </a:cubicBezTo>
                    <a:lnTo>
                      <a:pt x="1560" y="1558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43"/>
              <p:cNvSpPr/>
              <p:nvPr/>
            </p:nvSpPr>
            <p:spPr>
              <a:xfrm>
                <a:off x="238125" y="1792300"/>
                <a:ext cx="40025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1" h="4525" extrusionOk="0">
                    <a:moveTo>
                      <a:pt x="1601" y="1"/>
                    </a:moveTo>
                    <a:lnTo>
                      <a:pt x="989" y="120"/>
                    </a:lnTo>
                    <a:cubicBezTo>
                      <a:pt x="416" y="221"/>
                      <a:pt x="0" y="720"/>
                      <a:pt x="0" y="1301"/>
                    </a:cubicBezTo>
                    <a:lnTo>
                      <a:pt x="0" y="4125"/>
                    </a:lnTo>
                    <a:cubicBezTo>
                      <a:pt x="0" y="4346"/>
                      <a:pt x="180" y="4525"/>
                      <a:pt x="402" y="4525"/>
                    </a:cubicBezTo>
                    <a:lnTo>
                      <a:pt x="1601" y="4525"/>
                    </a:lnTo>
                    <a:lnTo>
                      <a:pt x="160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43"/>
              <p:cNvSpPr/>
              <p:nvPr/>
            </p:nvSpPr>
            <p:spPr>
              <a:xfrm>
                <a:off x="354650" y="1772000"/>
                <a:ext cx="66775" cy="38675"/>
              </a:xfrm>
              <a:custGeom>
                <a:avLst/>
                <a:gdLst/>
                <a:ahLst/>
                <a:cxnLst/>
                <a:rect l="l" t="t" r="r" b="b"/>
                <a:pathLst>
                  <a:path w="2671" h="1547" extrusionOk="0">
                    <a:moveTo>
                      <a:pt x="537" y="0"/>
                    </a:moveTo>
                    <a:lnTo>
                      <a:pt x="537" y="108"/>
                    </a:lnTo>
                    <a:lnTo>
                      <a:pt x="1" y="213"/>
                    </a:lnTo>
                    <a:lnTo>
                      <a:pt x="1336" y="1546"/>
                    </a:lnTo>
                    <a:lnTo>
                      <a:pt x="2670" y="213"/>
                    </a:lnTo>
                    <a:lnTo>
                      <a:pt x="2136" y="108"/>
                    </a:lnTo>
                    <a:lnTo>
                      <a:pt x="2136" y="0"/>
                    </a:lnTo>
                    <a:cubicBezTo>
                      <a:pt x="1879" y="67"/>
                      <a:pt x="1615" y="114"/>
                      <a:pt x="1337" y="114"/>
                    </a:cubicBezTo>
                    <a:cubicBezTo>
                      <a:pt x="1058" y="114"/>
                      <a:pt x="794" y="67"/>
                      <a:pt x="53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43"/>
              <p:cNvSpPr/>
              <p:nvPr/>
            </p:nvSpPr>
            <p:spPr>
              <a:xfrm>
                <a:off x="497950" y="1792300"/>
                <a:ext cx="40050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2" h="4525" extrusionOk="0">
                    <a:moveTo>
                      <a:pt x="1" y="1"/>
                    </a:moveTo>
                    <a:lnTo>
                      <a:pt x="1" y="4525"/>
                    </a:lnTo>
                    <a:lnTo>
                      <a:pt x="1201" y="4525"/>
                    </a:lnTo>
                    <a:cubicBezTo>
                      <a:pt x="1421" y="4525"/>
                      <a:pt x="1602" y="4346"/>
                      <a:pt x="1600" y="4125"/>
                    </a:cubicBezTo>
                    <a:lnTo>
                      <a:pt x="1600" y="1301"/>
                    </a:lnTo>
                    <a:cubicBezTo>
                      <a:pt x="1599" y="718"/>
                      <a:pt x="1179" y="219"/>
                      <a:pt x="603" y="119"/>
                    </a:cubicBez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43"/>
              <p:cNvSpPr/>
              <p:nvPr/>
            </p:nvSpPr>
            <p:spPr>
              <a:xfrm>
                <a:off x="467000" y="1644275"/>
                <a:ext cx="30975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39" h="2425" extrusionOk="0">
                    <a:moveTo>
                      <a:pt x="40" y="0"/>
                    </a:moveTo>
                    <a:lnTo>
                      <a:pt x="40" y="2026"/>
                    </a:lnTo>
                    <a:cubicBezTo>
                      <a:pt x="40" y="2162"/>
                      <a:pt x="16" y="2294"/>
                      <a:pt x="0" y="2425"/>
                    </a:cubicBezTo>
                    <a:lnTo>
                      <a:pt x="440" y="2425"/>
                    </a:lnTo>
                    <a:cubicBezTo>
                      <a:pt x="882" y="2425"/>
                      <a:pt x="1239" y="2068"/>
                      <a:pt x="1239" y="1625"/>
                    </a:cubicBezTo>
                    <a:lnTo>
                      <a:pt x="1239" y="799"/>
                    </a:lnTo>
                    <a:cubicBezTo>
                      <a:pt x="1239" y="358"/>
                      <a:pt x="882" y="0"/>
                      <a:pt x="44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43"/>
              <p:cNvSpPr/>
              <p:nvPr/>
            </p:nvSpPr>
            <p:spPr>
              <a:xfrm>
                <a:off x="278125" y="1644275"/>
                <a:ext cx="31000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40" h="2425" extrusionOk="0">
                    <a:moveTo>
                      <a:pt x="800" y="0"/>
                    </a:moveTo>
                    <a:cubicBezTo>
                      <a:pt x="358" y="0"/>
                      <a:pt x="1" y="358"/>
                      <a:pt x="1" y="799"/>
                    </a:cubicBezTo>
                    <a:lnTo>
                      <a:pt x="1" y="1625"/>
                    </a:lnTo>
                    <a:cubicBezTo>
                      <a:pt x="1" y="2066"/>
                      <a:pt x="358" y="2425"/>
                      <a:pt x="800" y="2425"/>
                    </a:cubicBezTo>
                    <a:lnTo>
                      <a:pt x="1240" y="2425"/>
                    </a:lnTo>
                    <a:cubicBezTo>
                      <a:pt x="1223" y="2292"/>
                      <a:pt x="1200" y="2162"/>
                      <a:pt x="1200" y="2025"/>
                    </a:cubicBezTo>
                    <a:lnTo>
                      <a:pt x="120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43"/>
              <p:cNvSpPr/>
              <p:nvPr/>
            </p:nvSpPr>
            <p:spPr>
              <a:xfrm>
                <a:off x="310900" y="1564325"/>
                <a:ext cx="1543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6172" h="2399" extrusionOk="0">
                    <a:moveTo>
                      <a:pt x="3087" y="0"/>
                    </a:moveTo>
                    <a:cubicBezTo>
                      <a:pt x="1599" y="0"/>
                      <a:pt x="358" y="1022"/>
                      <a:pt x="1" y="2398"/>
                    </a:cubicBezTo>
                    <a:lnTo>
                      <a:pt x="1488" y="2398"/>
                    </a:lnTo>
                    <a:cubicBezTo>
                      <a:pt x="2149" y="2398"/>
                      <a:pt x="2687" y="1862"/>
                      <a:pt x="2687" y="1199"/>
                    </a:cubicBezTo>
                    <a:cubicBezTo>
                      <a:pt x="2682" y="975"/>
                      <a:pt x="2863" y="790"/>
                      <a:pt x="3087" y="790"/>
                    </a:cubicBezTo>
                    <a:cubicBezTo>
                      <a:pt x="3311" y="790"/>
                      <a:pt x="3492" y="975"/>
                      <a:pt x="3487" y="1199"/>
                    </a:cubicBezTo>
                    <a:cubicBezTo>
                      <a:pt x="3487" y="1862"/>
                      <a:pt x="4023" y="2398"/>
                      <a:pt x="4686" y="2398"/>
                    </a:cubicBezTo>
                    <a:lnTo>
                      <a:pt x="6172" y="2398"/>
                    </a:lnTo>
                    <a:cubicBezTo>
                      <a:pt x="5814" y="1022"/>
                      <a:pt x="4575" y="0"/>
                      <a:pt x="308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43"/>
              <p:cNvSpPr/>
              <p:nvPr/>
            </p:nvSpPr>
            <p:spPr>
              <a:xfrm>
                <a:off x="328075" y="1624275"/>
                <a:ext cx="120000" cy="130625"/>
              </a:xfrm>
              <a:custGeom>
                <a:avLst/>
                <a:gdLst/>
                <a:ahLst/>
                <a:cxnLst/>
                <a:rect l="l" t="t" r="r" b="b"/>
                <a:pathLst>
                  <a:path w="4800" h="5225" extrusionOk="0">
                    <a:moveTo>
                      <a:pt x="2400" y="0"/>
                    </a:moveTo>
                    <a:cubicBezTo>
                      <a:pt x="2056" y="467"/>
                      <a:pt x="1409" y="800"/>
                      <a:pt x="801" y="800"/>
                    </a:cubicBezTo>
                    <a:lnTo>
                      <a:pt x="1" y="800"/>
                    </a:lnTo>
                    <a:lnTo>
                      <a:pt x="1" y="2826"/>
                    </a:lnTo>
                    <a:cubicBezTo>
                      <a:pt x="3" y="2959"/>
                      <a:pt x="17" y="3094"/>
                      <a:pt x="40" y="3225"/>
                    </a:cubicBezTo>
                    <a:lnTo>
                      <a:pt x="2400" y="3225"/>
                    </a:lnTo>
                    <a:cubicBezTo>
                      <a:pt x="2617" y="3229"/>
                      <a:pt x="2790" y="3408"/>
                      <a:pt x="2790" y="3625"/>
                    </a:cubicBezTo>
                    <a:cubicBezTo>
                      <a:pt x="2790" y="3842"/>
                      <a:pt x="2617" y="4019"/>
                      <a:pt x="2400" y="4025"/>
                    </a:cubicBezTo>
                    <a:lnTo>
                      <a:pt x="333" y="4025"/>
                    </a:lnTo>
                    <a:cubicBezTo>
                      <a:pt x="746" y="4740"/>
                      <a:pt x="1511" y="5224"/>
                      <a:pt x="2400" y="5224"/>
                    </a:cubicBezTo>
                    <a:cubicBezTo>
                      <a:pt x="2401" y="5224"/>
                      <a:pt x="2402" y="5224"/>
                      <a:pt x="2403" y="5224"/>
                    </a:cubicBezTo>
                    <a:cubicBezTo>
                      <a:pt x="3726" y="5224"/>
                      <a:pt x="4800" y="4150"/>
                      <a:pt x="4798" y="2826"/>
                    </a:cubicBezTo>
                    <a:lnTo>
                      <a:pt x="4798" y="800"/>
                    </a:lnTo>
                    <a:lnTo>
                      <a:pt x="3999" y="800"/>
                    </a:lnTo>
                    <a:cubicBezTo>
                      <a:pt x="3335" y="800"/>
                      <a:pt x="2722" y="439"/>
                      <a:pt x="240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20" name="Google Shape;520;p43"/>
          <p:cNvCxnSpPr>
            <a:stCxn id="506" idx="4"/>
            <a:endCxn id="459" idx="0"/>
          </p:cNvCxnSpPr>
          <p:nvPr/>
        </p:nvCxnSpPr>
        <p:spPr>
          <a:xfrm>
            <a:off x="358322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21" name="Google Shape;521;p43"/>
          <p:cNvGrpSpPr/>
          <p:nvPr/>
        </p:nvGrpSpPr>
        <p:grpSpPr>
          <a:xfrm>
            <a:off x="5337323" y="3121438"/>
            <a:ext cx="419713" cy="419700"/>
            <a:chOff x="5337323" y="3121438"/>
            <a:chExt cx="419713" cy="419700"/>
          </a:xfrm>
        </p:grpSpPr>
        <p:sp>
          <p:nvSpPr>
            <p:cNvPr id="522" name="Google Shape;522;p43"/>
            <p:cNvSpPr/>
            <p:nvPr/>
          </p:nvSpPr>
          <p:spPr>
            <a:xfrm>
              <a:off x="53373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3" name="Google Shape;523;p43"/>
            <p:cNvGrpSpPr/>
            <p:nvPr/>
          </p:nvGrpSpPr>
          <p:grpSpPr>
            <a:xfrm>
              <a:off x="5337323" y="3125104"/>
              <a:ext cx="419713" cy="368783"/>
              <a:chOff x="6281775" y="1593475"/>
              <a:chExt cx="341175" cy="299775"/>
            </a:xfrm>
          </p:grpSpPr>
          <p:sp>
            <p:nvSpPr>
              <p:cNvPr id="524" name="Google Shape;524;p43"/>
              <p:cNvSpPr/>
              <p:nvPr/>
            </p:nvSpPr>
            <p:spPr>
              <a:xfrm>
                <a:off x="6502325" y="1673475"/>
                <a:ext cx="1997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1" extrusionOk="0">
                    <a:moveTo>
                      <a:pt x="399" y="0"/>
                    </a:moveTo>
                    <a:cubicBezTo>
                      <a:pt x="179" y="0"/>
                      <a:pt x="0" y="180"/>
                      <a:pt x="0" y="401"/>
                    </a:cubicBezTo>
                    <a:cubicBezTo>
                      <a:pt x="0" y="622"/>
                      <a:pt x="179" y="801"/>
                      <a:pt x="399" y="801"/>
                    </a:cubicBezTo>
                    <a:cubicBezTo>
                      <a:pt x="620" y="801"/>
                      <a:pt x="799" y="622"/>
                      <a:pt x="799" y="401"/>
                    </a:cubicBezTo>
                    <a:cubicBezTo>
                      <a:pt x="799" y="180"/>
                      <a:pt x="620" y="0"/>
                      <a:pt x="39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43"/>
              <p:cNvSpPr/>
              <p:nvPr/>
            </p:nvSpPr>
            <p:spPr>
              <a:xfrm>
                <a:off x="634240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0" y="1"/>
                    </a:moveTo>
                    <a:cubicBezTo>
                      <a:pt x="180" y="1"/>
                      <a:pt x="0" y="179"/>
                      <a:pt x="0" y="401"/>
                    </a:cubicBezTo>
                    <a:cubicBezTo>
                      <a:pt x="0" y="621"/>
                      <a:pt x="180" y="801"/>
                      <a:pt x="400" y="801"/>
                    </a:cubicBezTo>
                    <a:cubicBezTo>
                      <a:pt x="622" y="801"/>
                      <a:pt x="801" y="621"/>
                      <a:pt x="801" y="401"/>
                    </a:cubicBezTo>
                    <a:cubicBezTo>
                      <a:pt x="801" y="179"/>
                      <a:pt x="622" y="1"/>
                      <a:pt x="40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43"/>
              <p:cNvSpPr/>
              <p:nvPr/>
            </p:nvSpPr>
            <p:spPr>
              <a:xfrm>
                <a:off x="6281825" y="1673400"/>
                <a:ext cx="140600" cy="13992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5597" extrusionOk="0">
                    <a:moveTo>
                      <a:pt x="3613" y="1600"/>
                    </a:moveTo>
                    <a:cubicBezTo>
                      <a:pt x="3819" y="1600"/>
                      <a:pt x="3999" y="1750"/>
                      <a:pt x="4021" y="1954"/>
                    </a:cubicBezTo>
                    <a:cubicBezTo>
                      <a:pt x="4048" y="2190"/>
                      <a:pt x="3862" y="2398"/>
                      <a:pt x="3624" y="2398"/>
                    </a:cubicBezTo>
                    <a:lnTo>
                      <a:pt x="2025" y="2398"/>
                    </a:lnTo>
                    <a:cubicBezTo>
                      <a:pt x="1785" y="2398"/>
                      <a:pt x="1599" y="2190"/>
                      <a:pt x="1627" y="1954"/>
                    </a:cubicBezTo>
                    <a:cubicBezTo>
                      <a:pt x="1650" y="1750"/>
                      <a:pt x="1830" y="1600"/>
                      <a:pt x="2035" y="1600"/>
                    </a:cubicBezTo>
                    <a:close/>
                    <a:moveTo>
                      <a:pt x="0" y="0"/>
                    </a:moveTo>
                    <a:lnTo>
                      <a:pt x="0" y="5597"/>
                    </a:lnTo>
                    <a:lnTo>
                      <a:pt x="2499" y="5597"/>
                    </a:lnTo>
                    <a:cubicBezTo>
                      <a:pt x="2667" y="5120"/>
                      <a:pt x="3117" y="4799"/>
                      <a:pt x="3624" y="4798"/>
                    </a:cubicBezTo>
                    <a:lnTo>
                      <a:pt x="3625" y="4798"/>
                    </a:lnTo>
                    <a:cubicBezTo>
                      <a:pt x="3802" y="4798"/>
                      <a:pt x="3978" y="4839"/>
                      <a:pt x="4139" y="4918"/>
                    </a:cubicBezTo>
                    <a:lnTo>
                      <a:pt x="4944" y="4113"/>
                    </a:lnTo>
                    <a:cubicBezTo>
                      <a:pt x="4631" y="3472"/>
                      <a:pt x="4950" y="2704"/>
                      <a:pt x="5623" y="2472"/>
                    </a:cubicBezTo>
                    <a:lnTo>
                      <a:pt x="5623" y="727"/>
                    </a:lnTo>
                    <a:cubicBezTo>
                      <a:pt x="5285" y="606"/>
                      <a:pt x="5018" y="340"/>
                      <a:pt x="4897" y="0"/>
                    </a:cubicBezTo>
                    <a:lnTo>
                      <a:pt x="3950" y="0"/>
                    </a:lnTo>
                    <a:cubicBezTo>
                      <a:pt x="3785" y="480"/>
                      <a:pt x="3333" y="801"/>
                      <a:pt x="2825" y="801"/>
                    </a:cubicBezTo>
                    <a:cubicBezTo>
                      <a:pt x="2317" y="801"/>
                      <a:pt x="1865" y="480"/>
                      <a:pt x="16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43"/>
              <p:cNvSpPr/>
              <p:nvPr/>
            </p:nvSpPr>
            <p:spPr>
              <a:xfrm>
                <a:off x="6459350" y="1693400"/>
                <a:ext cx="163600" cy="99925"/>
              </a:xfrm>
              <a:custGeom>
                <a:avLst/>
                <a:gdLst/>
                <a:ahLst/>
                <a:cxnLst/>
                <a:rect l="l" t="t" r="r" b="b"/>
                <a:pathLst>
                  <a:path w="6544" h="3997" extrusionOk="0">
                    <a:moveTo>
                      <a:pt x="4517" y="1598"/>
                    </a:moveTo>
                    <a:cubicBezTo>
                      <a:pt x="4755" y="1598"/>
                      <a:pt x="4941" y="1807"/>
                      <a:pt x="4914" y="2043"/>
                    </a:cubicBezTo>
                    <a:cubicBezTo>
                      <a:pt x="4892" y="2248"/>
                      <a:pt x="4712" y="2399"/>
                      <a:pt x="4507" y="2399"/>
                    </a:cubicBezTo>
                    <a:lnTo>
                      <a:pt x="4507" y="2397"/>
                    </a:lnTo>
                    <a:lnTo>
                      <a:pt x="2928" y="2397"/>
                    </a:lnTo>
                    <a:cubicBezTo>
                      <a:pt x="2723" y="2397"/>
                      <a:pt x="2543" y="2247"/>
                      <a:pt x="2521" y="2043"/>
                    </a:cubicBezTo>
                    <a:cubicBezTo>
                      <a:pt x="2494" y="1807"/>
                      <a:pt x="2679" y="1598"/>
                      <a:pt x="2918" y="1598"/>
                    </a:cubicBezTo>
                    <a:close/>
                    <a:moveTo>
                      <a:pt x="3246" y="1"/>
                    </a:moveTo>
                    <a:cubicBezTo>
                      <a:pt x="3078" y="478"/>
                      <a:pt x="2626" y="798"/>
                      <a:pt x="2119" y="800"/>
                    </a:cubicBezTo>
                    <a:cubicBezTo>
                      <a:pt x="1942" y="798"/>
                      <a:pt x="1766" y="757"/>
                      <a:pt x="1607" y="678"/>
                    </a:cubicBezTo>
                    <a:lnTo>
                      <a:pt x="0" y="2285"/>
                    </a:lnTo>
                    <a:cubicBezTo>
                      <a:pt x="78" y="2445"/>
                      <a:pt x="120" y="2620"/>
                      <a:pt x="120" y="2799"/>
                    </a:cubicBezTo>
                    <a:cubicBezTo>
                      <a:pt x="118" y="2848"/>
                      <a:pt x="114" y="2895"/>
                      <a:pt x="107" y="2944"/>
                    </a:cubicBezTo>
                    <a:lnTo>
                      <a:pt x="1289" y="3534"/>
                    </a:lnTo>
                    <a:cubicBezTo>
                      <a:pt x="1526" y="3304"/>
                      <a:pt x="1823" y="3197"/>
                      <a:pt x="2116" y="3197"/>
                    </a:cubicBezTo>
                    <a:cubicBezTo>
                      <a:pt x="2596" y="3197"/>
                      <a:pt x="3066" y="3486"/>
                      <a:pt x="3244" y="3996"/>
                    </a:cubicBezTo>
                    <a:lnTo>
                      <a:pt x="6543" y="3996"/>
                    </a:lnTo>
                    <a:lnTo>
                      <a:pt x="654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43"/>
              <p:cNvSpPr/>
              <p:nvPr/>
            </p:nvSpPr>
            <p:spPr>
              <a:xfrm>
                <a:off x="6502325" y="1793400"/>
                <a:ext cx="19975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0" extrusionOk="0">
                    <a:moveTo>
                      <a:pt x="399" y="1"/>
                    </a:moveTo>
                    <a:cubicBezTo>
                      <a:pt x="179" y="1"/>
                      <a:pt x="0" y="180"/>
                      <a:pt x="0" y="401"/>
                    </a:cubicBezTo>
                    <a:cubicBezTo>
                      <a:pt x="0" y="621"/>
                      <a:pt x="179" y="800"/>
                      <a:pt x="399" y="800"/>
                    </a:cubicBezTo>
                    <a:cubicBezTo>
                      <a:pt x="620" y="800"/>
                      <a:pt x="799" y="621"/>
                      <a:pt x="799" y="401"/>
                    </a:cubicBezTo>
                    <a:cubicBezTo>
                      <a:pt x="799" y="180"/>
                      <a:pt x="620" y="1"/>
                      <a:pt x="39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43"/>
              <p:cNvSpPr/>
              <p:nvPr/>
            </p:nvSpPr>
            <p:spPr>
              <a:xfrm>
                <a:off x="6362400" y="1813375"/>
                <a:ext cx="20000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2"/>
                      <a:pt x="179" y="801"/>
                      <a:pt x="401" y="801"/>
                    </a:cubicBezTo>
                    <a:cubicBezTo>
                      <a:pt x="621" y="801"/>
                      <a:pt x="799" y="622"/>
                      <a:pt x="799" y="401"/>
                    </a:cubicBezTo>
                    <a:cubicBezTo>
                      <a:pt x="799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43"/>
              <p:cNvSpPr/>
              <p:nvPr/>
            </p:nvSpPr>
            <p:spPr>
              <a:xfrm>
                <a:off x="642235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43"/>
              <p:cNvSpPr/>
              <p:nvPr/>
            </p:nvSpPr>
            <p:spPr>
              <a:xfrm>
                <a:off x="6281825" y="1593475"/>
                <a:ext cx="1406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2399" extrusionOk="0">
                    <a:moveTo>
                      <a:pt x="400" y="1"/>
                    </a:moveTo>
                    <a:cubicBezTo>
                      <a:pt x="179" y="1"/>
                      <a:pt x="0" y="179"/>
                      <a:pt x="0" y="399"/>
                    </a:cubicBezTo>
                    <a:lnTo>
                      <a:pt x="0" y="2399"/>
                    </a:lnTo>
                    <a:lnTo>
                      <a:pt x="1700" y="2399"/>
                    </a:lnTo>
                    <a:cubicBezTo>
                      <a:pt x="1868" y="1920"/>
                      <a:pt x="2318" y="1600"/>
                      <a:pt x="2825" y="1598"/>
                    </a:cubicBezTo>
                    <a:cubicBezTo>
                      <a:pt x="3331" y="1600"/>
                      <a:pt x="3783" y="1920"/>
                      <a:pt x="3952" y="2399"/>
                    </a:cubicBezTo>
                    <a:lnTo>
                      <a:pt x="4898" y="2399"/>
                    </a:lnTo>
                    <a:cubicBezTo>
                      <a:pt x="5019" y="2060"/>
                      <a:pt x="5285" y="1793"/>
                      <a:pt x="5623" y="1672"/>
                    </a:cubicBezTo>
                    <a:lnTo>
                      <a:pt x="562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43"/>
              <p:cNvSpPr/>
              <p:nvPr/>
            </p:nvSpPr>
            <p:spPr>
              <a:xfrm>
                <a:off x="6281775" y="1784875"/>
                <a:ext cx="341125" cy="108375"/>
              </a:xfrm>
              <a:custGeom>
                <a:avLst/>
                <a:gdLst/>
                <a:ahLst/>
                <a:cxnLst/>
                <a:rect l="l" t="t" r="r" b="b"/>
                <a:pathLst>
                  <a:path w="13645" h="4335" extrusionOk="0">
                    <a:moveTo>
                      <a:pt x="6812" y="1937"/>
                    </a:moveTo>
                    <a:cubicBezTo>
                      <a:pt x="7019" y="1937"/>
                      <a:pt x="7198" y="2087"/>
                      <a:pt x="7221" y="2292"/>
                    </a:cubicBezTo>
                    <a:cubicBezTo>
                      <a:pt x="7248" y="2529"/>
                      <a:pt x="7062" y="2737"/>
                      <a:pt x="6823" y="2737"/>
                    </a:cubicBezTo>
                    <a:lnTo>
                      <a:pt x="6034" y="2737"/>
                    </a:lnTo>
                    <a:cubicBezTo>
                      <a:pt x="5829" y="2737"/>
                      <a:pt x="5649" y="2586"/>
                      <a:pt x="5627" y="2383"/>
                    </a:cubicBezTo>
                    <a:cubicBezTo>
                      <a:pt x="5600" y="2145"/>
                      <a:pt x="5785" y="1937"/>
                      <a:pt x="6024" y="1937"/>
                    </a:cubicBezTo>
                    <a:close/>
                    <a:moveTo>
                      <a:pt x="6854" y="1"/>
                    </a:moveTo>
                    <a:cubicBezTo>
                      <a:pt x="6629" y="222"/>
                      <a:pt x="6331" y="338"/>
                      <a:pt x="6029" y="338"/>
                    </a:cubicBezTo>
                    <a:cubicBezTo>
                      <a:pt x="5853" y="338"/>
                      <a:pt x="5676" y="299"/>
                      <a:pt x="5511" y="218"/>
                    </a:cubicBezTo>
                    <a:lnTo>
                      <a:pt x="4705" y="1023"/>
                    </a:lnTo>
                    <a:cubicBezTo>
                      <a:pt x="4783" y="1184"/>
                      <a:pt x="4825" y="1359"/>
                      <a:pt x="4825" y="1536"/>
                    </a:cubicBezTo>
                    <a:cubicBezTo>
                      <a:pt x="4828" y="2121"/>
                      <a:pt x="4408" y="2623"/>
                      <a:pt x="3831" y="2722"/>
                    </a:cubicBezTo>
                    <a:cubicBezTo>
                      <a:pt x="3763" y="2734"/>
                      <a:pt x="3695" y="2740"/>
                      <a:pt x="3628" y="2740"/>
                    </a:cubicBezTo>
                    <a:cubicBezTo>
                      <a:pt x="3127" y="2740"/>
                      <a:pt x="2670" y="2424"/>
                      <a:pt x="2499" y="1937"/>
                    </a:cubicBezTo>
                    <a:lnTo>
                      <a:pt x="1" y="1937"/>
                    </a:lnTo>
                    <a:lnTo>
                      <a:pt x="1" y="3936"/>
                    </a:lnTo>
                    <a:cubicBezTo>
                      <a:pt x="1" y="4156"/>
                      <a:pt x="179" y="4335"/>
                      <a:pt x="401" y="4335"/>
                    </a:cubicBezTo>
                    <a:lnTo>
                      <a:pt x="13245" y="4335"/>
                    </a:lnTo>
                    <a:cubicBezTo>
                      <a:pt x="13466" y="4335"/>
                      <a:pt x="13645" y="4156"/>
                      <a:pt x="13645" y="3936"/>
                    </a:cubicBezTo>
                    <a:lnTo>
                      <a:pt x="13645" y="1138"/>
                    </a:lnTo>
                    <a:lnTo>
                      <a:pt x="10347" y="1138"/>
                    </a:lnTo>
                    <a:cubicBezTo>
                      <a:pt x="10179" y="1616"/>
                      <a:pt x="9728" y="1936"/>
                      <a:pt x="9221" y="1937"/>
                    </a:cubicBezTo>
                    <a:lnTo>
                      <a:pt x="9221" y="1937"/>
                    </a:lnTo>
                    <a:cubicBezTo>
                      <a:pt x="8560" y="1936"/>
                      <a:pt x="8023" y="1400"/>
                      <a:pt x="8023" y="738"/>
                    </a:cubicBezTo>
                    <a:cubicBezTo>
                      <a:pt x="8025" y="689"/>
                      <a:pt x="8031" y="640"/>
                      <a:pt x="8038" y="593"/>
                    </a:cubicBezTo>
                    <a:lnTo>
                      <a:pt x="68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43"/>
              <p:cNvSpPr/>
              <p:nvPr/>
            </p:nvSpPr>
            <p:spPr>
              <a:xfrm>
                <a:off x="6422350" y="1753425"/>
                <a:ext cx="20025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43"/>
              <p:cNvSpPr/>
              <p:nvPr/>
            </p:nvSpPr>
            <p:spPr>
              <a:xfrm>
                <a:off x="6522325" y="1593475"/>
                <a:ext cx="100625" cy="79950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3198" extrusionOk="0">
                    <a:moveTo>
                      <a:pt x="0" y="1"/>
                    </a:moveTo>
                    <a:lnTo>
                      <a:pt x="0" y="2472"/>
                    </a:lnTo>
                    <a:cubicBezTo>
                      <a:pt x="340" y="2592"/>
                      <a:pt x="606" y="2859"/>
                      <a:pt x="727" y="3197"/>
                    </a:cubicBezTo>
                    <a:lnTo>
                      <a:pt x="4024" y="3197"/>
                    </a:lnTo>
                    <a:lnTo>
                      <a:pt x="4024" y="399"/>
                    </a:lnTo>
                    <a:cubicBezTo>
                      <a:pt x="4024" y="179"/>
                      <a:pt x="3845" y="1"/>
                      <a:pt x="362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43"/>
              <p:cNvSpPr/>
              <p:nvPr/>
            </p:nvSpPr>
            <p:spPr>
              <a:xfrm>
                <a:off x="6442400" y="1593475"/>
                <a:ext cx="59975" cy="14292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5717" extrusionOk="0">
                    <a:moveTo>
                      <a:pt x="0" y="1"/>
                    </a:moveTo>
                    <a:lnTo>
                      <a:pt x="0" y="1672"/>
                    </a:lnTo>
                    <a:cubicBezTo>
                      <a:pt x="479" y="1839"/>
                      <a:pt x="801" y="2291"/>
                      <a:pt x="801" y="2799"/>
                    </a:cubicBezTo>
                    <a:cubicBezTo>
                      <a:pt x="801" y="3305"/>
                      <a:pt x="479" y="3757"/>
                      <a:pt x="0" y="3924"/>
                    </a:cubicBezTo>
                    <a:lnTo>
                      <a:pt x="0" y="5671"/>
                    </a:lnTo>
                    <a:cubicBezTo>
                      <a:pt x="39" y="5684"/>
                      <a:pt x="77" y="5700"/>
                      <a:pt x="114" y="5716"/>
                    </a:cubicBezTo>
                    <a:lnTo>
                      <a:pt x="1719" y="4111"/>
                    </a:lnTo>
                    <a:cubicBezTo>
                      <a:pt x="1408" y="3472"/>
                      <a:pt x="1725" y="2703"/>
                      <a:pt x="2398" y="2472"/>
                    </a:cubicBezTo>
                    <a:lnTo>
                      <a:pt x="23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36" name="Google Shape;536;p43"/>
          <p:cNvCxnSpPr>
            <a:stCxn id="522" idx="4"/>
            <a:endCxn id="461" idx="0"/>
          </p:cNvCxnSpPr>
          <p:nvPr/>
        </p:nvCxnSpPr>
        <p:spPr>
          <a:xfrm>
            <a:off x="55471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37" name="Google Shape;537;p43"/>
          <p:cNvGrpSpPr/>
          <p:nvPr/>
        </p:nvGrpSpPr>
        <p:grpSpPr>
          <a:xfrm>
            <a:off x="7301275" y="3099638"/>
            <a:ext cx="419700" cy="419700"/>
            <a:chOff x="7301275" y="3099638"/>
            <a:chExt cx="419700" cy="419700"/>
          </a:xfrm>
        </p:grpSpPr>
        <p:sp>
          <p:nvSpPr>
            <p:cNvPr id="538" name="Google Shape;538;p43"/>
            <p:cNvSpPr/>
            <p:nvPr/>
          </p:nvSpPr>
          <p:spPr>
            <a:xfrm>
              <a:off x="7301275" y="30996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9" name="Google Shape;539;p43"/>
            <p:cNvGrpSpPr/>
            <p:nvPr/>
          </p:nvGrpSpPr>
          <p:grpSpPr>
            <a:xfrm>
              <a:off x="7301286" y="3125057"/>
              <a:ext cx="419686" cy="368875"/>
              <a:chOff x="4017850" y="3264700"/>
              <a:chExt cx="341125" cy="299825"/>
            </a:xfrm>
          </p:grpSpPr>
          <p:sp>
            <p:nvSpPr>
              <p:cNvPr id="540" name="Google Shape;540;p43"/>
              <p:cNvSpPr/>
              <p:nvPr/>
            </p:nvSpPr>
            <p:spPr>
              <a:xfrm>
                <a:off x="4047825" y="3424550"/>
                <a:ext cx="281175" cy="139975"/>
              </a:xfrm>
              <a:custGeom>
                <a:avLst/>
                <a:gdLst/>
                <a:ahLst/>
                <a:cxnLst/>
                <a:rect l="l" t="t" r="r" b="b"/>
                <a:pathLst>
                  <a:path w="11247" h="5599" extrusionOk="0">
                    <a:moveTo>
                      <a:pt x="1600" y="832"/>
                    </a:moveTo>
                    <a:lnTo>
                      <a:pt x="4549" y="2000"/>
                    </a:lnTo>
                    <a:lnTo>
                      <a:pt x="1600" y="3169"/>
                    </a:lnTo>
                    <a:lnTo>
                      <a:pt x="1600" y="832"/>
                    </a:lnTo>
                    <a:close/>
                    <a:moveTo>
                      <a:pt x="9648" y="832"/>
                    </a:moveTo>
                    <a:lnTo>
                      <a:pt x="9648" y="3169"/>
                    </a:lnTo>
                    <a:lnTo>
                      <a:pt x="6700" y="2000"/>
                    </a:lnTo>
                    <a:lnTo>
                      <a:pt x="9648" y="832"/>
                    </a:lnTo>
                    <a:close/>
                    <a:moveTo>
                      <a:pt x="1" y="1"/>
                    </a:moveTo>
                    <a:lnTo>
                      <a:pt x="1" y="5200"/>
                    </a:lnTo>
                    <a:cubicBezTo>
                      <a:pt x="1" y="5420"/>
                      <a:pt x="181" y="5598"/>
                      <a:pt x="401" y="5598"/>
                    </a:cubicBezTo>
                    <a:lnTo>
                      <a:pt x="1201" y="5598"/>
                    </a:lnTo>
                    <a:cubicBezTo>
                      <a:pt x="1421" y="5598"/>
                      <a:pt x="1600" y="5420"/>
                      <a:pt x="1600" y="5200"/>
                    </a:cubicBezTo>
                    <a:lnTo>
                      <a:pt x="1600" y="4030"/>
                    </a:lnTo>
                    <a:lnTo>
                      <a:pt x="5624" y="2432"/>
                    </a:lnTo>
                    <a:lnTo>
                      <a:pt x="9648" y="4030"/>
                    </a:lnTo>
                    <a:lnTo>
                      <a:pt x="9648" y="5200"/>
                    </a:lnTo>
                    <a:cubicBezTo>
                      <a:pt x="9648" y="5420"/>
                      <a:pt x="9826" y="5598"/>
                      <a:pt x="10048" y="5598"/>
                    </a:cubicBezTo>
                    <a:lnTo>
                      <a:pt x="10847" y="5598"/>
                    </a:lnTo>
                    <a:cubicBezTo>
                      <a:pt x="10848" y="5598"/>
                      <a:pt x="10848" y="5598"/>
                      <a:pt x="10849" y="5598"/>
                    </a:cubicBezTo>
                    <a:cubicBezTo>
                      <a:pt x="11070" y="5598"/>
                      <a:pt x="11247" y="5419"/>
                      <a:pt x="11247" y="5200"/>
                    </a:cubicBezTo>
                    <a:lnTo>
                      <a:pt x="11247" y="2"/>
                    </a:lnTo>
                    <a:lnTo>
                      <a:pt x="9571" y="2"/>
                    </a:lnTo>
                    <a:lnTo>
                      <a:pt x="5624" y="1570"/>
                    </a:lnTo>
                    <a:lnTo>
                      <a:pt x="167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43"/>
              <p:cNvSpPr/>
              <p:nvPr/>
            </p:nvSpPr>
            <p:spPr>
              <a:xfrm>
                <a:off x="4037875" y="3264700"/>
                <a:ext cx="59975" cy="40000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600" extrusionOk="0">
                    <a:moveTo>
                      <a:pt x="1198" y="0"/>
                    </a:moveTo>
                    <a:cubicBezTo>
                      <a:pt x="1177" y="0"/>
                      <a:pt x="1155" y="1"/>
                      <a:pt x="1133" y="2"/>
                    </a:cubicBezTo>
                    <a:cubicBezTo>
                      <a:pt x="508" y="36"/>
                      <a:pt x="0" y="594"/>
                      <a:pt x="0" y="1220"/>
                    </a:cubicBezTo>
                    <a:lnTo>
                      <a:pt x="0" y="1600"/>
                    </a:lnTo>
                    <a:lnTo>
                      <a:pt x="2398" y="1600"/>
                    </a:lnTo>
                    <a:lnTo>
                      <a:pt x="2398" y="1200"/>
                    </a:lnTo>
                    <a:cubicBezTo>
                      <a:pt x="2398" y="534"/>
                      <a:pt x="1856" y="0"/>
                      <a:pt x="11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43"/>
              <p:cNvSpPr/>
              <p:nvPr/>
            </p:nvSpPr>
            <p:spPr>
              <a:xfrm>
                <a:off x="4279025" y="3264700"/>
                <a:ext cx="59975" cy="3997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599" extrusionOk="0">
                    <a:moveTo>
                      <a:pt x="1201" y="0"/>
                    </a:moveTo>
                    <a:cubicBezTo>
                      <a:pt x="1179" y="0"/>
                      <a:pt x="1156" y="1"/>
                      <a:pt x="1134" y="2"/>
                    </a:cubicBezTo>
                    <a:cubicBezTo>
                      <a:pt x="510" y="36"/>
                      <a:pt x="1" y="594"/>
                      <a:pt x="1" y="1219"/>
                    </a:cubicBezTo>
                    <a:lnTo>
                      <a:pt x="1" y="1598"/>
                    </a:lnTo>
                    <a:lnTo>
                      <a:pt x="2399" y="1598"/>
                    </a:lnTo>
                    <a:lnTo>
                      <a:pt x="2399" y="1200"/>
                    </a:lnTo>
                    <a:cubicBezTo>
                      <a:pt x="2399" y="534"/>
                      <a:pt x="1858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43"/>
              <p:cNvSpPr/>
              <p:nvPr/>
            </p:nvSpPr>
            <p:spPr>
              <a:xfrm>
                <a:off x="4202500" y="3324650"/>
                <a:ext cx="13235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4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29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43"/>
              <p:cNvSpPr/>
              <p:nvPr/>
            </p:nvSpPr>
            <p:spPr>
              <a:xfrm>
                <a:off x="4121875" y="3324650"/>
                <a:ext cx="13300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320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3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43"/>
              <p:cNvSpPr/>
              <p:nvPr/>
            </p:nvSpPr>
            <p:spPr>
              <a:xfrm>
                <a:off x="4041975" y="3324650"/>
                <a:ext cx="132325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3" h="3200" extrusionOk="0">
                    <a:moveTo>
                      <a:pt x="3197" y="1"/>
                    </a:moveTo>
                    <a:lnTo>
                      <a:pt x="0" y="3199"/>
                    </a:lnTo>
                    <a:lnTo>
                      <a:pt x="2067" y="3199"/>
                    </a:lnTo>
                    <a:lnTo>
                      <a:pt x="529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43"/>
              <p:cNvSpPr/>
              <p:nvPr/>
            </p:nvSpPr>
            <p:spPr>
              <a:xfrm>
                <a:off x="4017850" y="3324650"/>
                <a:ext cx="7585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4" h="2984" extrusionOk="0">
                    <a:moveTo>
                      <a:pt x="401" y="1"/>
                    </a:moveTo>
                    <a:cubicBezTo>
                      <a:pt x="181" y="1"/>
                      <a:pt x="1" y="179"/>
                      <a:pt x="1" y="401"/>
                    </a:cubicBezTo>
                    <a:lnTo>
                      <a:pt x="1" y="2799"/>
                    </a:lnTo>
                    <a:cubicBezTo>
                      <a:pt x="2" y="2864"/>
                      <a:pt x="20" y="2927"/>
                      <a:pt x="51" y="2984"/>
                    </a:cubicBezTo>
                    <a:lnTo>
                      <a:pt x="30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43"/>
              <p:cNvSpPr/>
              <p:nvPr/>
            </p:nvSpPr>
            <p:spPr>
              <a:xfrm>
                <a:off x="4283175" y="3330050"/>
                <a:ext cx="7580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2" h="2984" extrusionOk="0">
                    <a:moveTo>
                      <a:pt x="2982" y="0"/>
                    </a:moveTo>
                    <a:lnTo>
                      <a:pt x="0" y="2983"/>
                    </a:lnTo>
                    <a:lnTo>
                      <a:pt x="2633" y="2983"/>
                    </a:lnTo>
                    <a:cubicBezTo>
                      <a:pt x="2853" y="2983"/>
                      <a:pt x="3032" y="2803"/>
                      <a:pt x="3032" y="2583"/>
                    </a:cubicBezTo>
                    <a:lnTo>
                      <a:pt x="3032" y="185"/>
                    </a:lnTo>
                    <a:cubicBezTo>
                      <a:pt x="3032" y="120"/>
                      <a:pt x="3014" y="56"/>
                      <a:pt x="298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48" name="Google Shape;548;p43"/>
          <p:cNvCxnSpPr>
            <a:stCxn id="538" idx="4"/>
            <a:endCxn id="463" idx="0"/>
          </p:cNvCxnSpPr>
          <p:nvPr/>
        </p:nvCxnSpPr>
        <p:spPr>
          <a:xfrm>
            <a:off x="7511125" y="3519338"/>
            <a:ext cx="0" cy="332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549" name="Google Shape;549;p43"/>
          <p:cNvCxnSpPr>
            <a:stCxn id="466" idx="6"/>
            <a:endCxn id="499" idx="2"/>
          </p:cNvCxnSpPr>
          <p:nvPr/>
        </p:nvCxnSpPr>
        <p:spPr>
          <a:xfrm>
            <a:off x="18291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0" name="Google Shape;550;p43"/>
          <p:cNvCxnSpPr>
            <a:stCxn id="499" idx="6"/>
            <a:endCxn id="472" idx="2"/>
          </p:cNvCxnSpPr>
          <p:nvPr/>
        </p:nvCxnSpPr>
        <p:spPr>
          <a:xfrm>
            <a:off x="379307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1" name="Google Shape;551;p43"/>
          <p:cNvCxnSpPr>
            <a:stCxn id="472" idx="6"/>
            <a:endCxn id="482" idx="2"/>
          </p:cNvCxnSpPr>
          <p:nvPr/>
        </p:nvCxnSpPr>
        <p:spPr>
          <a:xfrm>
            <a:off x="57570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2" name="Google Shape;552;p43"/>
          <p:cNvCxnSpPr>
            <a:stCxn id="482" idx="6"/>
          </p:cNvCxnSpPr>
          <p:nvPr/>
        </p:nvCxnSpPr>
        <p:spPr>
          <a:xfrm>
            <a:off x="7720975" y="1576113"/>
            <a:ext cx="1434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3" name="Google Shape;553;p43"/>
          <p:cNvCxnSpPr>
            <a:stCxn id="466" idx="2"/>
          </p:cNvCxnSpPr>
          <p:nvPr/>
        </p:nvCxnSpPr>
        <p:spPr>
          <a:xfrm rot="10800000">
            <a:off x="835825" y="1576113"/>
            <a:ext cx="573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  <p:cxnSp>
        <p:nvCxnSpPr>
          <p:cNvPr id="554" name="Google Shape;554;p43"/>
          <p:cNvCxnSpPr>
            <a:stCxn id="490" idx="2"/>
          </p:cNvCxnSpPr>
          <p:nvPr/>
        </p:nvCxnSpPr>
        <p:spPr>
          <a:xfrm rot="10800000">
            <a:off x="-16775" y="3331288"/>
            <a:ext cx="1426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5" name="Google Shape;555;p43"/>
          <p:cNvCxnSpPr>
            <a:stCxn id="490" idx="6"/>
            <a:endCxn id="506" idx="2"/>
          </p:cNvCxnSpPr>
          <p:nvPr/>
        </p:nvCxnSpPr>
        <p:spPr>
          <a:xfrm>
            <a:off x="182912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6" name="Google Shape;556;p43"/>
          <p:cNvCxnSpPr>
            <a:stCxn id="506" idx="6"/>
            <a:endCxn id="522" idx="2"/>
          </p:cNvCxnSpPr>
          <p:nvPr/>
        </p:nvCxnSpPr>
        <p:spPr>
          <a:xfrm>
            <a:off x="379307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7" name="Google Shape;557;p43"/>
          <p:cNvCxnSpPr>
            <a:endCxn id="538" idx="2"/>
          </p:cNvCxnSpPr>
          <p:nvPr/>
        </p:nvCxnSpPr>
        <p:spPr>
          <a:xfrm rot="10800000" flipH="1">
            <a:off x="5756875" y="3309488"/>
            <a:ext cx="1544400" cy="21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8" name="Google Shape;558;p43"/>
          <p:cNvCxnSpPr>
            <a:stCxn id="538" idx="6"/>
          </p:cNvCxnSpPr>
          <p:nvPr/>
        </p:nvCxnSpPr>
        <p:spPr>
          <a:xfrm>
            <a:off x="7720975" y="3309488"/>
            <a:ext cx="5331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2B52F62C-FFA9-0BC7-2044-18063633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A9E1DE10-2C79-61C4-7A91-B4B04EE45BF3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DF34EBD0-3ABD-A3DB-9911-B1A2E8EE23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2008D960-ECE9-1B46-D1F8-EB2EFF436B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What I Contribute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B80BD79-C8AD-DAD0-E31D-FEC7D9DFB5F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B1A7AB0C-2968-5D07-1450-B503AE9A4F4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3934338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Expected Outcomes</a:t>
            </a:r>
            <a:endParaRPr sz="2800" dirty="0"/>
          </a:p>
        </p:txBody>
      </p:sp>
      <p:sp>
        <p:nvSpPr>
          <p:cNvPr id="436" name="Google Shape;436;p42"/>
          <p:cNvSpPr txBox="1">
            <a:spLocks noGrp="1"/>
          </p:cNvSpPr>
          <p:nvPr>
            <p:ph type="subTitle" idx="1"/>
          </p:nvPr>
        </p:nvSpPr>
        <p:spPr>
          <a:xfrm>
            <a:off x="713215" y="1175876"/>
            <a:ext cx="5521663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MY" dirty="0"/>
              <a:t>Detailed comparative table analysis, covering MCO segmentation, different DL models, different lookback windows</a:t>
            </a: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MY" dirty="0"/>
              <a:t>A dominant proposed model that outperforms all existing compared SOTAs with/without MCO and all lookback windows along a reduced feature variant based on SHAP importance graph.</a:t>
            </a: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MY" dirty="0"/>
              <a:t>Mock-up CLI Inference to predict next-7-days ridership for all 12 distinct transit networks based on past ridership distribution percentage.	</a:t>
            </a:r>
          </a:p>
        </p:txBody>
      </p:sp>
      <p:grpSp>
        <p:nvGrpSpPr>
          <p:cNvPr id="438" name="Google Shape;438;p42"/>
          <p:cNvGrpSpPr/>
          <p:nvPr/>
        </p:nvGrpSpPr>
        <p:grpSpPr>
          <a:xfrm>
            <a:off x="6455936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/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/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/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/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/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567350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6DD23-8447-B8D9-F842-025AC1354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Project Timeline</a:t>
            </a:r>
          </a:p>
        </p:txBody>
      </p:sp>
    </p:spTree>
    <p:extLst>
      <p:ext uri="{BB962C8B-B14F-4D97-AF65-F5344CB8AC3E}">
        <p14:creationId xmlns:p14="http://schemas.microsoft.com/office/powerpoint/2010/main" val="36211444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48"/>
          <p:cNvSpPr txBox="1">
            <a:spLocks noGrp="1"/>
          </p:cNvSpPr>
          <p:nvPr>
            <p:ph type="title"/>
          </p:nvPr>
        </p:nvSpPr>
        <p:spPr>
          <a:xfrm>
            <a:off x="713368" y="645071"/>
            <a:ext cx="4554900" cy="2865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  <p:pic>
        <p:nvPicPr>
          <p:cNvPr id="681" name="Google Shape;681;p4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7473" r="4170"/>
          <a:stretch/>
        </p:blipFill>
        <p:spPr>
          <a:xfrm>
            <a:off x="6798600" y="0"/>
            <a:ext cx="2345401" cy="5143498"/>
          </a:xfrm>
          <a:prstGeom prst="rect">
            <a:avLst/>
          </a:prstGeom>
        </p:spPr>
      </p:pic>
      <p:sp>
        <p:nvSpPr>
          <p:cNvPr id="682" name="Google Shape;682;p48"/>
          <p:cNvSpPr/>
          <p:nvPr/>
        </p:nvSpPr>
        <p:spPr>
          <a:xfrm>
            <a:off x="6583550" y="-3675"/>
            <a:ext cx="7020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83" name="Google Shape;683;p4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4" name="Google Shape;684;p4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Metro Railway System Project Proposal by Slidesgo">
  <a:themeElements>
    <a:clrScheme name="Simple Light">
      <a:dk1>
        <a:srgbClr val="FCFAF8"/>
      </a:dk1>
      <a:lt1>
        <a:srgbClr val="27242E"/>
      </a:lt1>
      <a:dk2>
        <a:srgbClr val="F0B205"/>
      </a:dk2>
      <a:lt2>
        <a:srgbClr val="D85821"/>
      </a:lt2>
      <a:accent1>
        <a:srgbClr val="387E68"/>
      </a:accent1>
      <a:accent2>
        <a:srgbClr val="153369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CFAF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591</TotalTime>
  <Words>3055</Words>
  <Application>Microsoft Office PowerPoint</Application>
  <PresentationFormat>On-screen Show (16:9)</PresentationFormat>
  <Paragraphs>388</Paragraphs>
  <Slides>35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7" baseType="lpstr">
      <vt:lpstr>PT Sans</vt:lpstr>
      <vt:lpstr>Calibri</vt:lpstr>
      <vt:lpstr>Bebas Neue</vt:lpstr>
      <vt:lpstr>Hanken Grotesk</vt:lpstr>
      <vt:lpstr>Anaheim</vt:lpstr>
      <vt:lpstr>Montserrat</vt:lpstr>
      <vt:lpstr>Nunito Light</vt:lpstr>
      <vt:lpstr>Arial</vt:lpstr>
      <vt:lpstr>Montserrat ExtraBold</vt:lpstr>
      <vt:lpstr>Raleway</vt:lpstr>
      <vt:lpstr>Montserrat SemiBold</vt:lpstr>
      <vt:lpstr>Metro Railway System Project Proposal by Slidesgo</vt:lpstr>
      <vt:lpstr>P1 – Mitigating Public Transit Unreliability in Malaysia through Deep Learning Analytics and Ridership Forecasting</vt:lpstr>
      <vt:lpstr>Research Background</vt:lpstr>
      <vt:lpstr>Contents of the Session</vt:lpstr>
      <vt:lpstr>Literature Review</vt:lpstr>
      <vt:lpstr>PowerPoint Presentation</vt:lpstr>
      <vt:lpstr>PowerPoint Presentation</vt:lpstr>
      <vt:lpstr>PowerPoint Presentation</vt:lpstr>
      <vt:lpstr>PowerPoint Presentation</vt:lpstr>
      <vt:lpstr>Gapping the Problem</vt:lpstr>
      <vt:lpstr>Inadequate Quantification and Mitigation of Extreme Anomaly Bias</vt:lpstr>
      <vt:lpstr>PowerPoint Presentation</vt:lpstr>
      <vt:lpstr>Questioning Objectives</vt:lpstr>
      <vt:lpstr>PowerPoint Presentation</vt:lpstr>
      <vt:lpstr>Scoping Down</vt:lpstr>
      <vt:lpstr>PowerPoint Presentation</vt:lpstr>
      <vt:lpstr>How I Execute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Benchmark &amp; Evaluation</vt:lpstr>
      <vt:lpstr>Baseline LSTM</vt:lpstr>
      <vt:lpstr>75% Combined Accuracy (CA) + 0.7 R2</vt:lpstr>
      <vt:lpstr>PowerPoint Presentation</vt:lpstr>
      <vt:lpstr>Comparatives &amp; Proposed</vt:lpstr>
      <vt:lpstr>PowerPoint Presentation</vt:lpstr>
      <vt:lpstr>PowerPoint Presentation</vt:lpstr>
      <vt:lpstr>PowerPoint Presentation</vt:lpstr>
      <vt:lpstr>PowerPoint Presentation</vt:lpstr>
      <vt:lpstr>Model Selection Chronologically</vt:lpstr>
      <vt:lpstr>What I Contribute</vt:lpstr>
      <vt:lpstr>Expected Outcomes</vt:lpstr>
      <vt:lpstr>Project Timeline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YIP ZI XIAN</cp:lastModifiedBy>
  <cp:revision>13</cp:revision>
  <dcterms:modified xsi:type="dcterms:W3CDTF">2026-06-04T08:43:28Z</dcterms:modified>
</cp:coreProperties>
</file>