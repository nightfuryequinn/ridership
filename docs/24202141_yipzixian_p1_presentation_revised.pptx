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3"/>
  </p:notesMasterIdLst>
  <p:sldIdLst>
    <p:sldId id="256" r:id="rId2"/>
    <p:sldId id="259" r:id="rId3"/>
    <p:sldId id="258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14" r:id="rId20"/>
    <p:sldId id="309" r:id="rId21"/>
    <p:sldId id="316" r:id="rId22"/>
    <p:sldId id="315" r:id="rId23"/>
    <p:sldId id="317" r:id="rId24"/>
    <p:sldId id="318" r:id="rId25"/>
    <p:sldId id="270" r:id="rId26"/>
    <p:sldId id="310" r:id="rId27"/>
    <p:sldId id="267" r:id="rId28"/>
    <p:sldId id="312" r:id="rId29"/>
    <p:sldId id="311" r:id="rId30"/>
    <p:sldId id="269" r:id="rId31"/>
    <p:sldId id="275" r:id="rId32"/>
  </p:sldIdLst>
  <p:sldSz cx="9144000" cy="5143500" type="screen16x9"/>
  <p:notesSz cx="6858000" cy="9144000"/>
  <p:embeddedFontLst>
    <p:embeddedFont>
      <p:font typeface="Anaheim" panose="020B0604020202020204" charset="0"/>
      <p:regular r:id="rId34"/>
      <p:bold r:id="rId35"/>
    </p:embeddedFont>
    <p:embeddedFont>
      <p:font typeface="Bebas Neue" panose="020B0606020202050201" pitchFamily="34" charset="0"/>
      <p:regular r:id="rId36"/>
    </p:embeddedFont>
    <p:embeddedFont>
      <p:font typeface="Hanken Grotesk" panose="020B0604020202020204" charset="0"/>
      <p:regular r:id="rId37"/>
      <p:bold r:id="rId38"/>
      <p:italic r:id="rId39"/>
      <p:boldItalic r:id="rId40"/>
    </p:embeddedFont>
    <p:embeddedFont>
      <p:font typeface="Montserrat" panose="00000500000000000000" pitchFamily="2" charset="0"/>
      <p:regular r:id="rId41"/>
      <p:bold r:id="rId42"/>
      <p:italic r:id="rId43"/>
      <p:boldItalic r:id="rId44"/>
    </p:embeddedFont>
    <p:embeddedFont>
      <p:font typeface="Montserrat ExtraBold" panose="00000900000000000000" pitchFamily="2" charset="0"/>
      <p:bold r:id="rId45"/>
      <p:boldItalic r:id="rId46"/>
    </p:embeddedFont>
    <p:embeddedFont>
      <p:font typeface="Montserrat SemiBold" panose="00000700000000000000" pitchFamily="2" charset="0"/>
      <p:regular r:id="rId47"/>
      <p:bold r:id="rId48"/>
      <p:italic r:id="rId49"/>
      <p:boldItalic r:id="rId50"/>
    </p:embeddedFont>
    <p:embeddedFont>
      <p:font typeface="Nunito Light" pitchFamily="2" charset="0"/>
      <p:regular r:id="rId51"/>
      <p:italic r:id="rId52"/>
    </p:embeddedFont>
    <p:embeddedFont>
      <p:font typeface="PT Sans" panose="020B0503020203020204" pitchFamily="34" charset="0"/>
      <p:regular r:id="rId53"/>
      <p:bold r:id="rId54"/>
      <p:italic r:id="rId55"/>
      <p:boldItalic r:id="rId56"/>
    </p:embeddedFont>
    <p:embeddedFont>
      <p:font typeface="Raleway" pitchFamily="2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8" autoAdjust="0"/>
    <p:restoredTop sz="94660"/>
  </p:normalViewPr>
  <p:slideViewPr>
    <p:cSldViewPr snapToGrid="0">
      <p:cViewPr varScale="1">
        <p:scale>
          <a:sx n="65" d="100"/>
          <a:sy n="65" d="100"/>
        </p:scale>
        <p:origin x="38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font" Target="fonts/font17.fntdata"/><Relationship Id="rId55" Type="http://schemas.openxmlformats.org/officeDocument/2006/relationships/font" Target="fonts/font22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3" Type="http://schemas.openxmlformats.org/officeDocument/2006/relationships/font" Target="fonts/font20.fntdata"/><Relationship Id="rId58" Type="http://schemas.openxmlformats.org/officeDocument/2006/relationships/font" Target="fonts/font25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56" Type="http://schemas.openxmlformats.org/officeDocument/2006/relationships/font" Target="fonts/font23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59" Type="http://schemas.openxmlformats.org/officeDocument/2006/relationships/font" Target="fonts/font26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54" Type="http://schemas.openxmlformats.org/officeDocument/2006/relationships/font" Target="fonts/font21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Relationship Id="rId57" Type="http://schemas.openxmlformats.org/officeDocument/2006/relationships/font" Target="fonts/font2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font" Target="fonts/font19.fntdata"/><Relationship Id="rId60" Type="http://schemas.openxmlformats.org/officeDocument/2006/relationships/font" Target="fonts/font27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F84EF8-450D-8CC2-3B86-3BD9B0BA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009" y="2427572"/>
            <a:ext cx="3140552" cy="1018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Scoping Down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Malaysia’s transit management faces a critical bottleneck in accurately forecasting daily ridership due to complex, interrelated spatial and temporal factors.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Historical transit data in Malaysia are distorted by extreme anomalies that will introduce predictive bias and masks normal urban mobility patterns.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Lack of a robust, reliable forecasting model that can absorb the noisy data and focus on normal trends.</a:t>
            </a: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71685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and propose Hybrid Multi-scale Temporal Spatio-Feature (HMT-TSF) Forecaster that integrates Malaysia’s spatial and temporal data to estimate future ridership trends with a combined accuracy of 75% with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 of 0.7.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Scoping Down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5057524" y="28461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773305" y="12522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773278" y="29616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816159" y="29619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816396" y="12369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/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/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/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/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/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/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/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/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/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/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/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/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/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/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/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/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/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/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/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/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/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/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/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/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/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/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/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/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/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/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/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/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/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/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/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/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/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933C631D-2E05-2E69-6D65-B99F71DD27F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1AE0EA00-A95F-7FA3-37FD-9927B03CA56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D5A40792-DEA5-5BED-B528-CD963AA13CAC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D6203D7-9916-D4B5-0A6B-90E1B07C0019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05DAD12C-3899-3D27-EB2C-A694295A6500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51D708AA-B615-A809-301B-DC82E96722FF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FCE305-D5B4-34EF-389B-62217EDDE3D0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D41A7269-766E-2EF7-9836-0C72F67327B3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79184311-9816-4157-51A8-0AEEBB4117F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073733C3-F144-91C1-F3A7-C51AC8431EBB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A771D585-92EF-D7A8-87DC-36B9D920473B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DFAB0882-C135-2554-2F5D-821B847AA52B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034F949-ADE0-39E6-537E-CCC287D9F153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F04FE69C-3BBD-5570-8577-7F98DFD449E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450181F-894B-9E7A-2F35-CE1C129D716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B308E2D4-4ADE-C99E-2C7E-C76CA33BBF98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1F98A23B-006E-E96D-8860-5DA3CBAFCE33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85B1115E-2670-0317-8610-45778BF1583E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89017062-058F-C2A9-3C34-B85AEA8A29E0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FFD579AD-3F2D-4549-AB4F-887D5385EA84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F1B91A69-9606-9633-B484-3B5A75FD7EC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39CFBE10-28E5-D097-8B39-D2BC4411FDAD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F0EAC41A-96D0-76E3-D8F0-C2C7EEE1CA79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7028C5B1-C4DB-7833-066A-C54C70E21576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A8780906-F1CA-8378-A1EE-555498879A40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C282DD72-3648-51C4-C004-F077D387EF2D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9AD226A4-F6D4-52B4-A6E0-717248B4E034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9E4C6BE-0ACA-1175-BF08-AC2FEC4E3744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4321BB14-FBDF-A247-37FF-3638C11402C7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46DF5FE-01FD-A365-54AF-1CCBE5DABFB2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8B35FEC7-EA92-CF4A-5BBA-D25CD6C831C9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13C479B0-469C-941D-CD91-137F9284A37D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46DD355-1031-2EB6-15E7-AECC1BAD9128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303A6D1B-D63F-0228-5777-BC52877E1A34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2B97567D-FE12-F292-8548-45784B85D7DA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85869AFF-E72A-40D5-0A69-41CDA99D1AB6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0BA7A8D-29A2-0A17-5A47-741DD6CAFD4B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7C795468-AA2E-DCBC-E7CF-1E3893775F3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EACD17B3-DE38-F95A-E606-5D78EB12063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B07D7322-D9FC-F0FE-37B0-6E04199F019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79EFFA47-B146-E50E-69FB-34863E724DA2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F93BB88-9886-49B7-29AE-F662ACC8F8A9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A4F847E-E99C-A4CE-CC62-8B79AC89BF50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8E9D1CD0-C097-A6B5-D921-EE01DFEAD17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A9C001B1-C0D7-F413-DD08-E7B2882789EF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65295FA2-D90B-73EF-97D6-8DA2D0B80F24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EE31B474-3747-3601-FFD9-1301D01D43B8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43CB7DB4-46AA-66D3-AE50-F844F8229DC5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3E59097F-5EE8-FC41-3B09-0371EF2C2D96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Baseline &amp; Comparatives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75%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48AE8270-8FF0-B8DB-3CB0-10D58CB4F6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A2A6F8A4-75FA-FBB3-362D-4E25126449B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9579B9D9-5EFC-46E8-41A3-3559EA6261B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A8D7D50-2BD2-72C0-3D66-F215C6E42912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B145913D-FCD0-9702-D41F-9804F2E065BE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A5C71A27-1944-8260-C970-2EB90908942A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4041B3EF-4C2D-9DFA-CE2A-AD61D3AA6888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131824DF-80A6-B32F-BA3C-0E484D3C26AC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50D7042C-54A2-5649-525F-210921A17FD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16D27F21-521F-96CA-82DD-65FBF5318694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CE38D8BE-E2A8-2C67-2620-75E34485D978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E3D781D2-AB03-6EA3-8ECC-51FD4DB6D46C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0A3CAF68-268C-243B-8ED3-CDE30A71C336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9704519D-34E0-DC05-C636-E419BB389F91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A2F27BB0-9EBF-4630-6237-5767480DA83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12A7912-7514-63D7-DD6D-DDE5AB8D0CCE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6DD31D23-C5B2-DFA7-7A4E-957D50105B57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5568E54-9D79-73DB-8B63-08B012595814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2F47A79C-481C-42E1-FD2A-0A96DA4F2CE5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B70EE8CE-7720-011E-5658-100D8AEC80A0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A7BBD2A7-3B6A-E159-B05F-DE8BE367D6E1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4478B13-C02B-B92C-8CE1-2D71BDC0D562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FCB5362A-7E90-1B95-244D-300879B8DA93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F3C30D66-185B-ED0E-B2F3-742308DD0A50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3841B4D0-3247-0B70-1370-57367F5B0B3C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66490722-B42D-EE8B-9FDE-C863188052C0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0820E8EF-72D2-F8A6-B1A1-7FC7F59CB00F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7EA197C1-9340-3AF5-2425-EC5FA848A0C3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4DD1EFF2-6127-9B4C-6ACC-9DEDA1122110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04D30D2D-E64F-3511-E787-0876A9F4BEB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F66BD9E7-7542-38BC-72E2-19C6BBF5949B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4B2E9135-1392-3629-207B-4DE45B30056B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7822BDC-658F-DFE3-551E-613718865903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383A3AE8-67AE-0FD2-A70B-0F33EDC346EF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A6041A94-4648-23A2-A833-610CDEA6D457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1CFD1877-D900-2590-CBAC-2A42B3E18CF4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41955E68-BCD4-0142-518E-CBC85D69B270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1363D7E-C972-2E60-8B4F-A257613E1705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2CCB6B6A-F787-92EE-0FC1-5890A1D5CCDF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1748A19-2397-C8EE-653C-75ACC9FBF79A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216963F1-AC05-F9F3-D242-813949784536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EEA62E4F-0B67-939B-E6F3-13D169330704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7E928670-2780-19A5-D069-D05AF6834C34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1EF278E9-5E37-F034-1D59-BC83BA180D8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EB171CD1-A4CD-002C-7F07-AC8317175E9C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59D50ADB-72B4-DB4C-FB05-FEF48B22CD2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8C338B5B-7C06-865D-1120-2F28738D2AB8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18810DD4-9920-9F49-8907-AB48E2FD6779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2AF399EB-DC68-0B71-ABB5-89A0ABD2F1AF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638448D3-22BC-3CF4-5F29-05BA6B32EF3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626D80FD-3D44-52C2-CF45-58777D77967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7AC6F4E3-EB38-542E-AC02-D6B7494C450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AC890EAA-4FE5-4DC1-3FFC-C7DFBFDCE886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982C0B-8366-3A66-646F-871B34D3E1DE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F56364F6-34E8-3729-CD18-0E853F41255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C84C2522-36DB-2B08-8765-0B2D2F61AEF0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0428BB3A-A552-8DD1-A9B7-D33138AC2E0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2F019562-FDF0-B0F6-6CFB-31FD0342EDA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D1C3913D-3419-C157-9224-164BD412C95B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CD7A50FB-7539-FBC1-E84F-1056A02E1B7F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DC868D43-60CB-C9A1-EBE0-4A2D72DC1D79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6A253137-FCD8-9BAC-7EF4-6EBC69F1B614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295E86E2-4017-C813-C133-BD025BD72CCA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439B8556-BF7F-6099-DDDB-8EDDF68D83B3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802210DF-FCBF-4890-4DCF-EE1085E2C679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2AD6672D-A217-E5E9-EDD5-33D395B405D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1680B9A5-0165-BB7D-F4FF-B33C80D7418F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87169C36-4D33-C737-7235-1724A3C3584B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793091EB-AD6B-BC6C-6590-72ECE33D932C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886F00D-FE0B-5031-032E-F406AC6E1DD0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E3EA95D6-F4C8-B492-3D11-8AF25DFA137C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2C3F7BB0-7150-AC0E-8C40-CA77F755FFC0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015088F1-6D5A-4C53-AFCE-43C4E70CAC58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3A2E0B70-EAE8-0A5C-220F-6FABC406F50A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EAB4AED9-E292-7F7B-2E33-F9C798749E4D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B99B4387-9F17-2B5F-FA10-54D0CE4A2305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24E7CA58-8BA6-A655-C4F8-322B80920EB5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552E40C-1AB9-5D1B-7964-176B1B1AD5B5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74C4FA21-6A82-01EA-B564-B81A702CA4DC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DC0F5B7-2312-E769-49DE-73A579F490E8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8DC6F673-A882-D558-4D6D-52F82F8A681D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8C20703B-0975-8CCE-82E4-4E25D9AA072B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3F979AB9-861C-9651-CF3F-D42EB4463151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8DE2927D-83E0-31CF-6BA4-A64109E27403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93BED2D9-A45A-7798-F2C9-B0CDD21F6824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D20DA126-D920-8C85-6AEF-DF34093E0306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5A7B9A3A-D00F-137D-7FFE-CDCB500A6CA4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DEB0A7FD-D57D-4B0F-9A79-61F12C3365C5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EF421E87-0147-41A4-DBC0-BC151CB8AF3A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E461EB1E-642E-38CB-B013-4D7B86DFDACD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52322A46-9C19-517C-8741-3D0B3A118D0D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23A2BDF5-CB13-BD10-ECA3-15795A89FA44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6FEDD89F-A77D-5A09-8CA4-0E5AF55F793D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D9BACC3A-9BE4-4E4A-5925-EAA65BC5A9EA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527C6B61-550A-DA84-28BC-8AA1F200E9B4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01A80D9D-30E9-D8EC-D5A9-CFF200D63D66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2E52DA6-F229-0836-60BE-DBCB7747FDE7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4E36AD16-8C73-2F0D-6219-B3D077C388BC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3E8AE594-8DFD-459D-A691-827638F901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EFB891C2-CC87-5492-ADA8-6271FF37EA6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AE96C1C3-1E93-DEB4-0D25-E55345D4D1B3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5BEAE945-4824-52DF-1DB3-9FF9B9C4AD1C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C99E86EA-C6CB-B369-C08D-62B98D272D5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709ABF0-57D5-3CE4-0648-54E1CAB0867B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0946F7B7-A9B9-F032-7CA6-4F2212636DB9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3C7CD2E9-917E-7A0C-4BC8-C961CD4F7B95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3DD06B95-0059-4EA7-C5B4-1F66DA66CF5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72B6392D-ADB6-72FD-17C6-30C6A7118CF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9D8AB805-76E1-896B-6164-82517A369659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98337452-601B-0433-7C8F-71F6E0D25C23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80D20542-0754-4E9C-2518-9141353E28FD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7D089E5D-A64F-65AB-D84F-89714C772C9E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EA8E50FC-C88A-189A-6D49-A8622AE5159E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EE988495-B8A5-AA23-B84C-FBC4902BE235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A1499C1F-5578-69D9-3F43-35C57E9E3E6E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FB7EEA43-EB17-3D8B-D29B-CAA570912B1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7E6ED36C-1AB6-76B9-D4FC-CAE71F4E6403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BED6BFD1-3ADC-0C26-A23E-9E191F2A6E28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0EA628DA-6475-8B77-FFAF-27EC8912070F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02BF7818-E924-9D4E-28FF-DC6D8FA7A6C3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CF3C34F3-BB39-F9C2-DA3D-BAC24D0ADF8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AC21464-7A06-355D-5101-10E2F2BD4B3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4081A166-3966-782B-2461-9F785F4AB746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3644A0FA-0C94-B2AC-2F5B-96810B6507CF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34E423E4-BD5C-3D8C-EE28-08D626BAF096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0D79BEA0-68A5-C97B-C903-1D3A68E12315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CABF6F1C-4485-10AF-549F-4D92B8CFD63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19A9B83B-E88A-1478-F01B-EFB9EB95E6EC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790BD188-F024-BE02-7746-6406F7A007B5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8FA9ABBE-1392-819C-82F0-BC357D28D211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51B6F90E-9FD5-D521-1CC9-37C9FE38036E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82565ECB-86E1-05ED-BA62-ABD6F93CC838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AB79C471-F039-8F11-4C48-4A837FF8B739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FC63B42B-C3D7-3CA1-A942-DFE61C6ED4A2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2BA14F56-F343-7B8B-822F-08362831897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DD897070-E105-28AC-0C7E-CC94839B9365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A7D1A88A-BCFE-1BB3-6E10-FD293AB8A9E1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4868D135-6E87-3728-09A2-C868CA4094E9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4629E082-8BA2-4B9C-EA0B-B8933B8EBB92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E232C3DF-B623-54E1-78CC-1B24A2AFA5A3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7432EBDB-3C28-BE3D-D787-CA4A52BA8414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20B97D2-C9A7-9E7B-C874-0D4425AF6B87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0E396FB4-D7AB-D642-4463-C4949DF5437C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B72A0795-19CE-119D-F6CD-4806E79E6EDA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4BA9FD76-9D15-E7F1-5A2E-AC133E522058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FE6B56EC-5398-9BBF-F674-D7EEFA263901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01725478-52D4-A549-D1E9-DB12FFCD2992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1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 flipH="1">
            <a:off x="7131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Market research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2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2" name="Google Shape;452;p43"/>
          <p:cNvSpPr txBox="1"/>
          <p:nvPr/>
        </p:nvSpPr>
        <p:spPr>
          <a:xfrm flipH="1">
            <a:off x="26770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Product development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3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4" name="Google Shape;454;p43"/>
          <p:cNvSpPr txBox="1"/>
          <p:nvPr/>
        </p:nvSpPr>
        <p:spPr>
          <a:xfrm flipH="1">
            <a:off x="46409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Beta testing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4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6" name="Google Shape;456;p43"/>
          <p:cNvSpPr txBox="1"/>
          <p:nvPr/>
        </p:nvSpPr>
        <p:spPr>
          <a:xfrm flipH="1">
            <a:off x="66048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Marketing campaign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5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8" name="Google Shape;458;p43"/>
          <p:cNvSpPr txBox="1"/>
          <p:nvPr/>
        </p:nvSpPr>
        <p:spPr>
          <a:xfrm flipH="1">
            <a:off x="7131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Product launch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6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0" name="Google Shape;460;p43"/>
          <p:cNvSpPr txBox="1"/>
          <p:nvPr/>
        </p:nvSpPr>
        <p:spPr>
          <a:xfrm flipH="1">
            <a:off x="26770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Post-launch support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7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2" name="Google Shape;462;p43"/>
          <p:cNvSpPr txBox="1"/>
          <p:nvPr/>
        </p:nvSpPr>
        <p:spPr>
          <a:xfrm flipH="1">
            <a:off x="46409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Expansion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8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4" name="Google Shape;464;p43"/>
          <p:cNvSpPr txBox="1"/>
          <p:nvPr/>
        </p:nvSpPr>
        <p:spPr>
          <a:xfrm flipH="1">
            <a:off x="66048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Improvement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75%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713215" y="1175876"/>
            <a:ext cx="5521663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Detailed comparative table analysis, covering MCO segmentation, different DL models, different lookback windows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A dominant proposed model that outperforms all existing compared SOTAs with/without MCO and all lookback windows along a reduced feature variant based on SHAP importance graph.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Mock-up CLI Inference to predict next-7-days ridership for all 12 distinct transit networks.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455936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567350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2318821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2426</Words>
  <Application>Microsoft Office PowerPoint</Application>
  <PresentationFormat>On-screen Show (16:9)</PresentationFormat>
  <Paragraphs>325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Bebas Neue</vt:lpstr>
      <vt:lpstr>Montserrat</vt:lpstr>
      <vt:lpstr>Montserrat ExtraBold</vt:lpstr>
      <vt:lpstr>Anaheim</vt:lpstr>
      <vt:lpstr>Montserrat SemiBold</vt:lpstr>
      <vt:lpstr>Nunito Light</vt:lpstr>
      <vt:lpstr>Hanken Grotesk</vt:lpstr>
      <vt:lpstr>Arial</vt:lpstr>
      <vt:lpstr>Raleway</vt:lpstr>
      <vt:lpstr>Calibri</vt:lpstr>
      <vt:lpstr>PT Sans</vt:lpstr>
      <vt:lpstr>Metro Railway System Project Proposal by Slidesgo</vt:lpstr>
      <vt:lpstr>P1 – Mitigating Public Transit Unreliability in Malaysia through Deep Learning Analytics and Ridership Forecasting</vt:lpstr>
      <vt:lpstr>Research Background</vt:lpstr>
      <vt:lpstr>Contents of the Session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Questioning Objectives</vt:lpstr>
      <vt:lpstr>PowerPoint Presentation</vt:lpstr>
      <vt:lpstr>Scoping Down</vt:lpstr>
      <vt:lpstr>PowerPoint Presentation</vt:lpstr>
      <vt:lpstr>How I Execute</vt:lpstr>
      <vt:lpstr>PowerPoint Presentation</vt:lpstr>
      <vt:lpstr>PowerPoint Presentation</vt:lpstr>
      <vt:lpstr>PowerPoint Presentation</vt:lpstr>
      <vt:lpstr>Baseline &amp; Comparatives</vt:lpstr>
      <vt:lpstr>75% Combined Accuracy (CA) + 0.7 R2</vt:lpstr>
      <vt:lpstr>PowerPoint Presentation</vt:lpstr>
      <vt:lpstr>PowerPoint Presentation</vt:lpstr>
      <vt:lpstr>PowerPoint Presentation</vt:lpstr>
      <vt:lpstr>Model Selection Chronologically</vt:lpstr>
      <vt:lpstr>Benchmark &amp; Evaluation</vt:lpstr>
      <vt:lpstr>75% Combined Accuracy (CA) + 0.7 R2</vt:lpstr>
      <vt:lpstr>PowerPoint Presentation</vt:lpstr>
      <vt:lpstr>What I Contribute</vt:lpstr>
      <vt:lpstr>Expected Outcomes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7</cp:revision>
  <dcterms:modified xsi:type="dcterms:W3CDTF">2026-06-03T14:35:15Z</dcterms:modified>
</cp:coreProperties>
</file>